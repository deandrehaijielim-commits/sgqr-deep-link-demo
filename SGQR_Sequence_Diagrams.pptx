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12"/>
    <p:sldId id="260" r:id="rId11"/>
    <p:sldId id="262" r:id="rId13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  <Relationship Id="rId11" Type="http://schemas.openxmlformats.org/officeDocument/2006/relationships/slide" Target="slides/slide5.xml"/>
  <Relationship Id="rId12" Type="http://schemas.openxmlformats.org/officeDocument/2006/relationships/slide" Target="slides/slide6.xml"/>
  <Relationship Id="rId13" Type="http://schemas.openxmlformats.org/officeDocument/2006/relationships/slide" Target="slides/slide7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-seq-6.png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-seq-5.png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QR scan to native app chooser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https link is deliberately unverified, so it opens in the browser first; the intent:// handoff triggers the real chooser.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unverified → default browser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GET /api/payload/:token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page: merchant, amount, [Continue to pay]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intent://pay?token=…  (scheme=sgqrpay)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14600" y="4681728"/>
            <a:ext cx="512064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9464" y="4681728"/>
            <a:ext cx="50109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sgqrpay:// matches 3 installed apps → native chooser: Bank A · Bank B · Bank C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1097280" y="497433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bank (A, B, or C)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57800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5838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sgqrpay://pay?token=…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41848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42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602589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1264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409944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QR scan to web picker to bank app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apple-app-site-association is hosted, so the link always falls through to Safari; each bank button fires that app's custom URL scheme.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0515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21488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8" name="Text 6"/>
          <p:cNvSpPr/>
          <p:nvPr/>
        </p:nvSpPr>
        <p:spPr>
          <a:xfrm>
            <a:off x="21488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/ QR tap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0632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41605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065A82"/>
          </a:solidFill>
          <a:ln/>
        </p:spPr>
      </p:sp>
      <p:sp>
        <p:nvSpPr>
          <p:cNvPr id="11" name="Text 9"/>
          <p:cNvSpPr/>
          <p:nvPr/>
        </p:nvSpPr>
        <p:spPr>
          <a:xfrm>
            <a:off x="41605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749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1722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0866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81838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7" name="Text 15"/>
          <p:cNvSpPr/>
          <p:nvPr/>
        </p:nvSpPr>
        <p:spPr>
          <a:xfrm>
            <a:off x="81838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019556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5B6B79"/>
          </a:solidFill>
          <a:ln/>
        </p:spPr>
      </p:sp>
      <p:sp>
        <p:nvSpPr>
          <p:cNvPr id="20" name="Text 18"/>
          <p:cNvSpPr/>
          <p:nvPr/>
        </p:nvSpPr>
        <p:spPr>
          <a:xfrm>
            <a:off x="1019556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X app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110996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1097280" y="186537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 or tap the QR image on a webpage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51560" y="214884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3108960" y="224942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https://…/pay/:token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63240" y="253288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5120640" y="263347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Universal Link record → Safari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074920" y="2916936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132320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/pay/:token  +  /api/payload  +  /api/banks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86600" y="3300984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13232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Picker page: merchant, amount, grid of bank tiles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7086600" y="3685032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1097280" y="3785616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one bank (A, B, or C)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51560" y="4069080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5120640" y="416966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bank&lt;x&gt;demo://pay?token=…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H="1">
            <a:off x="5074920" y="4453128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1097280" y="45537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“Open in ‘Bank X’?” system prompt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1051560" y="4837176"/>
            <a:ext cx="402336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1097280" y="49377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1051560" y="5221224"/>
            <a:ext cx="402336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0" name="Text 38"/>
          <p:cNvSpPr/>
          <p:nvPr/>
        </p:nvSpPr>
        <p:spPr>
          <a:xfrm>
            <a:off x="512064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chosen bank with the link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74920" y="5605272"/>
            <a:ext cx="60350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9144000" y="570585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/api/payload/:token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9098280" y="5989320"/>
            <a:ext cx="201168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9144000" y="60899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merchant + amount → Confirm screen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098280" y="6373368"/>
            <a:ext cx="201168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Approval: the payment is single-use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Whichever bank app confirms first wins; the server atomically flips paid=true and rejects everyone after with 409.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1440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74904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E63946"/>
          </a:solidFill>
          <a:ln/>
        </p:spPr>
      </p:sp>
      <p:sp>
        <p:nvSpPr>
          <p:cNvPr id="8" name="Text 6"/>
          <p:cNvSpPr/>
          <p:nvPr/>
        </p:nvSpPr>
        <p:spPr>
          <a:xfrm>
            <a:off x="374904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A app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58368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21295C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9808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9418320" y="1188720"/>
            <a:ext cx="1828800" cy="457200"/>
          </a:xfrm>
          <a:prstGeom prst="roundRect">
            <a:avLst>
              <a:gd name="adj" fmla="val 16000"/>
            </a:avLst>
          </a:prstGeom>
          <a:solidFill>
            <a:srgbClr val="1D3557"/>
          </a:solidFill>
          <a:ln/>
        </p:spPr>
      </p:sp>
      <p:sp>
        <p:nvSpPr>
          <p:cNvPr id="14" name="Text 12"/>
          <p:cNvSpPr/>
          <p:nvPr/>
        </p:nvSpPr>
        <p:spPr>
          <a:xfrm>
            <a:off x="9418320" y="118872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B app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332720" y="1645920"/>
            <a:ext cx="0" cy="4892040"/>
          </a:xfrm>
          <a:prstGeom prst="line">
            <a:avLst/>
          </a:prstGeom>
          <a:noFill/>
          <a:ln w="12700">
            <a:solidFill>
              <a:srgbClr val="AEB8C2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1874520" y="19110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28800" y="2194560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4709160" y="235000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“bankA”}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63347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029200" y="2916936"/>
            <a:ext cx="49377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84064" y="2916936"/>
            <a:ext cx="4828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false → set paid=true, paidBy=“bankA” (atomic check-then-flip)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709160" y="32278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OK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4663440" y="351129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2651760" y="3794760"/>
            <a:ext cx="4023360" cy="329184"/>
          </a:xfrm>
          <a:prstGeom prst="roundRect">
            <a:avLst>
              <a:gd name="adj" fmla="val 16667"/>
            </a:avLst>
          </a:prstGeom>
          <a:solidFill>
            <a:srgbClr val="5EEAD4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06624" y="3794760"/>
            <a:ext cx="39136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 amount from balance · show Success screen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874520" y="410565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(same QR, moments later)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389120"/>
            <a:ext cx="850392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543800" y="4544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/api/payload/:token/pay  {bank: “bankB”}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7498080" y="4828032"/>
            <a:ext cx="2834640" cy="0"/>
          </a:xfrm>
          <a:prstGeom prst="line">
            <a:avLst/>
          </a:prstGeom>
          <a:noFill/>
          <a:ln w="22225">
            <a:solidFill>
              <a:srgbClr val="065A82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6126480" y="5111496"/>
            <a:ext cx="274320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111496"/>
            <a:ext cx="2633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== true → reject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543800" y="54223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409 Conflict — payment already completed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498080" y="5705856"/>
            <a:ext cx="2834640" cy="0"/>
          </a:xfrm>
          <a:prstGeom prst="line">
            <a:avLst/>
          </a:prstGeom>
          <a:noFill/>
          <a:ln w="22225">
            <a:solidFill>
              <a:srgbClr val="5B6B79"/>
            </a:solidFill>
            <a:prstDash val="dash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83880" y="5989320"/>
            <a:ext cx="3566160" cy="329184"/>
          </a:xfrm>
          <a:prstGeom prst="roundRect">
            <a:avLst>
              <a:gd name="adj" fmla="val 16667"/>
            </a:avLst>
          </a:prstGeom>
          <a:solidFill>
            <a:srgbClr val="F9C6C9"/>
          </a:solidFill>
          <a:ln w="9525">
            <a:solidFill>
              <a:srgbClr val="9CA8B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38744" y="5989320"/>
            <a:ext cx="34564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“Already completed” message · balance unchanged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user journey, two platforms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58952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5 steps are identical on Android and iOS — only how you pick a bank differs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37160" y="182880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065A8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" y="1828800"/>
            <a:ext cx="868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37160" y="4434840"/>
            <a:ext cx="777240" cy="1234440"/>
          </a:xfrm>
          <a:prstGeom prst="roundRect">
            <a:avLst>
              <a:gd name="adj" fmla="val 9412"/>
            </a:avLst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137160" y="4434840"/>
            <a:ext cx="777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1847088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9" name="Text 7"/>
          <p:cNvSpPr/>
          <p:nvPr/>
        </p:nvSpPr>
        <p:spPr>
          <a:xfrm>
            <a:off x="1847088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07008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1097280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7008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with Camera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tap the QR image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011680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31620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31620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31920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18" name="Text 16"/>
          <p:cNvSpPr/>
          <p:nvPr/>
        </p:nvSpPr>
        <p:spPr>
          <a:xfrm>
            <a:off x="393192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182112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browser (Chrome)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182112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91840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opens in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096512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16452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25" name="Text 23"/>
          <p:cNvSpPr/>
          <p:nvPr/>
        </p:nvSpPr>
        <p:spPr>
          <a:xfrm>
            <a:off x="3616452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016752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27" name="Text 25"/>
          <p:cNvSpPr/>
          <p:nvPr/>
        </p:nvSpPr>
        <p:spPr>
          <a:xfrm>
            <a:off x="601675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266944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376672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“Continue to pay”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native app chooser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266944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376672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 bank button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picker page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81344" y="3063240"/>
            <a:ext cx="0" cy="1371600"/>
          </a:xfrm>
          <a:prstGeom prst="line">
            <a:avLst/>
          </a:prstGeom>
          <a:noFill/>
          <a:ln w="19050">
            <a:solidFill>
              <a:srgbClr val="F96167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01284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34" name="Text 32"/>
          <p:cNvSpPr/>
          <p:nvPr/>
        </p:nvSpPr>
        <p:spPr>
          <a:xfrm>
            <a:off x="5701284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101584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36" name="Text 34"/>
          <p:cNvSpPr/>
          <p:nvPr/>
        </p:nvSpPr>
        <p:spPr>
          <a:xfrm>
            <a:off x="810158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51776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61504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351776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61504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bank app opens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Confirm screen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266176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786116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43" name="Text 41"/>
          <p:cNvSpPr/>
          <p:nvPr/>
        </p:nvSpPr>
        <p:spPr>
          <a:xfrm>
            <a:off x="7786116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10186416" y="1517904"/>
            <a:ext cx="329184" cy="329184"/>
          </a:xfrm>
          <a:prstGeom prst="ellipse">
            <a:avLst/>
          </a:prstGeom>
          <a:solidFill>
            <a:srgbClr val="1A2233"/>
          </a:solidFill>
          <a:ln/>
        </p:spPr>
      </p:sp>
      <p:sp>
        <p:nvSpPr>
          <p:cNvPr id="45" name="Text 43"/>
          <p:cNvSpPr/>
          <p:nvPr/>
        </p:nvSpPr>
        <p:spPr>
          <a:xfrm>
            <a:off x="1018641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9436608" y="182880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46336" y="182880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436608" y="4434840"/>
            <a:ext cx="18288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7DE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546336" y="4434840"/>
            <a:ext cx="160934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Approve —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goes through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10351008" y="3063240"/>
            <a:ext cx="0" cy="1371600"/>
          </a:xfrm>
          <a:prstGeom prst="line">
            <a:avLst/>
          </a:prstGeom>
          <a:noFill/>
          <a:ln w="19050">
            <a:solidFill>
              <a:srgbClr val="8FD6C4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870948" y="3602736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52" name="Text 50"/>
          <p:cNvSpPr/>
          <p:nvPr/>
        </p:nvSpPr>
        <p:spPr>
          <a:xfrm>
            <a:off x="9870948" y="3602736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48640" y="5989320"/>
            <a:ext cx="11091672" cy="685800"/>
          </a:xfrm>
          <a:prstGeom prst="roundRect">
            <a:avLst>
              <a:gd name="adj" fmla="val 10667"/>
            </a:avLst>
          </a:prstGeom>
          <a:solidFill>
            <a:srgbClr val="21295C"/>
          </a:solidFill>
          <a:ln/>
        </p:spPr>
      </p:sp>
      <p:sp>
        <p:nvSpPr>
          <p:cNvPr id="54" name="Text 52"/>
          <p:cNvSpPr/>
          <p:nvPr/>
        </p:nvSpPr>
        <p:spPr>
          <a:xfrm>
            <a:off x="822960" y="59893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user's side, it's one QR code and the same 5 beats every time — the only thing that changes is the mechanic behind step 3, driven entirely by how each OS treats an unregistered link.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00" y="112862"/>
            <a:ext cx="11500000" cy="663227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000" y="112862"/>
            <a:ext cx="11500000" cy="6632275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5 Methods, Sequence by Sequence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1 through Bank 5 — how each one actually resolves, confirmed live on real devices</a:t>
            </a:r>
          </a:p>
        </p:txBody>
      </p:sp>
      <p:sp>
        <p:nvSpPr>
          <p:cNvPr id="11" name="THead"/>
          <p:cNvSpPr/>
          <p:nvPr/>
        </p:nvSpPr>
        <p:spPr>
          <a:xfrm>
            <a:off x="548640" y="1750000"/>
            <a:ext cx="21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12" name="THead"/>
          <p:cNvSpPr/>
          <p:nvPr/>
        </p:nvSpPr>
        <p:spPr>
          <a:xfrm>
            <a:off x="2648640" y="1750000"/>
            <a:ext cx="29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Mechanism</a:t>
            </a:r>
          </a:p>
        </p:txBody>
      </p:sp>
      <p:sp>
        <p:nvSpPr>
          <p:cNvPr id="13" name="THead"/>
          <p:cNvSpPr/>
          <p:nvPr/>
        </p:nvSpPr>
        <p:spPr>
          <a:xfrm>
            <a:off x="5548640" y="1750000"/>
            <a:ext cx="27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Resolves via</a:t>
            </a:r>
          </a:p>
        </p:txBody>
      </p:sp>
      <p:sp>
        <p:nvSpPr>
          <p:cNvPr id="14" name="THead"/>
          <p:cNvSpPr/>
          <p:nvPr/>
        </p:nvSpPr>
        <p:spPr>
          <a:xfrm>
            <a:off x="8248640" y="1750000"/>
            <a:ext cx="34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</a:rPr>
              <a:t>Live result</a:t>
            </a:r>
          </a:p>
        </p:txBody>
      </p:sp>
      <p:sp>
        <p:nvSpPr>
          <p:cNvPr id="15" name="TCell"/>
          <p:cNvSpPr/>
          <p:nvPr/>
        </p:nvSpPr>
        <p:spPr>
          <a:xfrm>
            <a:off x="548640" y="2250000"/>
            <a:ext cx="21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1</a:t>
            </a:r>
          </a:p>
        </p:txBody>
      </p:sp>
      <p:sp>
        <p:nvSpPr>
          <p:cNvPr id="16" name="TCell"/>
          <p:cNvSpPr/>
          <p:nvPr/>
        </p:nvSpPr>
        <p:spPr>
          <a:xfrm>
            <a:off x="2648640" y="2250000"/>
            <a:ext cx="2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Verified Android App Links</a:t>
            </a:r>
          </a:p>
        </p:txBody>
      </p:sp>
      <p:sp>
        <p:nvSpPr>
          <p:cNvPr id="17" name="TCell"/>
          <p:cNvSpPr/>
          <p:nvPr/>
        </p:nvSpPr>
        <p:spPr>
          <a:xfrm>
            <a:off x="5548640" y="2250000"/>
            <a:ext cx="27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OS-verified ownership → direct launch</a:t>
            </a:r>
          </a:p>
        </p:txBody>
      </p:sp>
      <p:sp>
        <p:nvSpPr>
          <p:cNvPr id="18" name="TCell"/>
          <p:cNvSpPr/>
          <p:nvPr/>
        </p:nvSpPr>
        <p:spPr>
          <a:xfrm>
            <a:off x="8248640" y="2250000"/>
            <a:ext cx="34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19" name="TCell"/>
          <p:cNvSpPr/>
          <p:nvPr/>
        </p:nvSpPr>
        <p:spPr>
          <a:xfrm>
            <a:off x="548640" y="2950000"/>
            <a:ext cx="21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2</a:t>
            </a:r>
          </a:p>
        </p:txBody>
      </p:sp>
      <p:sp>
        <p:nvSpPr>
          <p:cNvPr id="20" name="TCell"/>
          <p:cNvSpPr/>
          <p:nvPr/>
        </p:nvSpPr>
        <p:spPr>
          <a:xfrm>
            <a:off x="2648640" y="2950000"/>
            <a:ext cx="2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Verified iOS Universal Links</a:t>
            </a:r>
          </a:p>
        </p:txBody>
      </p:sp>
      <p:sp>
        <p:nvSpPr>
          <p:cNvPr id="21" name="TCell"/>
          <p:cNvSpPr/>
          <p:nvPr/>
        </p:nvSpPr>
        <p:spPr>
          <a:xfrm>
            <a:off x="5548640" y="2950000"/>
            <a:ext cx="27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Entitlement + AASA → intended silent handoff</a:t>
            </a:r>
          </a:p>
        </p:txBody>
      </p:sp>
      <p:sp>
        <p:nvSpPr>
          <p:cNvPr id="22" name="TCell"/>
          <p:cNvSpPr/>
          <p:nvPr/>
        </p:nvSpPr>
        <p:spPr>
          <a:xfrm>
            <a:off x="8248640" y="2950000"/>
            <a:ext cx="34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Safari + manual banner (free-account limit)</a:t>
            </a:r>
          </a:p>
        </p:txBody>
      </p:sp>
      <p:sp>
        <p:nvSpPr>
          <p:cNvPr id="23" name="TCell"/>
          <p:cNvSpPr/>
          <p:nvPr/>
        </p:nvSpPr>
        <p:spPr>
          <a:xfrm>
            <a:off x="548640" y="3650000"/>
            <a:ext cx="21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3</a:t>
            </a:r>
          </a:p>
        </p:txBody>
      </p:sp>
      <p:sp>
        <p:nvSpPr>
          <p:cNvPr id="24" name="TCell"/>
          <p:cNvSpPr/>
          <p:nvPr/>
        </p:nvSpPr>
        <p:spPr>
          <a:xfrm>
            <a:off x="2648640" y="3650000"/>
            <a:ext cx="2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iOS Smart App Banner</a:t>
            </a:r>
          </a:p>
        </p:txBody>
      </p:sp>
      <p:sp>
        <p:nvSpPr>
          <p:cNvPr id="25" name="TCell"/>
          <p:cNvSpPr/>
          <p:nvPr/>
        </p:nvSpPr>
        <p:spPr>
          <a:xfrm>
            <a:off x="5548640" y="3650000"/>
            <a:ext cx="27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Webpage &lt;meta&gt; tag → Safari-rendered banner</a:t>
            </a:r>
          </a:p>
        </p:txBody>
      </p:sp>
      <p:sp>
        <p:nvSpPr>
          <p:cNvPr id="26" name="TCell"/>
          <p:cNvSpPr/>
          <p:nvPr/>
        </p:nvSpPr>
        <p:spPr>
          <a:xfrm>
            <a:off x="8248640" y="3650000"/>
            <a:ext cx="34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Banner can't render (needs App Store listing)</a:t>
            </a:r>
          </a:p>
        </p:txBody>
      </p:sp>
      <p:sp>
        <p:nvSpPr>
          <p:cNvPr id="27" name="TCell"/>
          <p:cNvSpPr/>
          <p:nvPr/>
        </p:nvSpPr>
        <p:spPr>
          <a:xfrm>
            <a:off x="548640" y="4350000"/>
            <a:ext cx="21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4</a:t>
            </a:r>
          </a:p>
        </p:txBody>
      </p:sp>
      <p:sp>
        <p:nvSpPr>
          <p:cNvPr id="28" name="TCell"/>
          <p:cNvSpPr/>
          <p:nvPr/>
        </p:nvSpPr>
        <p:spPr>
          <a:xfrm>
            <a:off x="2648640" y="4350000"/>
            <a:ext cx="2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Android Explicit-Package Intent</a:t>
            </a:r>
          </a:p>
        </p:txBody>
      </p:sp>
      <p:sp>
        <p:nvSpPr>
          <p:cNvPr id="29" name="TCell"/>
          <p:cNvSpPr/>
          <p:nvPr/>
        </p:nvSpPr>
        <p:spPr>
          <a:xfrm>
            <a:off x="5548640" y="4350000"/>
            <a:ext cx="27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Sender names the exact package → direct launch</a:t>
            </a:r>
          </a:p>
        </p:txBody>
      </p:sp>
      <p:sp>
        <p:nvSpPr>
          <p:cNvPr id="30" name="TCell"/>
          <p:cNvSpPr/>
          <p:nvPr/>
        </p:nvSpPr>
        <p:spPr>
          <a:xfrm>
            <a:off x="8248640" y="4350000"/>
            <a:ext cx="34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31" name="TCell"/>
          <p:cNvSpPr/>
          <p:nvPr/>
        </p:nvSpPr>
        <p:spPr>
          <a:xfrm>
            <a:off x="548640" y="5050000"/>
            <a:ext cx="21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2233"/>
                </a:solidFill>
                <a:latin typeface="Calibri" pitchFamily="34" charset="0"/>
              </a:rPr>
              <a:t>Bank 5</a:t>
            </a:r>
          </a:p>
        </p:txBody>
      </p:sp>
      <p:sp>
        <p:nvSpPr>
          <p:cNvPr id="32" name="TCell"/>
          <p:cNvSpPr/>
          <p:nvPr/>
        </p:nvSpPr>
        <p:spPr>
          <a:xfrm>
            <a:off x="2648640" y="5050000"/>
            <a:ext cx="29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Deferred Deep Linking</a:t>
            </a:r>
          </a:p>
        </p:txBody>
      </p:sp>
      <p:sp>
        <p:nvSpPr>
          <p:cNvPr id="33" name="TCell"/>
          <p:cNvSpPr/>
          <p:nvPr/>
        </p:nvSpPr>
        <p:spPr>
          <a:xfrm>
            <a:off x="5548640" y="5050000"/>
            <a:ext cx="27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Clipboard carries the token across install</a:t>
            </a:r>
          </a:p>
        </p:txBody>
      </p:sp>
      <p:sp>
        <p:nvSpPr>
          <p:cNvPr id="34" name="TCell"/>
          <p:cNvSpPr/>
          <p:nvPr/>
        </p:nvSpPr>
        <p:spPr>
          <a:xfrm>
            <a:off x="8248640" y="5050000"/>
            <a:ext cx="3400000" cy="700000"/>
          </a:xfrm>
          <a:prstGeom prst="rect">
            <a:avLst/>
          </a:prstGeom>
          <a:solidFill>
            <a:srgbClr val="E8F5F0"/>
          </a:solidFill>
          <a:ln w="6350">
            <a:solidFill>
              <a:srgbClr val="D9D9D9"/>
            </a:solidFill>
          </a:ln>
        </p:spPr>
        <p:txBody>
          <a:bodyPr wrap="square" lIns="90000" tIns="40000" rIns="90000" bIns="4000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2233"/>
                </a:solidFill>
                <a:latin typeface="Calibri" pitchFamily="34" charset="0"/>
              </a:rPr>
              <a:t>Correct token recovered, both platforms</a:t>
            </a:r>
          </a:p>
        </p:txBody>
      </p:sp>
      <p:sp>
        <p:nvSpPr>
          <p:cNvPr id="900" name="Footer"/>
          <p:cNvSpPr/>
          <p:nvPr/>
        </p:nvSpPr>
        <p:spPr>
          <a:xfrm>
            <a:off x="548640" y="5900000"/>
            <a:ext cx="11094720" cy="5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9"/>
                </a:solidFill>
                <a:latin typeface="Calibri" pitchFamily="34" charset="0"/>
              </a:rPr>
              <a:t>See the preceding two slides for the full step-by-step sequence behind Bank 1's direct launch and the Bank 2 cross-platform negative case.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 Deep Linking — Sequence Diagrams</dc:title>
  <dc:subject>PptxGenJS Presentation</dc:subject>
  <dc:creator>SGQR Deep Link Demo</dc:creator>
  <cp:lastModifiedBy>SGQR Deep Link Demo</cp:lastModifiedBy>
  <cp:revision>1</cp:revision>
  <dcterms:created xsi:type="dcterms:W3CDTF">2026-07-16T01:34:20Z</dcterms:created>
  <dcterms:modified xsi:type="dcterms:W3CDTF">2026-07-16T01:34:20Z</dcterms:modified>
</cp:coreProperties>
</file>