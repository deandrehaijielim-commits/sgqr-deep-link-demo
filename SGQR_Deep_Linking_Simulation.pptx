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9"/>
    <p:sldId id="267" r:id="rId18"/>
    <p:sldId id="269" r:id="rId20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  <Relationship Id="rId18" Type="http://schemas.openxmlformats.org/officeDocument/2006/relationships/slide" Target="slides/slide12.xml"/>
  <Relationship Id="rId19" Type="http://schemas.openxmlformats.org/officeDocument/2006/relationships/slide" Target="slides/slide13.xml"/>
  <Relationship Id="rId20" Type="http://schemas.openxmlformats.org/officeDocument/2006/relationships/slide" Target="slides/slide14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3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_rels/slide14.xml.rels><?xml version="1.0" encoding="UTF-8" standalone="yes"?>
<Relationships xmlns="http://schemas.openxmlformats.org/package/2006/relationships"><Relationship Id="rId5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201168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4389120"/>
            <a:ext cx="4572000" cy="45720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777240"/>
            <a:ext cx="502920" cy="502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74980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SGQR-STYLE DEEP LINKING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2960" y="1463040"/>
            <a:ext cx="96012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QR-to-bank-app</a:t>
            </a:r>
            <a:endParaRPr lang="en-US" sz="4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flow works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22960" y="34290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QR code, one link. Android and iOS end up in different places because of how each phone's operating system — not our server — decides what to do with an unverified link.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8229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4709160"/>
            <a:ext cx="320040" cy="32004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3258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28803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7520" y="47091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3832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49377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4709160"/>
            <a:ext cx="320040" cy="32004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4406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</a:t>
            </a:r>
            <a:endParaRPr lang="en-US" sz="1250" dirty="0"/>
          </a:p>
        </p:txBody>
      </p:sp>
      <p:sp>
        <p:nvSpPr>
          <p:cNvPr id="17" name="Shape 11"/>
          <p:cNvSpPr/>
          <p:nvPr/>
        </p:nvSpPr>
        <p:spPr>
          <a:xfrm>
            <a:off x="6995160" y="4572000"/>
            <a:ext cx="1920240" cy="594360"/>
          </a:xfrm>
          <a:prstGeom prst="roundRect">
            <a:avLst>
              <a:gd name="adj" fmla="val 15385"/>
            </a:avLst>
          </a:prstGeom>
          <a:solidFill>
            <a:srgbClr val="065A82">
              <a:alpha val="70000"/>
            </a:srgbClr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32320" y="4709160"/>
            <a:ext cx="320040" cy="32004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7498080" y="457200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Bank Apps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pieces, one shared URL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hinges on one link: https://.../pay/:token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21295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4231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Backend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82296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server, hosted on Render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2296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payment record and gives it a token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the QR code image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 payment as paid — once, only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8912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065A8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42316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6344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Picker Page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466344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web page, served by the backend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466344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the merchant name and amount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a 4-per-row grid of bank tiles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page Safari actually reaches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229600" y="1965960"/>
            <a:ext cx="3520440" cy="356616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503920" y="2240280"/>
            <a:ext cx="685800" cy="685800"/>
          </a:xfrm>
          <a:prstGeom prst="roundRect">
            <a:avLst>
              <a:gd name="adj" fmla="val 21333"/>
            </a:avLst>
          </a:prstGeom>
          <a:solidFill>
            <a:srgbClr val="1C7293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0" y="2423160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503920" y="3063240"/>
            <a:ext cx="2971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Bank Apps</a:t>
            </a:r>
            <a:endParaRPr lang="en-US" sz="1900" dirty="0"/>
          </a:p>
        </p:txBody>
      </p:sp>
      <p:sp>
        <p:nvSpPr>
          <p:cNvPr id="20" name="Text 15"/>
          <p:cNvSpPr/>
          <p:nvPr/>
        </p:nvSpPr>
        <p:spPr>
          <a:xfrm>
            <a:off x="8503920" y="3456432"/>
            <a:ext cx="2971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Flutter apps for Android + iOS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8503920" y="3931920"/>
            <a:ext cx="2971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separate apps, not 1 app with settings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has its own name and app ID</a:t>
            </a:r>
            <a:endParaRPr lang="en-US" sz="1300" dirty="0"/>
          </a:p>
          <a:p>
            <a:pPr marL="342900" indent="-342900">
              <a:lnSpc>
                <a:spcPct val="115000"/>
              </a:lnSpc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listens for its own kind of link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link, two different endings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EEA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https://sgqr-deep-link-demo.onrender.com/pay/:token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5637276" y="1828800"/>
            <a:ext cx="914400" cy="91440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8444" y="2029968"/>
            <a:ext cx="512064" cy="5120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40080" y="3017520"/>
            <a:ext cx="4937760" cy="2651760"/>
          </a:xfrm>
          <a:prstGeom prst="roundRect">
            <a:avLst>
              <a:gd name="adj" fmla="val 2759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914400" y="3291840"/>
            <a:ext cx="548640" cy="54864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3429000"/>
            <a:ext cx="274320" cy="2743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600200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</a:t>
            </a:r>
            <a:endParaRPr lang="en-US" sz="1900" dirty="0"/>
          </a:p>
        </p:txBody>
      </p:sp>
      <p:sp>
        <p:nvSpPr>
          <p:cNvPr id="10" name="Text 6"/>
          <p:cNvSpPr/>
          <p:nvPr/>
        </p:nvSpPr>
        <p:spPr>
          <a:xfrm>
            <a:off x="1600200" y="3611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the link is deliberately left unverified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914400" y="406908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claims cryptographic ownership, so Android can't skip asking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opens in the default browser first, like any normal web page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 shows one button: "Continue to pay" (next slide)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611112" y="3017520"/>
            <a:ext cx="4937760" cy="2651760"/>
          </a:xfrm>
          <a:prstGeom prst="roundRect">
            <a:avLst>
              <a:gd name="adj" fmla="val 2759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6885432" y="3291840"/>
            <a:ext cx="548640" cy="548640"/>
          </a:xfrm>
          <a:prstGeom prst="ellipse">
            <a:avLst/>
          </a:prstGeom>
          <a:solidFill>
            <a:srgbClr val="5EEAD4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2" y="3429000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7571232" y="32735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</a:t>
            </a:r>
            <a:endParaRPr lang="en-US" sz="1900" dirty="0"/>
          </a:p>
        </p:txBody>
      </p:sp>
      <p:sp>
        <p:nvSpPr>
          <p:cNvPr id="16" name="Text 11"/>
          <p:cNvSpPr/>
          <p:nvPr/>
        </p:nvSpPr>
        <p:spPr>
          <a:xfrm>
            <a:off x="7571232" y="36118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Why: no Universal Link record is hosted for this domain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6885432" y="406908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requires a hosted association file to open an app directly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don't host one, so iOS treats it as an ordinary link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Safari opens normally and shows the picker page: a grid of bank tiles, 4 per row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Android: from browser tab to app chooser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native "Open with…" dialog to appear takes 3 extra steps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1348" y="20299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Page opens normally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 (or whichever browser is default) opens the payment page, same as any website.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13639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918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291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548" y="202996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4747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tap "Continue"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5204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tap, not an automatic redirect — browsers block silent app-switching for security.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3136392"/>
            <a:ext cx="219456" cy="21945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0350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972300" y="18745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7748" y="2029968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722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2179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tap opens a special link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2636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link starting with intent:// instead of https:// — only apps can open this, not browsers.</a:t>
            </a:r>
            <a:endParaRPr lang="en-US" sz="11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28" y="3136392"/>
            <a:ext cx="219456" cy="21945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8778240" y="16002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9715500" y="18745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0948" y="2029968"/>
            <a:ext cx="329184" cy="32918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8915400" y="17373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8961120" y="26517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Android shows the chooser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006840" y="32918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bank apps can all open that link, so Android asks: which one?</a:t>
            </a:r>
            <a:endParaRPr lang="en-US" sz="1150" dirty="0"/>
          </a:p>
        </p:txBody>
      </p:sp>
      <p:sp>
        <p:nvSpPr>
          <p:cNvPr id="31" name="Shape 22"/>
          <p:cNvSpPr/>
          <p:nvPr/>
        </p:nvSpPr>
        <p:spPr>
          <a:xfrm>
            <a:off x="548640" y="52120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F96167">
              <a:alpha val="85000"/>
            </a:srgbClr>
          </a:solidFill>
          <a:ln/>
        </p:spPr>
      </p:sp>
      <p:sp>
        <p:nvSpPr>
          <p:cNvPr id="32" name="Text 23"/>
          <p:cNvSpPr/>
          <p:nvPr/>
        </p:nvSpPr>
        <p:spPr>
          <a:xfrm>
            <a:off x="822960" y="52120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6B2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intent:// and not https:// again? Chrome won't hand a link back to a browser (even itself) through this mechanism — it has to be a link only apps can claim.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not just verify the Android App Link?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tested it directly on a device. Here's what actually happens.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065A82">
              <a:alpha val="8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3774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android:autoVerify="true" to each app's intent-filter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/.well-known/assetlinks.json listing all 3 apps' real package names and signing certificate SHA-256 fingerprints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checks this file at install time — if it matches, the app is a verified owner of the link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skip the browser and the "Continue" tap entirely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17920" y="1600200"/>
            <a:ext cx="5349240" cy="3291840"/>
          </a:xfrm>
          <a:prstGeom prst="roundRect">
            <a:avLst>
              <a:gd name="adj" fmla="val 2222"/>
            </a:avLst>
          </a:prstGeom>
          <a:solidFill>
            <a:srgbClr val="F96167">
              <a:alpha val="85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1828800"/>
            <a:ext cx="4800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found on-device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92240" y="2377440"/>
            <a:ext cx="48006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3 apps verified successfully (adb confirmed "verified" for each)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no chooser ever appeared — the link opened one app directly, instantly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Reinstalling a different bank last changed which app opened — Android was picking the most-recently-installed verified app, silently</a:t>
            </a:r>
            <a:endParaRPr lang="en-US" sz="12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•"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App Links and the disambiguation dialog are mutually exclusive by design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iOS: Safari hands off to the app you pick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flow: no Universal Link is registered for this domain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4859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1348" y="2258568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315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Safari opens the picker page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772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app is registered for this link, so iOS treats it as an ordinary web address.</a:t>
            </a:r>
            <a:endParaRPr lang="en-US" sz="11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3364992"/>
            <a:ext cx="219456" cy="219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2918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2291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4548" y="2258568"/>
            <a:ext cx="329184" cy="329184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4290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34747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page loads payment details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35204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fetches the merchant name and amount, and shows a grid of bank tiles, 4 per row.</a:t>
            </a:r>
            <a:endParaRPr lang="en-US" sz="11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24728" y="3364992"/>
            <a:ext cx="219456" cy="219456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0350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972300" y="2103120"/>
            <a:ext cx="640080" cy="640080"/>
          </a:xfrm>
          <a:prstGeom prst="ellipse">
            <a:avLst/>
          </a:prstGeom>
          <a:solidFill>
            <a:srgbClr val="065A82"/>
          </a:solidFill>
          <a:ln/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7748" y="2258568"/>
            <a:ext cx="329184" cy="3291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61722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62179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tap a bank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2636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button opens a link like bankademo://pay — each bank app has its own.</a:t>
            </a:r>
            <a:endParaRPr lang="en-US" sz="11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67928" y="3364992"/>
            <a:ext cx="219456" cy="219456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8778240" y="1828800"/>
            <a:ext cx="2514600" cy="329184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6" name="Shape 18"/>
          <p:cNvSpPr/>
          <p:nvPr/>
        </p:nvSpPr>
        <p:spPr>
          <a:xfrm>
            <a:off x="9715500" y="2103120"/>
            <a:ext cx="640080" cy="64008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0948" y="2258568"/>
            <a:ext cx="329184" cy="329184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8915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0"/>
          <p:cNvSpPr/>
          <p:nvPr/>
        </p:nvSpPr>
        <p:spPr>
          <a:xfrm>
            <a:off x="8961120" y="2880360"/>
            <a:ext cx="2148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bank app opens</a:t>
            </a:r>
            <a:endParaRPr lang="en-US" sz="1500" dirty="0"/>
          </a:p>
        </p:txBody>
      </p:sp>
      <p:sp>
        <p:nvSpPr>
          <p:cNvPr id="30" name="Text 21"/>
          <p:cNvSpPr/>
          <p:nvPr/>
        </p:nvSpPr>
        <p:spPr>
          <a:xfrm>
            <a:off x="9006840" y="3520440"/>
            <a:ext cx="205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iOS recognizes the link belongs to that app and switches straight to it.</a:t>
            </a:r>
            <a:endParaRPr lang="en-US" sz="1150" dirty="0"/>
          </a:p>
        </p:txBody>
      </p:sp>
      <p:sp>
        <p:nvSpPr>
          <p:cNvPr id="31" name="Shape 22"/>
          <p:cNvSpPr/>
          <p:nvPr/>
        </p:nvSpPr>
        <p:spPr>
          <a:xfrm>
            <a:off x="548640" y="544068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1C7293">
              <a:alpha val="85000"/>
            </a:srgbClr>
          </a:solidFill>
          <a:ln/>
        </p:spPr>
      </p:sp>
      <p:sp>
        <p:nvSpPr>
          <p:cNvPr id="32" name="Text 23"/>
          <p:cNvSpPr/>
          <p:nvPr/>
        </p:nvSpPr>
        <p:spPr>
          <a:xfrm>
            <a:off x="822960" y="5440680"/>
            <a:ext cx="1054303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skip this page? A hosted apple-app-site-association file plus each app's Associated Domains entitlement — Apple's equivalent of Android's assetlinks.json. We don't host one on purpose, so Safari always gets a chance to show the picker.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Inside each app: catching the incoming link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has to notice the link in two different situations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065A82">
              <a:alpha val="75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5166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988820"/>
            <a:ext cx="274320" cy="2743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812280" y="176479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8" name="Text 5"/>
          <p:cNvSpPr/>
          <p:nvPr/>
        </p:nvSpPr>
        <p:spPr>
          <a:xfrm>
            <a:off x="6812280" y="176479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508760" y="17099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Checked once, on startup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508760" y="2075688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wasn't running — the link is what launched it. Checked a single time when the app starts.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880360"/>
            <a:ext cx="7863840" cy="1051560"/>
          </a:xfrm>
          <a:prstGeom prst="roundRect">
            <a:avLst>
              <a:gd name="adj" fmla="val 6957"/>
            </a:avLst>
          </a:prstGeom>
          <a:solidFill>
            <a:srgbClr val="065A82">
              <a:alpha val="7500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777240" y="313182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68980"/>
            <a:ext cx="274320" cy="27432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6812280" y="304495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5EEAD4"/>
          </a:solidFill>
          <a:ln/>
        </p:spPr>
      </p:sp>
      <p:sp>
        <p:nvSpPr>
          <p:cNvPr id="15" name="Text 11"/>
          <p:cNvSpPr/>
          <p:nvPr/>
        </p:nvSpPr>
        <p:spPr>
          <a:xfrm>
            <a:off x="6812280" y="304495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OPEN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508760" y="29900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Listened for, the whole time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1508760" y="3355848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was already open or in the background. A live subscription catches the link as it arrives.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548640" y="4114800"/>
            <a:ext cx="7863840" cy="1417320"/>
          </a:xfrm>
          <a:prstGeom prst="roundRect">
            <a:avLst>
              <a:gd name="adj" fmla="val 5161"/>
            </a:avLst>
          </a:prstGeom>
          <a:solidFill>
            <a:srgbClr val="F96167">
              <a:alpha val="85000"/>
            </a:srgbClr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48056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54480" y="434340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bugs found here, both fixed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1554480" y="4736592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FDEC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On startup, both checks can report the same link, opening the payment screen twice. ② A permanent “ignore repeats” guard then blocked re-opening that link later (e.g. after cancelling). Fixed: only ignore a repeat within 2 seconds of the last one.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8686800" y="1600200"/>
            <a:ext cx="2953512" cy="3931920"/>
          </a:xfrm>
          <a:prstGeom prst="roundRect">
            <a:avLst>
              <a:gd name="adj" fmla="val 2477"/>
            </a:avLst>
          </a:prstGeom>
          <a:solidFill>
            <a:srgbClr val="1C7293">
              <a:alpha val="85000"/>
            </a:srgbClr>
          </a:solidFill>
          <a:ln/>
        </p:spPr>
      </p:sp>
      <p:sp>
        <p:nvSpPr>
          <p:cNvPr id="23" name="Text 18"/>
          <p:cNvSpPr/>
          <p:nvPr/>
        </p:nvSpPr>
        <p:spPr>
          <a:xfrm>
            <a:off x="8915400" y="1783080"/>
            <a:ext cx="2496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the token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8915400" y="2194560"/>
            <a:ext cx="2496312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bank's own link: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bankademo://pay?token=xyz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token is right there in the link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shared web link: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https://host/pay/xyz</a:t>
            </a:r>
            <a:endParaRPr lang="en-US" sz="1150" dirty="0"/>
          </a:p>
          <a:p>
            <a:pPr indent="0" marL="0">
              <a:lnSpc>
                <a:spcPct val="125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token is the last part of the address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one bank app can complete the payment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32688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marks a payment "paid" the moment one bank confirms it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6309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2880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1C729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2029968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783080" y="1755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A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1783080" y="214884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/>
        </p:spPr>
      </p:sp>
      <p:sp>
        <p:nvSpPr>
          <p:cNvPr id="9" name="Text 6"/>
          <p:cNvSpPr/>
          <p:nvPr/>
        </p:nvSpPr>
        <p:spPr>
          <a:xfrm>
            <a:off x="1783080" y="214884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383280" y="178308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Taps Approve first. The server marks the payment as paid and confirms.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6309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3474720"/>
            <a:ext cx="822960" cy="822960"/>
          </a:xfrm>
          <a:prstGeom prst="roundRect">
            <a:avLst>
              <a:gd name="adj" fmla="val 17778"/>
            </a:avLst>
          </a:prstGeom>
          <a:solidFill>
            <a:srgbClr val="F96167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3675888"/>
            <a:ext cx="420624" cy="42062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783080" y="340156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B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1783080" y="3794760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96167"/>
          </a:solidFill>
          <a:ln/>
        </p:spPr>
      </p:sp>
      <p:sp>
        <p:nvSpPr>
          <p:cNvPr id="16" name="Text 12"/>
          <p:cNvSpPr/>
          <p:nvPr/>
        </p:nvSpPr>
        <p:spPr>
          <a:xfrm>
            <a:off x="1783080" y="3794760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LATE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3383280" y="34290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Taps Approve a moment later. The server says it's already paid, so it's rejected.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7178040" y="1554480"/>
            <a:ext cx="4462272" cy="2834640"/>
          </a:xfrm>
          <a:prstGeom prst="roundRect">
            <a:avLst>
              <a:gd name="adj" fmla="val 2581"/>
            </a:avLst>
          </a:prstGeom>
          <a:solidFill>
            <a:srgbClr val="21295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0" y="182880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092440" y="1828800"/>
            <a:ext cx="3273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happens for Bank A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7452360" y="2468880"/>
            <a:ext cx="391363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paid amount is taken off its balance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home screen balance updates instantly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shows the success screen</a:t>
            </a:r>
            <a:endParaRPr lang="en-US" sz="1250" dirty="0"/>
          </a:p>
          <a:p>
            <a:pPr marL="342900" indent="-342900">
              <a:lnSpc>
                <a:spcPct val="120000"/>
              </a:lnSpc>
              <a:spcAft>
                <a:spcPts val="1000"/>
              </a:spcAft>
              <a:buSzPct val="100000"/>
              <a:buChar char="•"/>
            </a:pPr>
            <a:r>
              <a:rPr lang="en-US" sz="12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open picker webpage flips to “completed” within ~2s (polling)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548640" y="4892040"/>
            <a:ext cx="11091672" cy="1417320"/>
          </a:xfrm>
          <a:prstGeom prst="roundRect">
            <a:avLst>
              <a:gd name="adj" fmla="val 5161"/>
            </a:avLst>
          </a:prstGeom>
          <a:solidFill>
            <a:srgbClr val="1C7293">
              <a:alpha val="85000"/>
            </a:srgbClr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276088"/>
            <a:ext cx="502920" cy="50292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463040" y="5093208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app never assumes — it always asks</a:t>
            </a:r>
            <a:endParaRPr lang="en-US" sz="1500" dirty="0"/>
          </a:p>
        </p:txBody>
      </p:sp>
      <p:sp>
        <p:nvSpPr>
          <p:cNvPr id="25" name="Text 19"/>
          <p:cNvSpPr/>
          <p:nvPr/>
        </p:nvSpPr>
        <p:spPr>
          <a:xfrm>
            <a:off x="1463040" y="5458968"/>
            <a:ext cx="100858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B3B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showing the payment, every bank app asks the server for the merchant name and amount again. The link itself only ever carries one thing — a token, not the actual payment details.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3 separate apps, not 1 app with settings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chooser needs 3 apps installed at once — one app can't appear 3 times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82296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E63946"/>
          </a:solidFill>
          <a:ln/>
        </p:spPr>
      </p:sp>
      <p:sp>
        <p:nvSpPr>
          <p:cNvPr id="5" name="Shape 3"/>
          <p:cNvSpPr/>
          <p:nvPr/>
        </p:nvSpPr>
        <p:spPr>
          <a:xfrm>
            <a:off x="214884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13432" y="2130552"/>
            <a:ext cx="402336" cy="4023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A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09728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com.sgqrdemo.bankaapp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bankademo://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2628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1D3557"/>
          </a:solidFill>
          <a:ln/>
        </p:spPr>
      </p:sp>
      <p:sp>
        <p:nvSpPr>
          <p:cNvPr id="10" name="Shape 7"/>
          <p:cNvSpPr/>
          <p:nvPr/>
        </p:nvSpPr>
        <p:spPr>
          <a:xfrm>
            <a:off x="585216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2130552"/>
            <a:ext cx="402336" cy="40233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52628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B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480060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com.sgqrdemo.bankbapp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bankbdemo://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229600" y="1691640"/>
            <a:ext cx="3383280" cy="2743200"/>
          </a:xfrm>
          <a:prstGeom prst="roundRect">
            <a:avLst>
              <a:gd name="adj" fmla="val 3333"/>
            </a:avLst>
          </a:prstGeom>
          <a:solidFill>
            <a:srgbClr val="2A9D8F"/>
          </a:solidFill>
          <a:ln/>
        </p:spPr>
      </p:sp>
      <p:sp>
        <p:nvSpPr>
          <p:cNvPr id="15" name="Shape 11"/>
          <p:cNvSpPr/>
          <p:nvPr/>
        </p:nvSpPr>
        <p:spPr>
          <a:xfrm>
            <a:off x="9555480" y="1965960"/>
            <a:ext cx="731520" cy="73152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0072" y="2130552"/>
            <a:ext cx="402336" cy="40233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29600" y="28346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 C</a:t>
            </a:r>
            <a:endParaRPr lang="en-US" sz="2200" dirty="0"/>
          </a:p>
        </p:txBody>
      </p:sp>
      <p:sp>
        <p:nvSpPr>
          <p:cNvPr id="18" name="Text 13"/>
          <p:cNvSpPr/>
          <p:nvPr/>
        </p:nvSpPr>
        <p:spPr>
          <a:xfrm>
            <a:off x="8503920" y="329184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ID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com.sgqrdemo.bankcapp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 Scheme</a:t>
            </a:r>
            <a:endParaRPr lang="en-US" sz="1200" dirty="0"/>
          </a:p>
          <a:p>
            <a:pPr algn="ctr" indent="0" marL="0">
              <a:lnSpc>
                <a:spcPct val="125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bankcdemo://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22960" y="4754880"/>
            <a:ext cx="10543032" cy="1234440"/>
          </a:xfrm>
          <a:prstGeom prst="roundRect">
            <a:avLst>
              <a:gd name="adj" fmla="val 5926"/>
            </a:avLst>
          </a:prstGeom>
          <a:solidFill>
            <a:srgbClr val="065A82">
              <a:alpha val="75000"/>
            </a:srgbClr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" y="5074920"/>
            <a:ext cx="5029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737360" y="49194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Copied, not shared</a:t>
            </a:r>
            <a:endParaRPr lang="en-US" sz="1400" dirty="0"/>
          </a:p>
        </p:txBody>
      </p:sp>
      <p:sp>
        <p:nvSpPr>
          <p:cNvPr id="22" name="Text 16"/>
          <p:cNvSpPr/>
          <p:nvPr/>
        </p:nvSpPr>
        <p:spPr>
          <a:xfrm>
            <a:off x="1737360" y="5266944"/>
            <a:ext cx="92628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4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 apps' code started as one copy, duplicated 3 times — it isn't shared behind the scenes. Fixing a bug in one app means copying that fix into the other two by hand.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8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real, what's simulated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737360"/>
            <a:ext cx="594360" cy="594360"/>
          </a:xfrm>
          <a:prstGeom prst="ellipse">
            <a:avLst/>
          </a:prstGeom>
          <a:solidFill>
            <a:srgbClr val="1C729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8408" y="1892808"/>
            <a:ext cx="283464" cy="2834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1828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868680" y="26060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network request (create, fetch, and pay)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QR code and the actual link resolution on each phone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Android's chooser and iOS's Safari fallback, both genuinely triggered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Handling the link whether the app is closed, open, or in the background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payment can only be completed once, even with 2 taps at once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protection against the page being embedded on another site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6263640" y="1463040"/>
            <a:ext cx="534924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537960" y="1737360"/>
            <a:ext cx="594360" cy="594360"/>
          </a:xfrm>
          <a:prstGeom prst="ellipse">
            <a:avLst/>
          </a:prstGeom>
          <a:solidFill>
            <a:srgbClr val="F9616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3408" y="1892808"/>
            <a:ext cx="283464" cy="28346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69480" y="182880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Simulated</a:t>
            </a:r>
            <a:endParaRPr lang="en-US" sz="1900" dirty="0"/>
          </a:p>
        </p:txBody>
      </p:sp>
      <p:sp>
        <p:nvSpPr>
          <p:cNvPr id="12" name="Text 8"/>
          <p:cNvSpPr/>
          <p:nvPr/>
        </p:nvSpPr>
        <p:spPr>
          <a:xfrm>
            <a:off x="6583680" y="2606040"/>
            <a:ext cx="470916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bank balance — just a number in the app, resets on relaunch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payment — no real money moves, no real bank is involved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bank "paid" is just a label the server stores, not a settlement</a:t>
            </a:r>
            <a:endParaRPr lang="en-US" sz="130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single-bank app would verify its Android App Link and register its iOS Universal Link — we tested that, and it's what removes the chooser, so we skip it on purpose here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1828800" y="4572000"/>
            <a:ext cx="4572000" cy="4572000"/>
          </a:xfrm>
          <a:prstGeom prst="ellipse">
            <a:avLst/>
          </a:prstGeom>
          <a:solidFill>
            <a:srgbClr val="1C7293">
              <a:alpha val="35000"/>
            </a:srgbClr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28016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103120"/>
            <a:ext cx="9875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link. Two different endings.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independent bank apps.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3657600"/>
            <a:ext cx="8961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split comes from what each phone's OS does by default with an unregistered link. We even tested making Android's link official — it removed the tap, but it removed the choice too, so we kept things unregistered on purpose.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330000"/>
            <a:ext cx="1109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Methods Were Correct but Blocked</a:t>
            </a:r>
          </a:p>
        </p:txBody>
      </p:sp>
      <p:sp>
        <p:nvSpPr>
          <p:cNvPr id="3" name="Subtitle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F4A6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and hosting checked out — a real external requirement stopped them short</a:t>
            </a:r>
          </a:p>
        </p:txBody>
      </p:sp>
      <p:sp>
        <p:nvSpPr>
          <p:cNvPr id="31" name="ColHeader"/>
          <p:cNvSpPr/>
          <p:nvPr/>
        </p:nvSpPr>
        <p:spPr>
          <a:xfrm>
            <a:off x="548640" y="1600000"/>
            <a:ext cx="5347240" cy="5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D6E8"/>
                </a:solidFill>
                <a:latin typeface="Cambria" pitchFamily="34" charset="0"/>
              </a:rPr>
              <a:t>Bank 2 — Verified iOS Universal Links</a:t>
            </a:r>
          </a:p>
        </p:txBody>
      </p:sp>
      <p:sp>
        <p:nvSpPr>
          <p:cNvPr id="32" name="ColHeader"/>
          <p:cNvSpPr/>
          <p:nvPr/>
        </p:nvSpPr>
        <p:spPr>
          <a:xfrm>
            <a:off x="6295880" y="1600000"/>
            <a:ext cx="5347240" cy="500000"/>
          </a:xfrm>
          <a:prstGeom prst="rect">
            <a:avLst/>
          </a:prstGeom>
          <a:noFill/>
          <a:ln/>
        </p:spPr>
        <p:txBody>
          <a:bodyPr wrap="square" lIns="0" tIns="0" rIns="0" bIns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FD6E8"/>
                </a:solidFill>
                <a:latin typeface="Cambria" pitchFamily="34" charset="0"/>
              </a:rPr>
              <a:t>Bank 3 — iOS Smart App Banner</a:t>
            </a:r>
          </a:p>
        </p:txBody>
      </p:sp>
      <p:sp>
        <p:nvSpPr>
          <p:cNvPr id="33" name="Panel"/>
          <p:cNvSpPr/>
          <p:nvPr/>
        </p:nvSpPr>
        <p:spPr>
          <a:xfrm>
            <a:off x="548640" y="2200000"/>
            <a:ext cx="5347240" cy="420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4" name="PanelTitle"/>
          <p:cNvSpPr/>
          <p:nvPr/>
        </p:nvSpPr>
        <p:spPr>
          <a:xfrm>
            <a:off x="768640" y="2380000"/>
            <a:ext cx="4907240" cy="4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18AB2"/>
                </a:solidFill>
                <a:latin typeface="Calibri" pitchFamily="34" charset="0"/>
              </a:rPr>
              <a:t>What we built</a:t>
            </a:r>
          </a:p>
        </p:txBody>
      </p:sp>
      <p:sp>
        <p:nvSpPr>
          <p:cNvPr id="35" name="PanelBody"/>
          <p:cNvSpPr/>
          <p:nvPr/>
        </p:nvSpPr>
        <p:spPr>
          <a:xfrm>
            <a:off x="768640" y="2850000"/>
            <a:ext cx="4907240" cy="3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Entitlement: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Associated Domains, confirmed present in the signed binary via codesign.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Hosting: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apple-app-site-association served correctly at /.well-known/.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Blocker: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Full verification requires a paid Apple Developer Program membership.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Observed: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iOS never created the per-app "Open Links" Settings entry — every test fell through to Safari with a manual banner, never a silent handoff.</a:t>
            </a:r>
          </a:p>
        </p:txBody>
      </p:sp>
      <p:sp>
        <p:nvSpPr>
          <p:cNvPr id="36" name="Panel"/>
          <p:cNvSpPr/>
          <p:nvPr/>
        </p:nvSpPr>
        <p:spPr>
          <a:xfrm>
            <a:off x="6295880" y="2200000"/>
            <a:ext cx="5347240" cy="42000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7" name="PanelTitle"/>
          <p:cNvSpPr/>
          <p:nvPr/>
        </p:nvSpPr>
        <p:spPr>
          <a:xfrm>
            <a:off x="6515880" y="2380000"/>
            <a:ext cx="4907240" cy="42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5651D"/>
                </a:solidFill>
                <a:latin typeface="Calibri" pitchFamily="34" charset="0"/>
              </a:rPr>
              <a:t>What we built</a:t>
            </a:r>
          </a:p>
        </p:txBody>
      </p:sp>
      <p:sp>
        <p:nvSpPr>
          <p:cNvPr id="38" name="PanelBody"/>
          <p:cNvSpPr/>
          <p:nvPr/>
        </p:nvSpPr>
        <p:spPr>
          <a:xfrm>
            <a:off x="6515880" y="2850000"/>
            <a:ext cx="4907240" cy="335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Tag: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 correct &lt;meta name="apple-itunes-app"&gt; with app-id and app-argument.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Hosting: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Deployed and reachable — page loads fine in Safari.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Blocker: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The app-id must match a real, published App Store listing.</a:t>
            </a:r>
          </a:p>
          <a:p>
            <a:pPr indent="0" marL="228600">
              <a:lnSpc>
                <a:spcPct val="115000"/>
              </a:lnSpc>
              <a:spcAft>
                <a:spcPts val="900"/>
              </a:spcAft>
              <a:buFont typeface="Arial"/>
              <a:buChar char="•"/>
            </a:pPr>
            <a:r>
              <a:rPr lang="en-US" sz="1250" b="1" dirty="0">
                <a:solidFill>
                  <a:srgbClr val="1A2233"/>
                </a:solidFill>
                <a:latin typeface="Calibri" pitchFamily="34" charset="0"/>
              </a:rPr>
              <a:t>Observed: </a:t>
            </a:r>
            <a:r>
              <a:rPr lang="en-US" sz="1250" dirty="0">
                <a:solidFill>
                  <a:srgbClr val="333333"/>
                </a:solidFill>
                <a:latin typeface="Calibri" pitchFamily="34" charset="0"/>
              </a:rPr>
              <a:t>Apple validates the app-id server-side, not just tag presence — a sideloaded, unpublished app can never trigger the banner, no matter how correct the tag is.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330000"/>
            <a:ext cx="1109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Other Deep-Linking Methods We Also Built</a:t>
            </a:r>
          </a:p>
        </p:txBody>
      </p:sp>
      <p:sp>
        <p:nvSpPr>
          <p:cNvPr id="3" name="Subtitle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more mechanisms, each its own standalone app, each verified on a real device</a:t>
            </a:r>
          </a:p>
        </p:txBody>
      </p:sp>
      <p:sp>
        <p:nvSpPr>
          <p:cNvPr id="11" name="Card"/>
          <p:cNvSpPr/>
          <p:nvPr/>
        </p:nvSpPr>
        <p:spPr>
          <a:xfrm>
            <a:off x="548640" y="1650000"/>
            <a:ext cx="3598240" cy="2350000"/>
          </a:xfrm>
          <a:prstGeom prst="roundRect">
            <a:avLst>
              <a:gd name="adj" fmla="val 5000"/>
            </a:avLst>
          </a:prstGeom>
          <a:solidFill>
            <a:srgbClr val="6A4C93"/>
          </a:solidFill>
          <a:ln>
            <a:noFill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  <p:txBody>
          <a:bodyPr wrap="square" lIns="0" tIns="0" rIns="0" bIns="0"/>
          <a:lstStyle/>
          <a:p>
            <a:endParaRPr lang="en-US"/>
          </a:p>
        </p:txBody>
      </p:sp>
      <p:sp>
        <p:nvSpPr>
          <p:cNvPr id="12" name="CardTitle"/>
          <p:cNvSpPr/>
          <p:nvPr/>
        </p:nvSpPr>
        <p:spPr>
          <a:xfrm>
            <a:off x="728640" y="1800000"/>
            <a:ext cx="3238240" cy="4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</a:rPr>
              <a:t>Bank 1 — Verified Android App Links</a:t>
            </a:r>
          </a:p>
        </p:txBody>
      </p:sp>
      <p:sp>
        <p:nvSpPr>
          <p:cNvPr id="13" name="CardBody"/>
          <p:cNvSpPr/>
          <p:nvPr/>
        </p:nvSpPr>
        <p:spPr>
          <a:xfrm>
            <a:off x="728640" y="2250000"/>
            <a:ext cx="3238240" cy="1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autoVerify="true" + hosted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assetlinks.json — proves domain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ownership via signing cert.</a:t>
            </a:r>
          </a:p>
        </p:txBody>
      </p:sp>
      <p:sp>
        <p:nvSpPr>
          <p:cNvPr id="14" name="Badge"/>
          <p:cNvSpPr/>
          <p:nvPr/>
        </p:nvSpPr>
        <p:spPr>
          <a:xfrm>
            <a:off x="728640" y="3580000"/>
            <a:ext cx="3238240" cy="33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8CFFC1"/>
                </a:solidFill>
                <a:latin typeface="Calibri" pitchFamily="34" charset="0"/>
              </a:rPr>
              <a:t>✓ Tested live: opened directly,
zero prompt, no chooser.</a:t>
            </a:r>
          </a:p>
        </p:txBody>
      </p:sp>
      <p:sp>
        <p:nvSpPr>
          <p:cNvPr id="15" name="Card"/>
          <p:cNvSpPr/>
          <p:nvPr/>
        </p:nvSpPr>
        <p:spPr>
          <a:xfrm>
            <a:off x="4296880" y="1650000"/>
            <a:ext cx="3598240" cy="2350000"/>
          </a:xfrm>
          <a:prstGeom prst="roundRect">
            <a:avLst>
              <a:gd name="adj" fmla="val 5000"/>
            </a:avLst>
          </a:prstGeom>
          <a:solidFill>
            <a:srgbClr val="118AB2"/>
          </a:solidFill>
          <a:ln>
            <a:noFill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  <p:txBody>
          <a:bodyPr wrap="square" lIns="0" tIns="0" rIns="0" bIns="0"/>
          <a:lstStyle/>
          <a:p>
            <a:endParaRPr lang="en-US"/>
          </a:p>
        </p:txBody>
      </p:sp>
      <p:sp>
        <p:nvSpPr>
          <p:cNvPr id="16" name="CardTitle"/>
          <p:cNvSpPr/>
          <p:nvPr/>
        </p:nvSpPr>
        <p:spPr>
          <a:xfrm>
            <a:off x="4476880" y="1800000"/>
            <a:ext cx="3238240" cy="4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</a:rPr>
              <a:t>Bank 2 — Verified iOS Universal Links</a:t>
            </a:r>
          </a:p>
        </p:txBody>
      </p:sp>
      <p:sp>
        <p:nvSpPr>
          <p:cNvPr id="17" name="CardBody"/>
          <p:cNvSpPr/>
          <p:nvPr/>
        </p:nvSpPr>
        <p:spPr>
          <a:xfrm>
            <a:off x="4476880" y="2250000"/>
            <a:ext cx="3238240" cy="1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Associated Domains entitlement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+ hosted apple-app-site-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association.</a:t>
            </a:r>
          </a:p>
        </p:txBody>
      </p:sp>
      <p:sp>
        <p:nvSpPr>
          <p:cNvPr id="18" name="Badge"/>
          <p:cNvSpPr/>
          <p:nvPr/>
        </p:nvSpPr>
        <p:spPr>
          <a:xfrm>
            <a:off x="4476880" y="3580000"/>
            <a:ext cx="3238240" cy="33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FFD966"/>
                </a:solidFill>
                <a:latin typeface="Calibri" pitchFamily="34" charset="0"/>
              </a:rPr>
              <a:t>⚠ Needs a paid Apple Dev
account to fully verify — see next slide.</a:t>
            </a:r>
          </a:p>
        </p:txBody>
      </p:sp>
      <p:sp>
        <p:nvSpPr>
          <p:cNvPr id="19" name="Card"/>
          <p:cNvSpPr/>
          <p:nvPr/>
        </p:nvSpPr>
        <p:spPr>
          <a:xfrm>
            <a:off x="8045120" y="1650000"/>
            <a:ext cx="3598240" cy="2350000"/>
          </a:xfrm>
          <a:prstGeom prst="roundRect">
            <a:avLst>
              <a:gd name="adj" fmla="val 5000"/>
            </a:avLst>
          </a:prstGeom>
          <a:solidFill>
            <a:srgbClr val="B5651D"/>
          </a:solidFill>
          <a:ln>
            <a:noFill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  <p:txBody>
          <a:bodyPr wrap="square" lIns="0" tIns="0" rIns="0" bIns="0"/>
          <a:lstStyle/>
          <a:p>
            <a:endParaRPr lang="en-US"/>
          </a:p>
        </p:txBody>
      </p:sp>
      <p:sp>
        <p:nvSpPr>
          <p:cNvPr id="20" name="CardTitle"/>
          <p:cNvSpPr/>
          <p:nvPr/>
        </p:nvSpPr>
        <p:spPr>
          <a:xfrm>
            <a:off x="8225120" y="1800000"/>
            <a:ext cx="3238240" cy="4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</a:rPr>
              <a:t>Bank 3 — iOS Smart App Banner</a:t>
            </a:r>
          </a:p>
        </p:txBody>
      </p:sp>
      <p:sp>
        <p:nvSpPr>
          <p:cNvPr id="21" name="CardBody"/>
          <p:cNvSpPr/>
          <p:nvPr/>
        </p:nvSpPr>
        <p:spPr>
          <a:xfrm>
            <a:off x="8225120" y="2250000"/>
            <a:ext cx="3238240" cy="1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A webpage &lt;meta&gt; tag offering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to open (or install) the app —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no entitlement needed.</a:t>
            </a:r>
          </a:p>
        </p:txBody>
      </p:sp>
      <p:sp>
        <p:nvSpPr>
          <p:cNvPr id="22" name="Badge"/>
          <p:cNvSpPr/>
          <p:nvPr/>
        </p:nvSpPr>
        <p:spPr>
          <a:xfrm>
            <a:off x="8225120" y="3580000"/>
            <a:ext cx="3238240" cy="33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FFD966"/>
                </a:solidFill>
                <a:latin typeface="Calibri" pitchFamily="34" charset="0"/>
              </a:rPr>
              <a:t>⚠ Needs a real App Store
listing to render — see next slide.</a:t>
            </a:r>
          </a:p>
        </p:txBody>
      </p:sp>
      <p:sp>
        <p:nvSpPr>
          <p:cNvPr id="23" name="Card"/>
          <p:cNvSpPr/>
          <p:nvPr/>
        </p:nvSpPr>
        <p:spPr>
          <a:xfrm>
            <a:off x="2422760" y="4150000"/>
            <a:ext cx="3598240" cy="2350000"/>
          </a:xfrm>
          <a:prstGeom prst="roundRect">
            <a:avLst>
              <a:gd name="adj" fmla="val 5000"/>
            </a:avLst>
          </a:prstGeom>
          <a:solidFill>
            <a:srgbClr val="E07A5F"/>
          </a:solidFill>
          <a:ln>
            <a:noFill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  <p:txBody>
          <a:bodyPr wrap="square" lIns="0" tIns="0" rIns="0" bIns="0"/>
          <a:lstStyle/>
          <a:p>
            <a:endParaRPr lang="en-US"/>
          </a:p>
        </p:txBody>
      </p:sp>
      <p:sp>
        <p:nvSpPr>
          <p:cNvPr id="24" name="CardTitle"/>
          <p:cNvSpPr/>
          <p:nvPr/>
        </p:nvSpPr>
        <p:spPr>
          <a:xfrm>
            <a:off x="2602760" y="4300000"/>
            <a:ext cx="3238240" cy="4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</a:rPr>
              <a:t>Bank 4 — Explicit-Package Intent</a:t>
            </a:r>
          </a:p>
        </p:txBody>
      </p:sp>
      <p:sp>
        <p:nvSpPr>
          <p:cNvPr id="25" name="CardBody"/>
          <p:cNvSpPr/>
          <p:nvPr/>
        </p:nvSpPr>
        <p:spPr>
          <a:xfrm>
            <a:off x="2602760" y="4750000"/>
            <a:ext cx="3238240" cy="1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Link names the exact target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package directly — Android has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nothing left to disambiguate.</a:t>
            </a:r>
          </a:p>
        </p:txBody>
      </p:sp>
      <p:sp>
        <p:nvSpPr>
          <p:cNvPr id="26" name="Badge"/>
          <p:cNvSpPr/>
          <p:nvPr/>
        </p:nvSpPr>
        <p:spPr>
          <a:xfrm>
            <a:off x="2602760" y="6080000"/>
            <a:ext cx="3238240" cy="33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8CFFC1"/>
                </a:solidFill>
                <a:latin typeface="Calibri" pitchFamily="34" charset="0"/>
              </a:rPr>
              <a:t>✓ Tested live: opened directly,
zero prompt, no chooser.</a:t>
            </a:r>
          </a:p>
        </p:txBody>
      </p:sp>
      <p:sp>
        <p:nvSpPr>
          <p:cNvPr id="27" name="Card"/>
          <p:cNvSpPr/>
          <p:nvPr/>
        </p:nvSpPr>
        <p:spPr>
          <a:xfrm>
            <a:off x="6171000" y="4150000"/>
            <a:ext cx="3598240" cy="2350000"/>
          </a:xfrm>
          <a:prstGeom prst="roundRect">
            <a:avLst>
              <a:gd name="adj" fmla="val 5000"/>
            </a:avLst>
          </a:prstGeom>
          <a:solidFill>
            <a:srgbClr val="2D6A4F"/>
          </a:solidFill>
          <a:ln>
            <a:noFill/>
          </a:ln>
          <a:effectLst>
            <a:outerShdw sx="100000" sy="100000" kx="0" ky="0" algn="bl" rotWithShape="0" blurRad="76200" dist="25400" dir="2700000">
              <a:srgbClr val="000000">
                <a:alpha val="30000"/>
              </a:srgbClr>
            </a:outerShdw>
          </a:effectLst>
        </p:spPr>
        <p:txBody>
          <a:bodyPr wrap="square" lIns="0" tIns="0" rIns="0" bIns="0"/>
          <a:lstStyle/>
          <a:p>
            <a:endParaRPr lang="en-US"/>
          </a:p>
        </p:txBody>
      </p:sp>
      <p:sp>
        <p:nvSpPr>
          <p:cNvPr id="28" name="CardTitle"/>
          <p:cNvSpPr/>
          <p:nvPr/>
        </p:nvSpPr>
        <p:spPr>
          <a:xfrm>
            <a:off x="6351000" y="4300000"/>
            <a:ext cx="3238240" cy="44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</a:rPr>
              <a:t>Bank 5 — Deferred Deep Linking</a:t>
            </a:r>
          </a:p>
        </p:txBody>
      </p:sp>
      <p:sp>
        <p:nvSpPr>
          <p:cNvPr id="29" name="CardBody"/>
          <p:cNvSpPr/>
          <p:nvPr/>
        </p:nvSpPr>
        <p:spPr>
          <a:xfrm>
            <a:off x="6351000" y="4750000"/>
            <a:ext cx="3238240" cy="1400000"/>
          </a:xfrm>
          <a:prstGeom prst="rect">
            <a:avLst/>
          </a:prstGeom>
          <a:noFill/>
          <a:ln/>
        </p:spPr>
        <p:txBody>
          <a:bodyPr wrap="square" lIns="0" tIns="0" rIns="0" bIns="0" anchor="t"/>
          <a:lstStyle/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Simulated via clipboard — the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real store-based mechanism</a:t>
            </a:r>
          </a:p>
          <a:p>
            <a:pPr indent="0" marL="0">
              <a:lnSpc>
                <a:spcPct val="118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</a:rPr>
              <a:t>isn't possible when sideloaded.</a:t>
            </a:r>
          </a:p>
        </p:txBody>
      </p:sp>
      <p:sp>
        <p:nvSpPr>
          <p:cNvPr id="30" name="Badge"/>
          <p:cNvSpPr/>
          <p:nvPr/>
        </p:nvSpPr>
        <p:spPr>
          <a:xfrm>
            <a:off x="6351000" y="6080000"/>
            <a:ext cx="3238240" cy="330000"/>
          </a:xfrm>
          <a:prstGeom prst="rect">
            <a:avLst/>
          </a:prstGeom>
          <a:noFill/>
          <a:ln/>
        </p:spPr>
        <p:txBody>
          <a:bodyPr wrap="square" lIns="0" tIns="0" rIns="0" bIns="0" anchor="b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8CFFC1"/>
                </a:solidFill>
                <a:latin typeface="Calibri" pitchFamily="34" charset="0"/>
              </a:rPr>
              <a:t>✓ Tested live on Android + iOS:
correct token recovered both times.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129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548640" y="330000"/>
            <a:ext cx="1109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Cross-Platform Verification: Confirmed Live</a:t>
            </a:r>
          </a:p>
        </p:txBody>
      </p:sp>
      <p:sp>
        <p:nvSpPr>
          <p:cNvPr id="3" name="Subtitle"/>
          <p:cNvSpPr/>
          <p:nvPr/>
        </p:nvSpPr>
        <p:spPr>
          <a:xfrm>
            <a:off x="548640" y="980000"/>
            <a:ext cx="11094720" cy="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app was also installed on the "wrong" platform to confirm the negative case</a:t>
            </a:r>
          </a:p>
        </p:txBody>
      </p:sp>
      <p:sp>
        <p:nvSpPr>
          <p:cNvPr id="39" name="THead"/>
          <p:cNvSpPr/>
          <p:nvPr/>
        </p:nvSpPr>
        <p:spPr>
          <a:xfrm>
            <a:off x="548640" y="1750000"/>
            <a:ext cx="2600000" cy="50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App</a:t>
            </a:r>
          </a:p>
        </p:txBody>
      </p:sp>
      <p:sp>
        <p:nvSpPr>
          <p:cNvPr id="40" name="THead"/>
          <p:cNvSpPr/>
          <p:nvPr/>
        </p:nvSpPr>
        <p:spPr>
          <a:xfrm>
            <a:off x="3148640" y="1750000"/>
            <a:ext cx="4700000" cy="50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On Android</a:t>
            </a:r>
          </a:p>
        </p:txBody>
      </p:sp>
      <p:sp>
        <p:nvSpPr>
          <p:cNvPr id="41" name="THead"/>
          <p:cNvSpPr/>
          <p:nvPr/>
        </p:nvSpPr>
        <p:spPr>
          <a:xfrm>
            <a:off x="7848640" y="1750000"/>
            <a:ext cx="4700000" cy="500000"/>
          </a:xfrm>
          <a:prstGeom prst="rect">
            <a:avLst/>
          </a:prstGeom>
          <a:solidFill>
            <a:srgbClr val="21295C"/>
          </a:solidFill>
          <a:ln>
            <a:noFill/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</a:rPr>
              <a:t>On iOS</a:t>
            </a:r>
          </a:p>
        </p:txBody>
      </p:sp>
      <p:sp>
        <p:nvSpPr>
          <p:cNvPr id="42" name="TCell"/>
          <p:cNvSpPr/>
          <p:nvPr/>
        </p:nvSpPr>
        <p:spPr>
          <a:xfrm>
            <a:off x="548640" y="225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Bank 1 — App Links</a:t>
            </a:r>
          </a:p>
        </p:txBody>
      </p:sp>
      <p:sp>
        <p:nvSpPr>
          <p:cNvPr id="43" name="TCell"/>
          <p:cNvSpPr/>
          <p:nvPr/>
        </p:nvSpPr>
        <p:spPr>
          <a:xfrm>
            <a:off x="3148640" y="2250000"/>
            <a:ext cx="4700000" cy="700000"/>
          </a:xfrm>
          <a:prstGeom prst="rect">
            <a:avLst/>
          </a:prstGeom>
          <a:solidFill>
            <a:srgbClr val="8CFFC1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Opens directly, zero prompt</a:t>
            </a:r>
          </a:p>
        </p:txBody>
      </p:sp>
      <p:sp>
        <p:nvSpPr>
          <p:cNvPr id="44" name="TCell"/>
          <p:cNvSpPr/>
          <p:nvPr/>
        </p:nvSpPr>
        <p:spPr>
          <a:xfrm>
            <a:off x="7848640" y="2250000"/>
            <a:ext cx="4700000" cy="700000"/>
          </a:xfrm>
          <a:prstGeom prst="rect">
            <a:avLst/>
          </a:prstGeom>
          <a:solidFill>
            <a:srgbClr val="FBEAEA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Just a webpage — never a candidate</a:t>
            </a:r>
          </a:p>
        </p:txBody>
      </p:sp>
      <p:sp>
        <p:nvSpPr>
          <p:cNvPr id="45" name="TCell"/>
          <p:cNvSpPr/>
          <p:nvPr/>
        </p:nvSpPr>
        <p:spPr>
          <a:xfrm>
            <a:off x="548640" y="295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Bank 2 — Universal Links</a:t>
            </a:r>
          </a:p>
        </p:txBody>
      </p:sp>
      <p:sp>
        <p:nvSpPr>
          <p:cNvPr id="46" name="TCell"/>
          <p:cNvSpPr/>
          <p:nvPr/>
        </p:nvSpPr>
        <p:spPr>
          <a:xfrm>
            <a:off x="3148640" y="2950000"/>
            <a:ext cx="4700000" cy="700000"/>
          </a:xfrm>
          <a:prstGeom prst="rect">
            <a:avLst/>
          </a:prstGeom>
          <a:solidFill>
            <a:srgbClr val="FBEAEA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Just opens Chrome — never a candidate</a:t>
            </a:r>
          </a:p>
        </p:txBody>
      </p:sp>
      <p:sp>
        <p:nvSpPr>
          <p:cNvPr id="47" name="TCell"/>
          <p:cNvSpPr/>
          <p:nvPr/>
        </p:nvSpPr>
        <p:spPr>
          <a:xfrm>
            <a:off x="7848640" y="2950000"/>
            <a:ext cx="4700000" cy="700000"/>
          </a:xfrm>
          <a:prstGeom prst="rect">
            <a:avLst/>
          </a:prstGeom>
          <a:solidFill>
            <a:srgbClr val="FFE9B3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Safari + manual banner (free-account limit)</a:t>
            </a:r>
          </a:p>
        </p:txBody>
      </p:sp>
      <p:sp>
        <p:nvSpPr>
          <p:cNvPr id="48" name="TCell"/>
          <p:cNvSpPr/>
          <p:nvPr/>
        </p:nvSpPr>
        <p:spPr>
          <a:xfrm>
            <a:off x="548640" y="365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Bank 3 — Smart Banner</a:t>
            </a:r>
          </a:p>
        </p:txBody>
      </p:sp>
      <p:sp>
        <p:nvSpPr>
          <p:cNvPr id="49" name="TCell"/>
          <p:cNvSpPr/>
          <p:nvPr/>
        </p:nvSpPr>
        <p:spPr>
          <a:xfrm>
            <a:off x="3148640" y="3650000"/>
            <a:ext cx="4700000" cy="700000"/>
          </a:xfrm>
          <a:prstGeom prst="rect">
            <a:avLst/>
          </a:prstGeom>
          <a:solidFill>
            <a:srgbClr val="FBEAEA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Just opens Chrome — never a candidate</a:t>
            </a:r>
          </a:p>
        </p:txBody>
      </p:sp>
      <p:sp>
        <p:nvSpPr>
          <p:cNvPr id="50" name="TCell"/>
          <p:cNvSpPr/>
          <p:nvPr/>
        </p:nvSpPr>
        <p:spPr>
          <a:xfrm>
            <a:off x="7848640" y="3650000"/>
            <a:ext cx="4700000" cy="700000"/>
          </a:xfrm>
          <a:prstGeom prst="rect">
            <a:avLst/>
          </a:prstGeom>
          <a:solidFill>
            <a:srgbClr val="FFE9B3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Banner can't render (needs App Store listing)</a:t>
            </a:r>
          </a:p>
        </p:txBody>
      </p:sp>
      <p:sp>
        <p:nvSpPr>
          <p:cNvPr id="51" name="TCell"/>
          <p:cNvSpPr/>
          <p:nvPr/>
        </p:nvSpPr>
        <p:spPr>
          <a:xfrm>
            <a:off x="548640" y="435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Bank 4 — Explicit Intent</a:t>
            </a:r>
          </a:p>
        </p:txBody>
      </p:sp>
      <p:sp>
        <p:nvSpPr>
          <p:cNvPr id="52" name="TCell"/>
          <p:cNvSpPr/>
          <p:nvPr/>
        </p:nvSpPr>
        <p:spPr>
          <a:xfrm>
            <a:off x="3148640" y="4350000"/>
            <a:ext cx="4700000" cy="700000"/>
          </a:xfrm>
          <a:prstGeom prst="rect">
            <a:avLst/>
          </a:prstGeom>
          <a:solidFill>
            <a:srgbClr val="8CFFC1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Opens directly, zero prompt</a:t>
            </a:r>
          </a:p>
        </p:txBody>
      </p:sp>
      <p:sp>
        <p:nvSpPr>
          <p:cNvPr id="53" name="TCell"/>
          <p:cNvSpPr/>
          <p:nvPr/>
        </p:nvSpPr>
        <p:spPr>
          <a:xfrm>
            <a:off x="7848640" y="4350000"/>
            <a:ext cx="4700000" cy="700000"/>
          </a:xfrm>
          <a:prstGeom prst="rect">
            <a:avLst/>
          </a:prstGeom>
          <a:solidFill>
            <a:srgbClr val="FBEAEA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Just a webpage — never a candidate</a:t>
            </a:r>
          </a:p>
        </p:txBody>
      </p:sp>
      <p:sp>
        <p:nvSpPr>
          <p:cNvPr id="54" name="TCell"/>
          <p:cNvSpPr/>
          <p:nvPr/>
        </p:nvSpPr>
        <p:spPr>
          <a:xfrm>
            <a:off x="548640" y="5050000"/>
            <a:ext cx="2600000" cy="7000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233"/>
                </a:solidFill>
                <a:latin typeface="Calibri" pitchFamily="34" charset="0"/>
              </a:rPr>
              <a:t>Bank 5 — Deferred Linking</a:t>
            </a:r>
          </a:p>
        </p:txBody>
      </p:sp>
      <p:sp>
        <p:nvSpPr>
          <p:cNvPr id="55" name="TCell"/>
          <p:cNvSpPr/>
          <p:nvPr/>
        </p:nvSpPr>
        <p:spPr>
          <a:xfrm>
            <a:off x="3148640" y="5050000"/>
            <a:ext cx="4700000" cy="700000"/>
          </a:xfrm>
          <a:prstGeom prst="rect">
            <a:avLst/>
          </a:prstGeom>
          <a:solidFill>
            <a:srgbClr val="8CFFC1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Correct token recovered</a:t>
            </a:r>
          </a:p>
        </p:txBody>
      </p:sp>
      <p:sp>
        <p:nvSpPr>
          <p:cNvPr id="56" name="TCell"/>
          <p:cNvSpPr/>
          <p:nvPr/>
        </p:nvSpPr>
        <p:spPr>
          <a:xfrm>
            <a:off x="7848640" y="5050000"/>
            <a:ext cx="4700000" cy="700000"/>
          </a:xfrm>
          <a:prstGeom prst="rect">
            <a:avLst/>
          </a:prstGeom>
          <a:solidFill>
            <a:srgbClr val="8CFFC1"/>
          </a:solidFill>
          <a:ln w="6350">
            <a:solidFill>
              <a:srgbClr val="D9D9D9"/>
            </a:solidFill>
          </a:ln>
        </p:spPr>
        <p:txBody>
          <a:bodyPr wrap="square" lIns="90000" tIns="45000" rIns="90000" bIns="4500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233"/>
                </a:solidFill>
                <a:latin typeface="Calibri" pitchFamily="34" charset="0"/>
              </a:rPr>
              <a:t>Correct token recovered — identical to Android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SGQR-Style Deep Linking Simulation</dc:title>
  <dc:subject>PptxGenJS Presentation</dc:subject>
  <dc:creator>SGQR Deep Link Demo</dc:creator>
  <cp:lastModifiedBy>SGQR Deep Link Demo</cp:lastModifiedBy>
  <cp:revision>1</cp:revision>
  <dcterms:created xsi:type="dcterms:W3CDTF">2026-07-16T01:33:30Z</dcterms:created>
  <dcterms:modified xsi:type="dcterms:W3CDTF">2026-07-16T01:33:30Z</dcterms:modified>
</cp:coreProperties>
</file>