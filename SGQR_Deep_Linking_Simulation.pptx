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22"/>
    <p:sldId id="272" r:id="rId23"/>
    <p:sldId id="273" r:id="rId24"/>
    <p:sldId id="274" r:id="rId25"/>
    <p:sldId id="275" r:id="rId26"/>
    <p:sldId id="276" r:id="rId27"/>
    <p:sldId id="267" r:id="rId18"/>
    <p:sldId id="269" r:id="rId20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2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4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5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6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7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8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9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0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1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4-per-row grid of bank tiles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a grid of bank tiles, 4 per row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a grid of bank tiles, 4 per row.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Were Correct but Blocked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hosting checked out — a real external requirement stopped them short</a:t>
            </a:r>
          </a:p>
        </p:txBody>
      </p:sp>
      <p:sp>
        <p:nvSpPr>
          <p:cNvPr id="31" name="ColHeader"/>
          <p:cNvSpPr/>
          <p:nvPr/>
        </p:nvSpPr>
        <p:spPr>
          <a:xfrm>
            <a:off x="54864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32" name="ColHeader"/>
          <p:cNvSpPr/>
          <p:nvPr/>
        </p:nvSpPr>
        <p:spPr>
          <a:xfrm>
            <a:off x="629588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33" name="Panel"/>
          <p:cNvSpPr/>
          <p:nvPr/>
        </p:nvSpPr>
        <p:spPr>
          <a:xfrm>
            <a:off x="54864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PanelTitle"/>
          <p:cNvSpPr/>
          <p:nvPr/>
        </p:nvSpPr>
        <p:spPr>
          <a:xfrm>
            <a:off x="76864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5" name="PanelBody"/>
          <p:cNvSpPr/>
          <p:nvPr/>
        </p:nvSpPr>
        <p:spPr>
          <a:xfrm>
            <a:off x="76864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Entitlement: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Associated Domains, confirmed present in the signed binary via codesign.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apple-app-site-association served correctly at /.well-known/.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Full verification requires a paid Apple Developer Program membership.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iOS never created the per-app "Open Links" Settings entry — every test fell through to Safari with a manual banner, never a silent handoff.</a:t>
            </a:r>
          </a:p>
        </p:txBody>
      </p:sp>
      <p:sp>
        <p:nvSpPr>
          <p:cNvPr id="36" name="Panel"/>
          <p:cNvSpPr/>
          <p:nvPr/>
        </p:nvSpPr>
        <p:spPr>
          <a:xfrm>
            <a:off x="629588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PanelTitle"/>
          <p:cNvSpPr/>
          <p:nvPr/>
        </p:nvSpPr>
        <p:spPr>
          <a:xfrm>
            <a:off x="651588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8" name="PanelBody"/>
          <p:cNvSpPr/>
          <p:nvPr/>
        </p:nvSpPr>
        <p:spPr>
          <a:xfrm>
            <a:off x="651588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Tag: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 correct &lt;meta name="apple-itunes-app"&gt; with app-id and app-argument.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Deployed and reachable — page loads fine in Safari.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The app-id must match a real, published App Store listing.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 validates the app-id server-side, not just tag presence — a sideloaded, unpublished app can never trigger the banner, no matter how correct the tag is.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</a:rPr>
              <a:t>Cross-Platform Verification: Confirmed Live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</a:rPr>
              <a:t>Every app was also installed on the "wrong" platform to confirm the negative case</a:t>
            </a:r>
          </a:p>
        </p:txBody>
      </p:sp>
      <p:sp>
        <p:nvSpPr>
          <p:cNvPr id="1001" name="THead"/>
          <p:cNvSpPr/>
          <p:nvPr/>
        </p:nvSpPr>
        <p:spPr>
          <a:xfrm>
            <a:off x="548640" y="1650000"/>
            <a:ext cx="26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1002" name="THead"/>
          <p:cNvSpPr/>
          <p:nvPr/>
        </p:nvSpPr>
        <p:spPr>
          <a:xfrm>
            <a:off x="3148640" y="1650000"/>
            <a:ext cx="47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Android</a:t>
            </a:r>
          </a:p>
        </p:txBody>
      </p:sp>
      <p:sp>
        <p:nvSpPr>
          <p:cNvPr id="1003" name="THead"/>
          <p:cNvSpPr/>
          <p:nvPr/>
        </p:nvSpPr>
        <p:spPr>
          <a:xfrm>
            <a:off x="7848640" y="1650000"/>
            <a:ext cx="47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iOS</a:t>
            </a:r>
          </a:p>
        </p:txBody>
      </p:sp>
      <p:sp>
        <p:nvSpPr>
          <p:cNvPr id="1004" name="TCell"/>
          <p:cNvSpPr/>
          <p:nvPr/>
        </p:nvSpPr>
        <p:spPr>
          <a:xfrm>
            <a:off x="548640" y="21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1 — App Links</a:t>
            </a:r>
          </a:p>
        </p:txBody>
      </p:sp>
      <p:sp>
        <p:nvSpPr>
          <p:cNvPr id="1005" name="TCell"/>
          <p:cNvSpPr/>
          <p:nvPr/>
        </p:nvSpPr>
        <p:spPr>
          <a:xfrm>
            <a:off x="3148640" y="21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1006" name="TCell"/>
          <p:cNvSpPr/>
          <p:nvPr/>
        </p:nvSpPr>
        <p:spPr>
          <a:xfrm>
            <a:off x="7848640" y="21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1007" name="TCell"/>
          <p:cNvSpPr/>
          <p:nvPr/>
        </p:nvSpPr>
        <p:spPr>
          <a:xfrm>
            <a:off x="548640" y="28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2 — Universal Links</a:t>
            </a:r>
          </a:p>
        </p:txBody>
      </p:sp>
      <p:sp>
        <p:nvSpPr>
          <p:cNvPr id="1008" name="TCell"/>
          <p:cNvSpPr/>
          <p:nvPr/>
        </p:nvSpPr>
        <p:spPr>
          <a:xfrm>
            <a:off x="3148640" y="28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1009" name="TCell"/>
          <p:cNvSpPr/>
          <p:nvPr/>
        </p:nvSpPr>
        <p:spPr>
          <a:xfrm>
            <a:off x="7848640" y="283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Safari + manual banner (free-account limit)</a:t>
            </a:r>
          </a:p>
        </p:txBody>
      </p:sp>
      <p:sp>
        <p:nvSpPr>
          <p:cNvPr id="1010" name="TCell"/>
          <p:cNvSpPr/>
          <p:nvPr/>
        </p:nvSpPr>
        <p:spPr>
          <a:xfrm>
            <a:off x="548640" y="35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3 — Smart Banner</a:t>
            </a:r>
          </a:p>
        </p:txBody>
      </p:sp>
      <p:sp>
        <p:nvSpPr>
          <p:cNvPr id="1011" name="TCell"/>
          <p:cNvSpPr/>
          <p:nvPr/>
        </p:nvSpPr>
        <p:spPr>
          <a:xfrm>
            <a:off x="3148640" y="35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1012" name="TCell"/>
          <p:cNvSpPr/>
          <p:nvPr/>
        </p:nvSpPr>
        <p:spPr>
          <a:xfrm>
            <a:off x="7848640" y="353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Banner can't render (needs App Store listing)</a:t>
            </a:r>
          </a:p>
        </p:txBody>
      </p:sp>
      <p:sp>
        <p:nvSpPr>
          <p:cNvPr id="1013" name="TCell"/>
          <p:cNvSpPr/>
          <p:nvPr/>
        </p:nvSpPr>
        <p:spPr>
          <a:xfrm>
            <a:off x="548640" y="42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4 — Explicit Intent</a:t>
            </a:r>
          </a:p>
        </p:txBody>
      </p:sp>
      <p:sp>
        <p:nvSpPr>
          <p:cNvPr id="1014" name="TCell"/>
          <p:cNvSpPr/>
          <p:nvPr/>
        </p:nvSpPr>
        <p:spPr>
          <a:xfrm>
            <a:off x="3148640" y="42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1015" name="TCell"/>
          <p:cNvSpPr/>
          <p:nvPr/>
        </p:nvSpPr>
        <p:spPr>
          <a:xfrm>
            <a:off x="7848640" y="42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1016" name="TCell"/>
          <p:cNvSpPr/>
          <p:nvPr/>
        </p:nvSpPr>
        <p:spPr>
          <a:xfrm>
            <a:off x="548640" y="49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5 — Deferred Linking</a:t>
            </a:r>
          </a:p>
        </p:txBody>
      </p:sp>
      <p:sp>
        <p:nvSpPr>
          <p:cNvPr id="1017" name="TCell"/>
          <p:cNvSpPr/>
          <p:nvPr/>
        </p:nvSpPr>
        <p:spPr>
          <a:xfrm>
            <a:off x="3148640" y="49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</a:t>
            </a:r>
          </a:p>
        </p:txBody>
      </p:sp>
      <p:sp>
        <p:nvSpPr>
          <p:cNvPr id="1018" name="TCell"/>
          <p:cNvSpPr/>
          <p:nvPr/>
        </p:nvSpPr>
        <p:spPr>
          <a:xfrm>
            <a:off x="7848640" y="49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 — identical to Android</a:t>
            </a:r>
          </a:p>
        </p:txBody>
      </p:sp>
      <p:sp>
        <p:nvSpPr>
          <p:cNvPr id="1019" name="TCell"/>
          <p:cNvSpPr/>
          <p:nvPr/>
        </p:nvSpPr>
        <p:spPr>
          <a:xfrm>
            <a:off x="548640" y="56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Unregistered link (Bank A/B/C)</a:t>
            </a:r>
          </a:p>
        </p:txBody>
      </p:sp>
      <p:sp>
        <p:nvSpPr>
          <p:cNvPr id="1020" name="TCell"/>
          <p:cNvSpPr/>
          <p:nvPr/>
        </p:nvSpPr>
        <p:spPr>
          <a:xfrm>
            <a:off x="3148640" y="5630000"/>
            <a:ext cx="47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Native chooser — the real, working point of this project, not a fallback.</a:t>
            </a:r>
          </a:p>
        </p:txBody>
      </p:sp>
      <p:sp>
        <p:nvSpPr>
          <p:cNvPr id="1021" name="TCell"/>
          <p:cNvSpPr/>
          <p:nvPr/>
        </p:nvSpPr>
        <p:spPr>
          <a:xfrm>
            <a:off x="7848640" y="5630000"/>
            <a:ext cx="47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Web picker grid — the real, working point of this project, not a fallback.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yUnregisteredConclus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Why Unregistered Link Still Wins</a:t>
            </a:r>
          </a:p>
        </p:txBody>
      </p:sp>
      <p:sp>
        <p:nvSpPr>
          <p:cNvPr id="123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Having built and tested all 5 alternatives, this is the conclusion they point to</a:t>
            </a:r>
          </a:p>
        </p:txBody>
      </p:sp>
      <p:sp>
        <p:nvSpPr>
          <p:cNvPr id="124" name="Box"/>
          <p:cNvSpPr/>
          <p:nvPr/>
        </p:nvSpPr>
        <p:spPr>
          <a:xfrm>
            <a:off x="548640" y="1650000"/>
            <a:ext cx="5450000" cy="21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TB"/>
          <p:cNvSpPr/>
          <p:nvPr/>
        </p:nvSpPr>
        <p:spPr>
          <a:xfrm>
            <a:off x="74864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Android</a:t>
            </a:r>
          </a:p>
        </p:txBody>
      </p:sp>
      <p:sp>
        <p:nvSpPr>
          <p:cNvPr id="126" name="TB"/>
          <p:cNvSpPr/>
          <p:nvPr/>
        </p:nvSpPr>
        <p:spPr>
          <a:xfrm>
            <a:off x="748640" y="2110000"/>
            <a:ext cx="5050000" cy="15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A normal https:// link.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Plus one shared custom scheme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(sgqrpay://) all 3 bank apps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register — no browser can claim it.</a:t>
            </a:r>
          </a:p>
        </p:txBody>
      </p:sp>
      <p:sp>
        <p:nvSpPr>
          <p:cNvPr id="127" name="Box"/>
          <p:cNvSpPr/>
          <p:nvPr/>
        </p:nvSpPr>
        <p:spPr>
          <a:xfrm>
            <a:off x="6193360" y="1650000"/>
            <a:ext cx="5450000" cy="21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8" name="TB"/>
          <p:cNvSpPr/>
          <p:nvPr/>
        </p:nvSpPr>
        <p:spPr>
          <a:xfrm>
            <a:off x="639336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iOS</a:t>
            </a:r>
          </a:p>
        </p:txBody>
      </p:sp>
      <p:sp>
        <p:nvSpPr>
          <p:cNvPr id="129" name="TB"/>
          <p:cNvSpPr/>
          <p:nvPr/>
        </p:nvSpPr>
        <p:spPr>
          <a:xfrm>
            <a:off x="6393360" y="2110000"/>
            <a:ext cx="5050000" cy="15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The same normal https:// link.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Plus each bank's own individual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custom scheme (bankademo://,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bankbdemo://, bankcdemo://).</a:t>
            </a:r>
          </a:p>
        </p:txBody>
      </p:sp>
      <p:sp>
        <p:nvSpPr>
          <p:cNvPr id="130" name="Box"/>
          <p:cNvSpPr/>
          <p:nvPr/>
        </p:nvSpPr>
        <p:spPr>
          <a:xfrm>
            <a:off x="548640" y="3950000"/>
            <a:ext cx="11094720" cy="135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1" name="TB"/>
          <p:cNvSpPr/>
          <p:nvPr/>
        </p:nvSpPr>
        <p:spPr>
          <a:xfrm>
            <a:off x="748640" y="408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What the 5 alternatives actually proved</a:t>
            </a:r>
          </a:p>
        </p:txBody>
      </p:sp>
      <p:sp>
        <p:nvSpPr>
          <p:cNvPr id="132" name="TB"/>
          <p:cNvSpPr/>
          <p:nvPr/>
        </p:nvSpPr>
        <p:spPr>
          <a:xfrm>
            <a:off x="748640" y="4410000"/>
            <a:ext cx="10694720" cy="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1 and Bank 4 show verification/naming CAN remove the chooser — but only by picking one app in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advance, defeating the "any of 3 banks" requirement. Bank 2 and Bank 3 show iOS verification is real but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gated behind external requirements this project can't meet. Bank 5 shows a different problem entirely.</a:t>
            </a:r>
          </a:p>
        </p:txBody>
      </p:sp>
      <p:sp>
        <p:nvSpPr>
          <p:cNvPr id="133" name="Box"/>
          <p:cNvSpPr/>
          <p:nvPr/>
        </p:nvSpPr>
        <p:spPr>
          <a:xfrm>
            <a:off x="548640" y="5500000"/>
            <a:ext cx="11094720" cy="1150000"/>
          </a:xfrm>
          <a:prstGeom prst="roundRect">
            <a:avLst>
              <a:gd name="adj" fmla="val 3000"/>
            </a:avLst>
          </a:prstGeom>
          <a:solidFill>
            <a:srgbClr val="FBEA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B"/>
          <p:cNvSpPr/>
          <p:nvPr/>
        </p:nvSpPr>
        <p:spPr>
          <a:xfrm>
            <a:off x="748640" y="563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1F1F"/>
                </a:solidFill>
                <a:latin typeface="Calibri" pitchFamily="34" charset="0"/>
              </a:rPr>
              <a:t>The conclusion</a:t>
            </a:r>
          </a:p>
        </p:txBody>
      </p:sp>
      <p:sp>
        <p:nvSpPr>
          <p:cNvPr id="135" name="TB"/>
          <p:cNvSpPr/>
          <p:nvPr/>
        </p:nvSpPr>
        <p:spPr>
          <a:xfrm>
            <a:off x="748640" y="5960000"/>
            <a:ext cx="10694720" cy="5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None of the 5 alternatives were ever going to solve "same user flow, both platforms, any of 3 banks" —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each solves a narrower problem instead. Unregistered link is not the leftover option; it is the only one of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these 6 approaches actually shaped around this project's specific requirement.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Six Ways to Resolve a Deep Link</a:t>
            </a:r>
          </a:p>
        </p:txBody>
      </p:sp>
      <p:sp>
        <p:nvSpPr>
          <p:cNvPr id="12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Five alternatives explored first, concluding with the approach this project actually uses</a:t>
            </a:r>
          </a:p>
        </p:txBody>
      </p:sp>
      <p:sp>
        <p:nvSpPr>
          <p:cNvPr id="13" name="H"/>
          <p:cNvSpPr/>
          <p:nvPr/>
        </p:nvSpPr>
        <p:spPr>
          <a:xfrm>
            <a:off x="548640" y="1650000"/>
            <a:ext cx="9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#</a:t>
            </a:r>
          </a:p>
        </p:txBody>
      </p:sp>
      <p:sp>
        <p:nvSpPr>
          <p:cNvPr id="14" name="H"/>
          <p:cNvSpPr/>
          <p:nvPr/>
        </p:nvSpPr>
        <p:spPr>
          <a:xfrm>
            <a:off x="1448640" y="1650000"/>
            <a:ext cx="42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Method</a:t>
            </a:r>
          </a:p>
        </p:txBody>
      </p:sp>
      <p:sp>
        <p:nvSpPr>
          <p:cNvPr id="15" name="H"/>
          <p:cNvSpPr/>
          <p:nvPr/>
        </p:nvSpPr>
        <p:spPr>
          <a:xfrm>
            <a:off x="5648640" y="1650000"/>
            <a:ext cx="2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Used by</a:t>
            </a:r>
          </a:p>
        </p:txBody>
      </p:sp>
      <p:sp>
        <p:nvSpPr>
          <p:cNvPr id="16" name="H"/>
          <p:cNvSpPr/>
          <p:nvPr/>
        </p:nvSpPr>
        <p:spPr>
          <a:xfrm>
            <a:off x="7648640" y="1650000"/>
            <a:ext cx="4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In one line</a:t>
            </a:r>
          </a:p>
        </p:txBody>
      </p:sp>
      <p:sp>
        <p:nvSpPr>
          <p:cNvPr id="17" name="C"/>
          <p:cNvSpPr/>
          <p:nvPr/>
        </p:nvSpPr>
        <p:spPr>
          <a:xfrm>
            <a:off x="548640" y="21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8" name="C"/>
          <p:cNvSpPr/>
          <p:nvPr/>
        </p:nvSpPr>
        <p:spPr>
          <a:xfrm>
            <a:off x="1448640" y="21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Android App Links</a:t>
            </a:r>
          </a:p>
        </p:txBody>
      </p:sp>
      <p:sp>
        <p:nvSpPr>
          <p:cNvPr id="19" name="C"/>
          <p:cNvSpPr/>
          <p:nvPr/>
        </p:nvSpPr>
        <p:spPr>
          <a:xfrm>
            <a:off x="5648640" y="21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1</a:t>
            </a:r>
          </a:p>
        </p:txBody>
      </p:sp>
      <p:sp>
        <p:nvSpPr>
          <p:cNvPr id="20" name="C"/>
          <p:cNvSpPr/>
          <p:nvPr/>
        </p:nvSpPr>
        <p:spPr>
          <a:xfrm>
            <a:off x="7648640" y="21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OS proves domain ownership — chooser disappears</a:t>
            </a:r>
          </a:p>
        </p:txBody>
      </p:sp>
      <p:sp>
        <p:nvSpPr>
          <p:cNvPr id="21" name="C"/>
          <p:cNvSpPr/>
          <p:nvPr/>
        </p:nvSpPr>
        <p:spPr>
          <a:xfrm>
            <a:off x="548640" y="28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2" name="C"/>
          <p:cNvSpPr/>
          <p:nvPr/>
        </p:nvSpPr>
        <p:spPr>
          <a:xfrm>
            <a:off x="1448640" y="28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iOS Universal Links</a:t>
            </a:r>
          </a:p>
        </p:txBody>
      </p:sp>
      <p:sp>
        <p:nvSpPr>
          <p:cNvPr id="23" name="C"/>
          <p:cNvSpPr/>
          <p:nvPr/>
        </p:nvSpPr>
        <p:spPr>
          <a:xfrm>
            <a:off x="5648640" y="28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2</a:t>
            </a:r>
          </a:p>
        </p:txBody>
      </p:sp>
      <p:sp>
        <p:nvSpPr>
          <p:cNvPr id="24" name="C"/>
          <p:cNvSpPr/>
          <p:nvPr/>
        </p:nvSpPr>
        <p:spPr>
          <a:xfrm>
            <a:off x="7648640" y="28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Same idea on iOS — blocked by a paid-account requirement</a:t>
            </a:r>
          </a:p>
        </p:txBody>
      </p:sp>
      <p:sp>
        <p:nvSpPr>
          <p:cNvPr id="25" name="C"/>
          <p:cNvSpPr/>
          <p:nvPr/>
        </p:nvSpPr>
        <p:spPr>
          <a:xfrm>
            <a:off x="548640" y="35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6" name="C"/>
          <p:cNvSpPr/>
          <p:nvPr/>
        </p:nvSpPr>
        <p:spPr>
          <a:xfrm>
            <a:off x="1448640" y="35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iOS Smart App Banner</a:t>
            </a:r>
          </a:p>
        </p:txBody>
      </p:sp>
      <p:sp>
        <p:nvSpPr>
          <p:cNvPr id="27" name="C"/>
          <p:cNvSpPr/>
          <p:nvPr/>
        </p:nvSpPr>
        <p:spPr>
          <a:xfrm>
            <a:off x="5648640" y="35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3</a:t>
            </a:r>
          </a:p>
        </p:txBody>
      </p:sp>
      <p:sp>
        <p:nvSpPr>
          <p:cNvPr id="28" name="C"/>
          <p:cNvSpPr/>
          <p:nvPr/>
        </p:nvSpPr>
        <p:spPr>
          <a:xfrm>
            <a:off x="7648640" y="35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 webpage hint, not a verified link — blocked by App Store listing</a:t>
            </a:r>
          </a:p>
        </p:txBody>
      </p:sp>
      <p:sp>
        <p:nvSpPr>
          <p:cNvPr id="29" name="C"/>
          <p:cNvSpPr/>
          <p:nvPr/>
        </p:nvSpPr>
        <p:spPr>
          <a:xfrm>
            <a:off x="548640" y="42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" name="C"/>
          <p:cNvSpPr/>
          <p:nvPr/>
        </p:nvSpPr>
        <p:spPr>
          <a:xfrm>
            <a:off x="1448640" y="42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Android Explicit-Package Intent</a:t>
            </a:r>
          </a:p>
        </p:txBody>
      </p:sp>
      <p:sp>
        <p:nvSpPr>
          <p:cNvPr id="31" name="C"/>
          <p:cNvSpPr/>
          <p:nvPr/>
        </p:nvSpPr>
        <p:spPr>
          <a:xfrm>
            <a:off x="5648640" y="42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4</a:t>
            </a:r>
          </a:p>
        </p:txBody>
      </p:sp>
      <p:sp>
        <p:nvSpPr>
          <p:cNvPr id="32" name="C"/>
          <p:cNvSpPr/>
          <p:nvPr/>
        </p:nvSpPr>
        <p:spPr>
          <a:xfrm>
            <a:off x="7648640" y="42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sender just states the answer — no verification needed</a:t>
            </a:r>
          </a:p>
        </p:txBody>
      </p:sp>
      <p:sp>
        <p:nvSpPr>
          <p:cNvPr id="33" name="C"/>
          <p:cNvSpPr/>
          <p:nvPr/>
        </p:nvSpPr>
        <p:spPr>
          <a:xfrm>
            <a:off x="548640" y="49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4" name="C"/>
          <p:cNvSpPr/>
          <p:nvPr/>
        </p:nvSpPr>
        <p:spPr>
          <a:xfrm>
            <a:off x="1448640" y="49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Deferred Deep Linking</a:t>
            </a:r>
          </a:p>
        </p:txBody>
      </p:sp>
      <p:sp>
        <p:nvSpPr>
          <p:cNvPr id="35" name="C"/>
          <p:cNvSpPr/>
          <p:nvPr/>
        </p:nvSpPr>
        <p:spPr>
          <a:xfrm>
            <a:off x="5648640" y="49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5</a:t>
            </a:r>
          </a:p>
        </p:txBody>
      </p:sp>
      <p:sp>
        <p:nvSpPr>
          <p:cNvPr id="36" name="C"/>
          <p:cNvSpPr/>
          <p:nvPr/>
        </p:nvSpPr>
        <p:spPr>
          <a:xfrm>
            <a:off x="7648640" y="49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Carries the destination across an app install, via clipboard</a:t>
            </a:r>
          </a:p>
        </p:txBody>
      </p:sp>
      <p:sp>
        <p:nvSpPr>
          <p:cNvPr id="37" name="C"/>
          <p:cNvSpPr/>
          <p:nvPr/>
        </p:nvSpPr>
        <p:spPr>
          <a:xfrm>
            <a:off x="548640" y="5630000"/>
            <a:ext cx="9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6</a:t>
            </a:r>
          </a:p>
        </p:txBody>
      </p:sp>
      <p:sp>
        <p:nvSpPr>
          <p:cNvPr id="38" name="C"/>
          <p:cNvSpPr/>
          <p:nvPr/>
        </p:nvSpPr>
        <p:spPr>
          <a:xfrm>
            <a:off x="1448640" y="5630000"/>
            <a:ext cx="42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Unregistered link (the conclusion)</a:t>
            </a:r>
          </a:p>
        </p:txBody>
      </p:sp>
      <p:sp>
        <p:nvSpPr>
          <p:cNvPr id="39" name="C"/>
          <p:cNvSpPr/>
          <p:nvPr/>
        </p:nvSpPr>
        <p:spPr>
          <a:xfrm>
            <a:off x="5648640" y="5630000"/>
            <a:ext cx="20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Bank A / B / C</a:t>
            </a:r>
          </a:p>
        </p:txBody>
      </p:sp>
      <p:sp>
        <p:nvSpPr>
          <p:cNvPr id="40" name="C"/>
          <p:cNvSpPr/>
          <p:nvPr/>
        </p:nvSpPr>
        <p:spPr>
          <a:xfrm>
            <a:off x="7648640" y="5630000"/>
            <a:ext cx="40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No verification — the chooser/picker IS the point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1: Verified Android App Links</a:t>
            </a:r>
          </a:p>
        </p:txBody>
      </p:sp>
      <p:sp>
        <p:nvSpPr>
          <p:cNvPr id="56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Proving domain ownership at install time removes the chooser entirely</a:t>
            </a:r>
          </a:p>
        </p:txBody>
      </p:sp>
      <p:sp>
        <p:nvSpPr>
          <p:cNvPr id="57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59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AndroidManifest.xml</a:t>
            </a:r>
          </a:p>
        </p:txBody>
      </p:sp>
      <p:sp>
        <p:nvSpPr>
          <p:cNvPr id="61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&lt;intent-filter android:autoVerify="true"&gt;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&lt;action android:name=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"android.intent.action.VIEW"/&gt;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&lt;data android:scheme="https"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android:host="...onrender.com"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android:pathPrefix="/methods/applinks"/&gt;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&lt;/intent-filter&gt;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/.well-known/assetlinks.json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"package_name": "com.sgqrdemo.methodapplinks"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"sha256_cert_fingerprints": ["D7:87:...:1E"]</a:t>
            </a:r>
          </a:p>
        </p:txBody>
      </p:sp>
      <p:sp>
        <p:nvSpPr>
          <p:cNvPr id="62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64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checks this file against the app's real signing certificate at install time.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If it matches, Android treats Bank 1 as the sole proven owner of this path.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link then opens Bank 1 directly — no browser interstitial, no chooser —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even with every other bank app installed on the same device.</a:t>
            </a:r>
          </a:p>
        </p:txBody>
      </p:sp>
      <p:sp>
        <p:nvSpPr>
          <p:cNvPr id="65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2: Verified iOS Universal Links</a:t>
            </a:r>
          </a:p>
        </p:txBody>
      </p:sp>
      <p:sp>
        <p:nvSpPr>
          <p:cNvPr id="67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The iOS equivalent of Bank 1 — intended to work the same way, blocked by an account requirement</a:t>
            </a:r>
          </a:p>
        </p:txBody>
      </p:sp>
      <p:sp>
        <p:nvSpPr>
          <p:cNvPr id="68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70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Runner.entitlements</a:t>
            </a:r>
          </a:p>
        </p:txBody>
      </p:sp>
      <p:sp>
        <p:nvSpPr>
          <p:cNvPr id="72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&lt;key&gt;com.apple.developer.associated-domains&lt;/key&gt;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&lt;string&gt;applinks:...onrender.com&lt;/string&gt;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  apple-app-site-association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"appID": "HBT73QTC22.com.sgqrdemo.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       methodUniversallinks"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"paths": ["/methods/universallinks/*"]</a:t>
            </a:r>
          </a:p>
        </p:txBody>
      </p:sp>
      <p:sp>
        <p:nvSpPr>
          <p:cNvPr id="73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75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iOS is meant to check this file the same way Android checks assetlinks.json,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then hand the link straight to Bank 2 with no Safari, no prompt at all.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Confirmed present in the signed binary via codesign — the configuration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itself is correct and deployed exactly as intended.</a:t>
            </a:r>
          </a:p>
        </p:txBody>
      </p:sp>
      <p:sp>
        <p:nvSpPr>
          <p:cNvPr id="76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Tested on a real iPhone: iOS never completed verification — every link fell through to Safari with a manual banner instead of a silent handoff.</a:t>
            </a:r>
          </a:p>
        </p:txBody>
      </p:sp>
      <p:sp>
        <p:nvSpPr>
          <p:cNvPr id="77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8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79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Full verification requires a paid Apple Developer Program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membership ($99/year). A free Apple ID can sign the app and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include the entitlement, but iOS never finishes verifying it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confirmed by the absence of the "Open Links" Settings entry.</a:t>
            </a:r>
          </a:p>
        </p:txBody>
      </p:sp>
      <p:sp>
        <p:nvSpPr>
          <p:cNvPr id="80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82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Enroll the same Apple ID in the paid Apple Developer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Program, rebuild and reinstall Bank 2 — no code changes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needed, since the entitlement and hosting are already correct.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3: iOS Smart App Banner</a:t>
            </a:r>
          </a:p>
        </p:txBody>
      </p:sp>
      <p:sp>
        <p:nvSpPr>
          <p:cNvPr id="84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A much lighter-weight hint to Safari — no entitlement at all, but it needs a real App Store listing</a:t>
            </a:r>
          </a:p>
        </p:txBody>
      </p:sp>
      <p:sp>
        <p:nvSpPr>
          <p:cNvPr id="85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87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8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pay.html &lt;head&gt;</a:t>
            </a:r>
          </a:p>
        </p:txBody>
      </p:sp>
      <p:sp>
        <p:nvSpPr>
          <p:cNvPr id="89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&lt;meta name="apple-itunes-app"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content="app-id=0000000000,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app-argument=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smartbannerdemo://pay?token=..."&gt;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entitlement, no hosted verification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file at all — just this one tag.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Tapping "OPEN" (if the app is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installed) delivers app-argument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the same way a custom scheme would.</a:t>
            </a:r>
          </a:p>
        </p:txBody>
      </p:sp>
      <p:sp>
        <p:nvSpPr>
          <p:cNvPr id="90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92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tag alone is enough for Safari to show a banner offering to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open or install the app — dramatically simpler than Universal Links.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But Safari validates app-id against Apple's own servers before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showing anything, checking it matches a real App Store listing.</a:t>
            </a:r>
          </a:p>
        </p:txBody>
      </p:sp>
      <p:sp>
        <p:nvSpPr>
          <p:cNvPr id="93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Code and hosting confirmed correct and deployed — the banner itself never renders, because there is nothing to validate against.</a:t>
            </a:r>
          </a:p>
        </p:txBody>
      </p:sp>
      <p:sp>
        <p:nvSpPr>
          <p:cNvPr id="94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5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96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Safari checks the app-id against a real, published App Store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listing before ever rendering the banner — it validates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server-side, not just whether the tag is present on the page.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This demo app is sideloaded and was never published.</a:t>
            </a:r>
          </a:p>
        </p:txBody>
      </p:sp>
      <p:sp>
        <p:nvSpPr>
          <p:cNvPr id="97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8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99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Publish Bank 3 to the App Store with a real app-id, then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the exact same tag already deployed here would start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showing the banner with no further code changes.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4: Android Explicit-Package Intent</a:t>
            </a:r>
          </a:p>
        </p:txBody>
      </p:sp>
      <p:sp>
        <p:nvSpPr>
          <p:cNvPr id="101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No verification of any kind — the sender just states the answer</a:t>
            </a:r>
          </a:p>
        </p:txBody>
      </p:sp>
      <p:sp>
        <p:nvSpPr>
          <p:cNvPr id="102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104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"Open" link on the page</a:t>
            </a:r>
          </a:p>
        </p:txBody>
      </p:sp>
      <p:sp>
        <p:nvSpPr>
          <p:cNvPr id="106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intent://pay?token=abc123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#Intent;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scheme=explicitintentdemo;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package=com.sgqrdemo.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method_explicit_intent;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end</a:t>
            </a:r>
          </a:p>
        </p:txBody>
      </p:sp>
      <p:sp>
        <p:nvSpPr>
          <p:cNvPr id="107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09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package= names this app's exact package directly inside the link itself.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has nothing left to disambiguate — no chooser is possible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when only one app is named, regardless of what else is installed.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Trade-off: only works when whoever generates the link already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knows which app should open it — the opposite of Bank A/B/C's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"any of 3 banks" scenario.</a:t>
            </a:r>
          </a:p>
        </p:txBody>
      </p:sp>
      <p:sp>
        <p:nvSpPr>
          <p:cNvPr id="110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5: Deferred Deep Linking</a:t>
            </a:r>
          </a:p>
        </p:txBody>
      </p:sp>
      <p:sp>
        <p:nvSpPr>
          <p:cNvPr id="112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Carrying a destination across an app install — simulated via the clipboard</a:t>
            </a:r>
          </a:p>
        </p:txBody>
      </p:sp>
      <p:sp>
        <p:nvSpPr>
          <p:cNvPr id="113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F3E5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6A1B9A"/>
                </a:solidFill>
                <a:latin typeface="Calibri" pitchFamily="34" charset="0"/>
              </a:rPr>
              <a:t>Android + iOS</a:t>
            </a:r>
          </a:p>
        </p:txBody>
      </p:sp>
      <p:sp>
        <p:nvSpPr>
          <p:cNvPr id="115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link itself</a:t>
            </a:r>
          </a:p>
        </p:txBody>
      </p:sp>
      <p:sp>
        <p:nvSpPr>
          <p:cNvPr id="117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https://...onrender.com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/methods/deferred/abc123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An entirely ordinary https link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scheme, no verification, nothing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claimed on either platform at all.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App checks on first launch: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RegExp(r'/methods/deferred/([\w-]+)')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.firstMatch(clipboardText)</a:t>
            </a:r>
          </a:p>
        </p:txBody>
      </p:sp>
      <p:sp>
        <p:nvSpPr>
          <p:cNvPr id="118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20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Real deferred linking relies on the App/Play Store carrying a click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identifier through installation — only possible for a published app.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simulates the same result: the webpage copies this same link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to the clipboard before "install," and the app reads it back 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first launch — no store involved, so nothing about the link matters.</a:t>
            </a:r>
          </a:p>
        </p:txBody>
      </p:sp>
      <p:sp>
        <p:nvSpPr>
          <p:cNvPr id="121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both a real Android device and a real iPhone: correct token recovered from the clipboard both times.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2026-07-16T01:33:30Z</dcterms:created>
  <dcterms:modified xsi:type="dcterms:W3CDTF">2026-07-16T01:33:30Z</dcterms:modified>
</cp:coreProperties>
</file>