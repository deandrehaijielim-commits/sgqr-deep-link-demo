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1" r:id="rId2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2" r:id="rId23"/>
    <p:sldId id="273" r:id="rId24"/>
    <p:sldId id="274" r:id="rId25"/>
    <p:sldId id="275" r:id="rId26"/>
    <p:sldId id="276" r:id="rId27"/>
    <p:sldId id="270" r:id="rId21"/>
    <p:sldId id="267" r:id="rId18"/>
    <p:sldId id="269" r:id="rId20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  <Relationship Id="rId18" Type="http://schemas.openxmlformats.org/officeDocument/2006/relationships/slide" Target="slides/slide12.xml"/>
  
  <Relationship Id="rId20" Type="http://schemas.openxmlformats.org/officeDocument/2006/relationships/slide" Target="slides/slide14.xml"/>
  <Relationship Id="rId21" Type="http://schemas.openxmlformats.org/officeDocument/2006/relationships/slide" Target="slides/slide15.xml"/>
  <Relationship Id="rId22" Type="http://schemas.openxmlformats.org/officeDocument/2006/relationships/slide" Target="slides/slide16.xml"/>
  <Relationship Id="rId23" Type="http://schemas.openxmlformats.org/officeDocument/2006/relationships/slide" Target="slides/slide17.xml"/>
  <Relationship Id="rId24" Type="http://schemas.openxmlformats.org/officeDocument/2006/relationships/slide" Target="slides/slide18.xml"/>
  <Relationship Id="rId25" Type="http://schemas.openxmlformats.org/officeDocument/2006/relationships/slide" Target="slides/slide19.xml"/>
  <Relationship Id="rId26" Type="http://schemas.openxmlformats.org/officeDocument/2006/relationships/slide" Target="slides/slide20.xml"/>
  <Relationship Id="rId27" Type="http://schemas.openxmlformats.org/officeDocument/2006/relationships/slide" Target="slides/slide21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14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15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16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17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18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19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20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21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201168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389120"/>
            <a:ext cx="4572000" cy="45720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7724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4980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SGQR-STYLE DEEP LINKING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" y="1463040"/>
            <a:ext cx="9601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QR-to-bank-app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flow works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22960" y="34290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QR code, one link. Android and iOS end up in different places because of how each phone's operating system — not our server — decides what to do with an unverified link.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0916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28803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47091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3832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9377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4709160"/>
            <a:ext cx="320040" cy="32004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4406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69951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4709160"/>
            <a:ext cx="320040" cy="32004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74980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Bank Apps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pieces, one shared URL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hinges on one link: https://.../pay/:token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1295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4231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2296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server, hosted on Render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2296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 payment record and gives it a token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the QR code image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 payment as paid — once, only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8912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065A8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4231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6344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Picker Page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466344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web page, served by the backend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466344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the merchant name and amount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a 4-per-row grid of bank tiles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page Safari actually reaches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22960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50392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1C7293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242316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50392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Bank Apps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850392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apps for Android + iOS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850392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separate apps, not 1 app with settings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has its own name and app ID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listens for its own kind of link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link, two different endings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https://sgqr-deep-link-demo.onrender.com/pay/:token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37276" y="182880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8444" y="2029968"/>
            <a:ext cx="512064" cy="5120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3017520"/>
            <a:ext cx="4937760" cy="2651760"/>
          </a:xfrm>
          <a:prstGeom prst="roundRect">
            <a:avLst>
              <a:gd name="adj" fmla="val 2759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914400" y="32918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34290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1600200" y="3611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the link is deliberately left unverified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914400" y="406908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claims cryptographic ownership, so Android can't skip asking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opens in the default browser first, like any normal web page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shows one button: "Continue to pay" (next slide)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611112" y="3017520"/>
            <a:ext cx="4937760" cy="2651760"/>
          </a:xfrm>
          <a:prstGeom prst="roundRect">
            <a:avLst>
              <a:gd name="adj" fmla="val 2759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6885432" y="3291840"/>
            <a:ext cx="548640" cy="548640"/>
          </a:xfrm>
          <a:prstGeom prst="ellipse">
            <a:avLst/>
          </a:prstGeom>
          <a:solidFill>
            <a:srgbClr val="5EEAD4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2" y="342900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571232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</a:t>
            </a:r>
            <a:endParaRPr lang="en-US" sz="1900" dirty="0"/>
          </a:p>
        </p:txBody>
      </p:sp>
      <p:sp>
        <p:nvSpPr>
          <p:cNvPr id="16" name="Text 11"/>
          <p:cNvSpPr/>
          <p:nvPr/>
        </p:nvSpPr>
        <p:spPr>
          <a:xfrm>
            <a:off x="7571232" y="3611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no Universal Link record is hosted for this domain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6885432" y="406908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requires a hosted association file to open an app directly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don't host one, so iOS treats it as an ordinary link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 opens normally and shows the picker page: a grid of bank tiles, 4 per row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Android: from browser tab to app chooser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native "Open with…" dialog to appear takes 3 extra steps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1348" y="20299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Page opens normally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(or whichever browser is default) opens the payment page, same as any website.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3136392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918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2291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548" y="202996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4747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tap "Continue"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5204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tap, not an automatic redirect — browsers block silent app-switching for security.</a:t>
            </a:r>
            <a:endParaRPr lang="en-US" sz="11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3136392"/>
            <a:ext cx="219456" cy="21945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0350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9723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7748" y="2029968"/>
            <a:ext cx="329184" cy="3291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722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2179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tap opens a special link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2636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 starting with intent:// instead of https:// — only apps can open this, not browsers.</a:t>
            </a:r>
            <a:endParaRPr lang="en-US" sz="11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7928" y="3136392"/>
            <a:ext cx="219456" cy="21945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87782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9715500" y="18745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0948" y="2029968"/>
            <a:ext cx="329184" cy="32918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89154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89611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 shows the chooser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90068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bank apps can all open that link, so Android asks: which one?</a:t>
            </a:r>
            <a:endParaRPr lang="en-US" sz="1150" dirty="0"/>
          </a:p>
        </p:txBody>
      </p:sp>
      <p:sp>
        <p:nvSpPr>
          <p:cNvPr id="31" name="Shape 22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F96167">
              <a:alpha val="85000"/>
            </a:srgbClr>
          </a:solidFill>
          <a:ln/>
        </p:spPr>
      </p:sp>
      <p:sp>
        <p:nvSpPr>
          <p:cNvPr id="32" name="Text 23"/>
          <p:cNvSpPr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intent:// and not https:// again? Chrome won't hand a link back to a browser (even itself) through this mechanism — it has to be a link only apps can claim.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just verify the Android App Link?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tested it directly on a device. Here's what actually happens.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android:autoVerify="true" to each app's intent-filter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/.well-known/assetlinks.json listing all 3 apps' real package names and signing certificate SHA-256 fingerprints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checks this file at install time — if it matches, the app is a verified owner of the link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skip the browser and the "Continue" tap entirely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60020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F96167">
              <a:alpha val="8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found on-device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92240" y="237744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apps verified successfully (adb confirmed "verified" for each)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no chooser ever appeared — the link opened one app directly, instantly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Reinstalling a different bank last changed which app opened — Android was picking the most-recently-installed verified app, silently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App Links and the disambiguation dialog are mutually exclusive by design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iOS: Safari hands off to the app you pick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flow: no Universal Link is registered for this domain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1348" y="22585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Safari opens the picker page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is registered for this link, so iOS treats it as an ordinary web address.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3364992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918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2291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548" y="225856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4747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page loads payment details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5204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fetches the merchant name and amount, and shows a grid of bank tiles, 4 per row.</a:t>
            </a:r>
            <a:endParaRPr lang="en-US" sz="11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3364992"/>
            <a:ext cx="219456" cy="21945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0350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9723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7748" y="2258568"/>
            <a:ext cx="329184" cy="3291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722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2179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tap a bank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2636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button opens a link like bankademo://pay — each bank app has its own.</a:t>
            </a:r>
            <a:endParaRPr lang="en-US" sz="11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7928" y="3364992"/>
            <a:ext cx="219456" cy="21945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87782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9715500" y="21031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0948" y="2258568"/>
            <a:ext cx="329184" cy="32918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8915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89611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bank app opens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90068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recognizes the link belongs to that app and switches straight to it.</a:t>
            </a:r>
            <a:endParaRPr lang="en-US" sz="1150" dirty="0"/>
          </a:p>
        </p:txBody>
      </p:sp>
      <p:sp>
        <p:nvSpPr>
          <p:cNvPr id="31" name="Shape 22"/>
          <p:cNvSpPr/>
          <p:nvPr/>
        </p:nvSpPr>
        <p:spPr>
          <a:xfrm>
            <a:off x="548640" y="54406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1C7293">
              <a:alpha val="85000"/>
            </a:srgbClr>
          </a:solidFill>
          <a:ln/>
        </p:spPr>
      </p:sp>
      <p:sp>
        <p:nvSpPr>
          <p:cNvPr id="32" name="Text 23"/>
          <p:cNvSpPr/>
          <p:nvPr/>
        </p:nvSpPr>
        <p:spPr>
          <a:xfrm>
            <a:off x="822960" y="54406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skip this page? A hosted apple-app-site-association file plus each app's Associated Domains entitlement — Apple's equivalent of Android's assetlinks.json. We don't host one on purpose, so Safari always gets a chance to show the picker.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each app: catching the incoming link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has to notice the link in two different situations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7863840" cy="1051560"/>
          </a:xfrm>
          <a:prstGeom prst="roundRect">
            <a:avLst>
              <a:gd name="adj" fmla="val 6957"/>
            </a:avLst>
          </a:prstGeom>
          <a:solidFill>
            <a:srgbClr val="065A82">
              <a:alpha val="7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166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88820"/>
            <a:ext cx="274320" cy="274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12280" y="1764792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8" name="Text 5"/>
          <p:cNvSpPr/>
          <p:nvPr/>
        </p:nvSpPr>
        <p:spPr>
          <a:xfrm>
            <a:off x="6812280" y="17647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START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508760" y="17099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Checked once, on startup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508760" y="2075688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wasn't running — the link is what launched it. Checked a single time when the app starts.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880360"/>
            <a:ext cx="7863840" cy="1051560"/>
          </a:xfrm>
          <a:prstGeom prst="roundRect">
            <a:avLst>
              <a:gd name="adj" fmla="val 6957"/>
            </a:avLst>
          </a:prstGeom>
          <a:solidFill>
            <a:srgbClr val="065A82">
              <a:alpha val="75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313182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68980"/>
            <a:ext cx="274320" cy="27432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812280" y="3044952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15" name="Text 11"/>
          <p:cNvSpPr/>
          <p:nvPr/>
        </p:nvSpPr>
        <p:spPr>
          <a:xfrm>
            <a:off x="6812280" y="30449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OPEN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508760" y="29900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Listened for, the whole time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1508760" y="3355848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was already open or in the background. A live subscription catches the link as it arrives.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8640" y="4114800"/>
            <a:ext cx="7863840" cy="1417320"/>
          </a:xfrm>
          <a:prstGeom prst="roundRect">
            <a:avLst>
              <a:gd name="adj" fmla="val 5161"/>
            </a:avLst>
          </a:prstGeom>
          <a:solidFill>
            <a:srgbClr val="F96167">
              <a:alpha val="85000"/>
            </a:srgbClr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48056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54480" y="434340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bugs found here, both fixed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554480" y="4736592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On startup, both checks can report the same link, opening the payment screen twice. ② A permanent “ignore repeats” guard then blocked re-opening that link later (e.g. after cancelling). Fixed: only ignore a repeat within 2 seconds of the last one.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8686800" y="1600200"/>
            <a:ext cx="2953512" cy="3931920"/>
          </a:xfrm>
          <a:prstGeom prst="roundRect">
            <a:avLst>
              <a:gd name="adj" fmla="val 2477"/>
            </a:avLst>
          </a:prstGeom>
          <a:solidFill>
            <a:srgbClr val="1C7293">
              <a:alpha val="85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915400" y="178308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token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8915400" y="2194560"/>
            <a:ext cx="24963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bank's own link: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bankademo://pay?token=xyz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token is right there in the link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shared web link: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https://host/pay/xyz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token is the last part of the address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one bank app can complete the payment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marks a payment "paid" the moment one bank confirms it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309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029968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755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A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1783080" y="214884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9" name="Text 6"/>
          <p:cNvSpPr/>
          <p:nvPr/>
        </p:nvSpPr>
        <p:spPr>
          <a:xfrm>
            <a:off x="1783080" y="21488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383280" y="178308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Taps Approve first. The server marks the payment as paid and confirms.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6309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347472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F96167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3675888"/>
            <a:ext cx="420624" cy="4206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783080" y="3401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B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1783080" y="379476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/>
        </p:spPr>
      </p:sp>
      <p:sp>
        <p:nvSpPr>
          <p:cNvPr id="16" name="Text 12"/>
          <p:cNvSpPr/>
          <p:nvPr/>
        </p:nvSpPr>
        <p:spPr>
          <a:xfrm>
            <a:off x="1783080" y="37947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LATE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383280" y="34290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Taps Approve a moment later. The server says it's already paid, so it's rejected.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178040" y="1554480"/>
            <a:ext cx="4462272" cy="2834640"/>
          </a:xfrm>
          <a:prstGeom prst="roundRect">
            <a:avLst>
              <a:gd name="adj" fmla="val 2581"/>
            </a:avLst>
          </a:prstGeom>
          <a:solidFill>
            <a:srgbClr val="21295C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82880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092440" y="1828800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for Bank A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7452360" y="2468880"/>
            <a:ext cx="391363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paid amount is taken off its balance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home screen balance updates instantly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shows the success screen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open picker webpage flips to “completed” within ~2s (polling)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48640" y="4892040"/>
            <a:ext cx="11091672" cy="1417320"/>
          </a:xfrm>
          <a:prstGeom prst="roundRect">
            <a:avLst>
              <a:gd name="adj" fmla="val 5161"/>
            </a:avLst>
          </a:prstGeom>
          <a:solidFill>
            <a:srgbClr val="1C7293">
              <a:alpha val="85000"/>
            </a:srgbClr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276088"/>
            <a:ext cx="502920" cy="5029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63040" y="509320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app never assumes — it always asks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1463040" y="5458968"/>
            <a:ext cx="10085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showing the payment, every bank app asks the server for the merchant name and amount again. The link itself only ever carries one thing — a token, not the actual payment details.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3 separate apps, not 1 app with settings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chooser needs 3 apps installed at once — one app can't appear 3 times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82296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214884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3432" y="213055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A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09728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com.sgqrdemo.bankaapp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bankademo://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2628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1D3557"/>
          </a:solidFill>
          <a:ln/>
        </p:spPr>
      </p:sp>
      <p:sp>
        <p:nvSpPr>
          <p:cNvPr id="10" name="Shape 7"/>
          <p:cNvSpPr/>
          <p:nvPr/>
        </p:nvSpPr>
        <p:spPr>
          <a:xfrm>
            <a:off x="585216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213055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2628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B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480060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com.sgqrdemo.bankbapp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bankbdemo://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22960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2A9D8F"/>
          </a:solidFill>
          <a:ln/>
        </p:spPr>
      </p:sp>
      <p:sp>
        <p:nvSpPr>
          <p:cNvPr id="15" name="Shape 11"/>
          <p:cNvSpPr/>
          <p:nvPr/>
        </p:nvSpPr>
        <p:spPr>
          <a:xfrm>
            <a:off x="955548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0072" y="213055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2960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C</a:t>
            </a:r>
            <a:endParaRPr lang="en-US" sz="2200" dirty="0"/>
          </a:p>
        </p:txBody>
      </p:sp>
      <p:sp>
        <p:nvSpPr>
          <p:cNvPr id="18" name="Text 13"/>
          <p:cNvSpPr/>
          <p:nvPr/>
        </p:nvSpPr>
        <p:spPr>
          <a:xfrm>
            <a:off x="850392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com.sgqrdemo.bankcapp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bankcdemo://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22960" y="4754880"/>
            <a:ext cx="10543032" cy="1234440"/>
          </a:xfrm>
          <a:prstGeom prst="roundRect">
            <a:avLst>
              <a:gd name="adj" fmla="val 5926"/>
            </a:avLst>
          </a:prstGeom>
          <a:solidFill>
            <a:srgbClr val="065A82">
              <a:alpha val="75000"/>
            </a:srgbClr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5074920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737360" y="49194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Copied, not shared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1737360" y="5266944"/>
            <a:ext cx="926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 apps' code started as one copy, duplicated 3 times — it isn't shared behind the scenes. Fixing a bug in one app means copying that fix into the other two by hand.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real, what's simulated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3736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892808"/>
            <a:ext cx="283464" cy="2834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828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68680" y="26060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network request (create, fetch, and pay)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QR code and the actual link resolution on each phone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Android's chooser and iOS's Safari fallback, both genuinely triggered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the link whether the app is closed, open, or in the background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payment can only be completed once, even with 2 taps at once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protection against the page being embedded on another site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37960" y="1737360"/>
            <a:ext cx="594360" cy="59436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892808"/>
            <a:ext cx="283464" cy="2834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69480" y="1828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Simulated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6583680" y="26060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balance — just a number in the app, resets on relaunch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payment — no real money moves, no real bank is involved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bank "paid" is just a label the server stores, not a settlement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single-bank app would verify its Android App Link and register its iOS Universal Link — we tested that, and it's what removes the chooser, so we skip it on purpose here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103120"/>
            <a:ext cx="9875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link. Two different endings.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independent bank apps.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22960" y="36576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split comes from what each phone's OS does by default with an unregistered link. We even tested making Android's link official — it removed the tap, but it removed the choice too, so we kept things unregistered on purpose.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330000"/>
            <a:ext cx="1109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Methods Were Correct but Blocked</a:t>
            </a:r>
          </a:p>
        </p:txBody>
      </p:sp>
      <p:sp>
        <p:nvSpPr>
          <p:cNvPr id="3" name="Subtitle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4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and hosting checked out — a real external requirement stopped them short</a:t>
            </a:r>
          </a:p>
        </p:txBody>
      </p:sp>
      <p:sp>
        <p:nvSpPr>
          <p:cNvPr id="31" name="ColHeader"/>
          <p:cNvSpPr/>
          <p:nvPr/>
        </p:nvSpPr>
        <p:spPr>
          <a:xfrm>
            <a:off x="548640" y="1600000"/>
            <a:ext cx="5347240" cy="5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D6E8"/>
                </a:solidFill>
                <a:latin typeface="Cambria" pitchFamily="34" charset="0"/>
              </a:rPr>
              <a:t>Bank 2 — Verified iOS Universal Links</a:t>
            </a:r>
          </a:p>
        </p:txBody>
      </p:sp>
      <p:sp>
        <p:nvSpPr>
          <p:cNvPr id="32" name="ColHeader"/>
          <p:cNvSpPr/>
          <p:nvPr/>
        </p:nvSpPr>
        <p:spPr>
          <a:xfrm>
            <a:off x="6295880" y="1600000"/>
            <a:ext cx="5347240" cy="5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D6E8"/>
                </a:solidFill>
                <a:latin typeface="Cambria" pitchFamily="34" charset="0"/>
              </a:rPr>
              <a:t>Bank 3 — iOS Smart App Banner</a:t>
            </a:r>
          </a:p>
        </p:txBody>
      </p:sp>
      <p:sp>
        <p:nvSpPr>
          <p:cNvPr id="33" name="Panel"/>
          <p:cNvSpPr/>
          <p:nvPr/>
        </p:nvSpPr>
        <p:spPr>
          <a:xfrm>
            <a:off x="548640" y="2200000"/>
            <a:ext cx="5347240" cy="4200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PanelTitle"/>
          <p:cNvSpPr/>
          <p:nvPr/>
        </p:nvSpPr>
        <p:spPr>
          <a:xfrm>
            <a:off x="768640" y="2380000"/>
            <a:ext cx="4907240" cy="4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8AB2"/>
                </a:solidFill>
                <a:latin typeface="Calibri" pitchFamily="34" charset="0"/>
              </a:rPr>
              <a:t>What we built</a:t>
            </a:r>
          </a:p>
        </p:txBody>
      </p:sp>
      <p:sp>
        <p:nvSpPr>
          <p:cNvPr id="35" name="PanelBody"/>
          <p:cNvSpPr/>
          <p:nvPr/>
        </p:nvSpPr>
        <p:spPr>
          <a:xfrm>
            <a:off x="768640" y="2850000"/>
            <a:ext cx="4907240" cy="3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Entitlement: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Associated Domains, confirmed present in the signed binary via codesign.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Hosting: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apple-app-site-association served correctly at /.well-known/.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Blocker: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Full verification requires a paid Apple Developer Program membership.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Observed: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iOS never created the per-app "Open Links" Settings entry — every test fell through to Safari with a manual banner, never a silent handoff.</a:t>
            </a:r>
          </a:p>
        </p:txBody>
      </p:sp>
      <p:sp>
        <p:nvSpPr>
          <p:cNvPr id="36" name="Panel"/>
          <p:cNvSpPr/>
          <p:nvPr/>
        </p:nvSpPr>
        <p:spPr>
          <a:xfrm>
            <a:off x="6295880" y="2200000"/>
            <a:ext cx="5347240" cy="4200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" name="PanelTitle"/>
          <p:cNvSpPr/>
          <p:nvPr/>
        </p:nvSpPr>
        <p:spPr>
          <a:xfrm>
            <a:off x="6515880" y="2380000"/>
            <a:ext cx="4907240" cy="4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5651D"/>
                </a:solidFill>
                <a:latin typeface="Calibri" pitchFamily="34" charset="0"/>
              </a:rPr>
              <a:t>What we built</a:t>
            </a:r>
          </a:p>
        </p:txBody>
      </p:sp>
      <p:sp>
        <p:nvSpPr>
          <p:cNvPr id="38" name="PanelBody"/>
          <p:cNvSpPr/>
          <p:nvPr/>
        </p:nvSpPr>
        <p:spPr>
          <a:xfrm>
            <a:off x="6515880" y="2850000"/>
            <a:ext cx="4907240" cy="3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Tag: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A correct &lt;meta name="apple-itunes-app"&gt; with app-id and app-argument.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Hosting: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Deployed and reachable — page loads fine in Safari.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Blocker: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The app-id must match a real, published App Store listing.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Observed: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Apple validates the app-id server-side, not just tag presence — a sideloaded, unpublished app can never trigger the banner, no matter how correct the tag is.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330000"/>
            <a:ext cx="1109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Cross-Platform Verification: Confirmed Live</a:t>
            </a:r>
          </a:p>
        </p:txBody>
      </p:sp>
      <p:sp>
        <p:nvSpPr>
          <p:cNvPr id="3" name="Subtitle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 was also installed on the "wrong" platform to confirm the negative case</a:t>
            </a:r>
          </a:p>
        </p:txBody>
      </p:sp>
      <p:sp>
        <p:nvSpPr>
          <p:cNvPr id="11" name="THead"/>
          <p:cNvSpPr/>
          <p:nvPr/>
        </p:nvSpPr>
        <p:spPr>
          <a:xfrm>
            <a:off x="548640" y="1650000"/>
            <a:ext cx="2600000" cy="48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App</a:t>
            </a:r>
          </a:p>
        </p:txBody>
      </p:sp>
      <p:sp>
        <p:nvSpPr>
          <p:cNvPr id="12" name="THead"/>
          <p:cNvSpPr/>
          <p:nvPr/>
        </p:nvSpPr>
        <p:spPr>
          <a:xfrm>
            <a:off x="3148640" y="1650000"/>
            <a:ext cx="4700000" cy="48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On Android</a:t>
            </a:r>
          </a:p>
        </p:txBody>
      </p:sp>
      <p:sp>
        <p:nvSpPr>
          <p:cNvPr id="13" name="THead"/>
          <p:cNvSpPr/>
          <p:nvPr/>
        </p:nvSpPr>
        <p:spPr>
          <a:xfrm>
            <a:off x="7848640" y="1650000"/>
            <a:ext cx="4700000" cy="48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On iOS</a:t>
            </a:r>
          </a:p>
        </p:txBody>
      </p:sp>
      <p:sp>
        <p:nvSpPr>
          <p:cNvPr id="14" name="TCell"/>
          <p:cNvSpPr/>
          <p:nvPr/>
        </p:nvSpPr>
        <p:spPr>
          <a:xfrm>
            <a:off x="548640" y="2130000"/>
            <a:ext cx="26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3"/>
                </a:solidFill>
                <a:latin typeface="Calibri" pitchFamily="34" charset="0"/>
              </a:rPr>
              <a:t>Unregistered link (Bank A/B/C)</a:t>
            </a:r>
          </a:p>
        </p:txBody>
      </p:sp>
      <p:sp>
        <p:nvSpPr>
          <p:cNvPr id="15" name="TCell"/>
          <p:cNvSpPr/>
          <p:nvPr/>
        </p:nvSpPr>
        <p:spPr>
          <a:xfrm>
            <a:off x="3148640" y="2130000"/>
            <a:ext cx="4700000" cy="700000"/>
          </a:xfrm>
          <a:prstGeom prst="rect">
            <a:avLst/>
          </a:prstGeom>
          <a:solidFill>
            <a:srgbClr val="E8F5F0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Native chooser — the real, working point of this project.</a:t>
            </a:r>
          </a:p>
        </p:txBody>
      </p:sp>
      <p:sp>
        <p:nvSpPr>
          <p:cNvPr id="16" name="TCell"/>
          <p:cNvSpPr/>
          <p:nvPr/>
        </p:nvSpPr>
        <p:spPr>
          <a:xfrm>
            <a:off x="7848640" y="2130000"/>
            <a:ext cx="4700000" cy="700000"/>
          </a:xfrm>
          <a:prstGeom prst="rect">
            <a:avLst/>
          </a:prstGeom>
          <a:solidFill>
            <a:srgbClr val="E8F5F0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Web picker grid — the real, working point of this project.</a:t>
            </a:r>
          </a:p>
        </p:txBody>
      </p:sp>
      <p:sp>
        <p:nvSpPr>
          <p:cNvPr id="17" name="TCell"/>
          <p:cNvSpPr/>
          <p:nvPr/>
        </p:nvSpPr>
        <p:spPr>
          <a:xfrm>
            <a:off x="548640" y="2830000"/>
            <a:ext cx="26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3"/>
                </a:solidFill>
                <a:latin typeface="Calibri" pitchFamily="34" charset="0"/>
              </a:rPr>
              <a:t>Bank 1 — App Links</a:t>
            </a:r>
          </a:p>
        </p:txBody>
      </p:sp>
      <p:sp>
        <p:nvSpPr>
          <p:cNvPr id="18" name="TCell"/>
          <p:cNvSpPr/>
          <p:nvPr/>
        </p:nvSpPr>
        <p:spPr>
          <a:xfrm>
            <a:off x="3148640" y="2830000"/>
            <a:ext cx="4700000" cy="700000"/>
          </a:xfrm>
          <a:prstGeom prst="rect">
            <a:avLst/>
          </a:prstGeom>
          <a:solidFill>
            <a:srgbClr val="8CFFC1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Opens directly, zero prompt</a:t>
            </a:r>
          </a:p>
        </p:txBody>
      </p:sp>
      <p:sp>
        <p:nvSpPr>
          <p:cNvPr id="19" name="TCell"/>
          <p:cNvSpPr/>
          <p:nvPr/>
        </p:nvSpPr>
        <p:spPr>
          <a:xfrm>
            <a:off x="7848640" y="2830000"/>
            <a:ext cx="4700000" cy="700000"/>
          </a:xfrm>
          <a:prstGeom prst="rect">
            <a:avLst/>
          </a:prstGeom>
          <a:solidFill>
            <a:srgbClr val="FBEAE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Just a webpage — the app is never involved</a:t>
            </a:r>
          </a:p>
        </p:txBody>
      </p:sp>
      <p:sp>
        <p:nvSpPr>
          <p:cNvPr id="20" name="TCell"/>
          <p:cNvSpPr/>
          <p:nvPr/>
        </p:nvSpPr>
        <p:spPr>
          <a:xfrm>
            <a:off x="548640" y="3530000"/>
            <a:ext cx="26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3"/>
                </a:solidFill>
                <a:latin typeface="Calibri" pitchFamily="34" charset="0"/>
              </a:rPr>
              <a:t>Bank 2 — Universal Links</a:t>
            </a:r>
          </a:p>
        </p:txBody>
      </p:sp>
      <p:sp>
        <p:nvSpPr>
          <p:cNvPr id="21" name="TCell"/>
          <p:cNvSpPr/>
          <p:nvPr/>
        </p:nvSpPr>
        <p:spPr>
          <a:xfrm>
            <a:off x="3148640" y="3530000"/>
            <a:ext cx="4700000" cy="700000"/>
          </a:xfrm>
          <a:prstGeom prst="rect">
            <a:avLst/>
          </a:prstGeom>
          <a:solidFill>
            <a:srgbClr val="FBEAE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Just opens Chrome — the app is never involved</a:t>
            </a:r>
          </a:p>
        </p:txBody>
      </p:sp>
      <p:sp>
        <p:nvSpPr>
          <p:cNvPr id="22" name="TCell"/>
          <p:cNvSpPr/>
          <p:nvPr/>
        </p:nvSpPr>
        <p:spPr>
          <a:xfrm>
            <a:off x="7848640" y="3530000"/>
            <a:ext cx="4700000" cy="700000"/>
          </a:xfrm>
          <a:prstGeom prst="rect">
            <a:avLst/>
          </a:prstGeom>
          <a:solidFill>
            <a:srgbClr val="FFE9B3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Safari + manual banner (free-account limit)</a:t>
            </a:r>
          </a:p>
        </p:txBody>
      </p:sp>
      <p:sp>
        <p:nvSpPr>
          <p:cNvPr id="23" name="TCell"/>
          <p:cNvSpPr/>
          <p:nvPr/>
        </p:nvSpPr>
        <p:spPr>
          <a:xfrm>
            <a:off x="548640" y="4230000"/>
            <a:ext cx="26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3"/>
                </a:solidFill>
                <a:latin typeface="Calibri" pitchFamily="34" charset="0"/>
              </a:rPr>
              <a:t>Bank 3 — Smart Banner</a:t>
            </a:r>
          </a:p>
        </p:txBody>
      </p:sp>
      <p:sp>
        <p:nvSpPr>
          <p:cNvPr id="24" name="TCell"/>
          <p:cNvSpPr/>
          <p:nvPr/>
        </p:nvSpPr>
        <p:spPr>
          <a:xfrm>
            <a:off x="3148640" y="4230000"/>
            <a:ext cx="4700000" cy="700000"/>
          </a:xfrm>
          <a:prstGeom prst="rect">
            <a:avLst/>
          </a:prstGeom>
          <a:solidFill>
            <a:srgbClr val="FBEAE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Just opens Chrome — the app is never involved</a:t>
            </a:r>
          </a:p>
        </p:txBody>
      </p:sp>
      <p:sp>
        <p:nvSpPr>
          <p:cNvPr id="25" name="TCell"/>
          <p:cNvSpPr/>
          <p:nvPr/>
        </p:nvSpPr>
        <p:spPr>
          <a:xfrm>
            <a:off x="7848640" y="4230000"/>
            <a:ext cx="4700000" cy="700000"/>
          </a:xfrm>
          <a:prstGeom prst="rect">
            <a:avLst/>
          </a:prstGeom>
          <a:solidFill>
            <a:srgbClr val="FFE9B3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Banner can't render (needs App Store listing)</a:t>
            </a:r>
          </a:p>
        </p:txBody>
      </p:sp>
      <p:sp>
        <p:nvSpPr>
          <p:cNvPr id="26" name="TCell"/>
          <p:cNvSpPr/>
          <p:nvPr/>
        </p:nvSpPr>
        <p:spPr>
          <a:xfrm>
            <a:off x="548640" y="4930000"/>
            <a:ext cx="26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3"/>
                </a:solidFill>
                <a:latin typeface="Calibri" pitchFamily="34" charset="0"/>
              </a:rPr>
              <a:t>Bank 4 — Explicit Intent</a:t>
            </a:r>
          </a:p>
        </p:txBody>
      </p:sp>
      <p:sp>
        <p:nvSpPr>
          <p:cNvPr id="27" name="TCell"/>
          <p:cNvSpPr/>
          <p:nvPr/>
        </p:nvSpPr>
        <p:spPr>
          <a:xfrm>
            <a:off x="3148640" y="4930000"/>
            <a:ext cx="4700000" cy="700000"/>
          </a:xfrm>
          <a:prstGeom prst="rect">
            <a:avLst/>
          </a:prstGeom>
          <a:solidFill>
            <a:srgbClr val="8CFFC1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Opens directly, zero prompt</a:t>
            </a:r>
          </a:p>
        </p:txBody>
      </p:sp>
      <p:sp>
        <p:nvSpPr>
          <p:cNvPr id="28" name="TCell"/>
          <p:cNvSpPr/>
          <p:nvPr/>
        </p:nvSpPr>
        <p:spPr>
          <a:xfrm>
            <a:off x="7848640" y="4930000"/>
            <a:ext cx="4700000" cy="700000"/>
          </a:xfrm>
          <a:prstGeom prst="rect">
            <a:avLst/>
          </a:prstGeom>
          <a:solidFill>
            <a:srgbClr val="FBEAE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Just a webpage — the app is never involved</a:t>
            </a:r>
          </a:p>
        </p:txBody>
      </p:sp>
      <p:sp>
        <p:nvSpPr>
          <p:cNvPr id="29" name="TCell"/>
          <p:cNvSpPr/>
          <p:nvPr/>
        </p:nvSpPr>
        <p:spPr>
          <a:xfrm>
            <a:off x="548640" y="5630000"/>
            <a:ext cx="26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3"/>
                </a:solidFill>
                <a:latin typeface="Calibri" pitchFamily="34" charset="0"/>
              </a:rPr>
              <a:t>Bank 5 — Deferred Linking</a:t>
            </a:r>
          </a:p>
        </p:txBody>
      </p:sp>
      <p:sp>
        <p:nvSpPr>
          <p:cNvPr id="30" name="TCell"/>
          <p:cNvSpPr/>
          <p:nvPr/>
        </p:nvSpPr>
        <p:spPr>
          <a:xfrm>
            <a:off x="3148640" y="5630000"/>
            <a:ext cx="4700000" cy="700000"/>
          </a:xfrm>
          <a:prstGeom prst="rect">
            <a:avLst/>
          </a:prstGeom>
          <a:solidFill>
            <a:srgbClr val="8CFFC1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Correct token recovered</a:t>
            </a:r>
          </a:p>
        </p:txBody>
      </p:sp>
      <p:sp>
        <p:nvSpPr>
          <p:cNvPr id="31" name="TCell"/>
          <p:cNvSpPr/>
          <p:nvPr/>
        </p:nvSpPr>
        <p:spPr>
          <a:xfrm>
            <a:off x="7848640" y="5630000"/>
            <a:ext cx="4700000" cy="700000"/>
          </a:xfrm>
          <a:prstGeom prst="rect">
            <a:avLst/>
          </a:prstGeom>
          <a:solidFill>
            <a:srgbClr val="8CFFC1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Correct token recovered — identical to Android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hyUnregisteredConclus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B"/>
          <p:cNvSpPr/>
          <p:nvPr/>
        </p:nvSpPr>
        <p:spPr>
          <a:xfrm>
            <a:off x="548640" y="330000"/>
            <a:ext cx="1109472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</a:rPr>
              <a:t>Why Unregistered Link Still Wins</a:t>
            </a:r>
          </a:p>
        </p:txBody>
      </p:sp>
      <p:sp>
        <p:nvSpPr>
          <p:cNvPr id="123" name="TB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</a:rPr>
              <a:t>Having built and tested all 5 alternatives, this is the conclusion they point to</a:t>
            </a:r>
          </a:p>
        </p:txBody>
      </p:sp>
      <p:sp>
        <p:nvSpPr>
          <p:cNvPr id="124" name="Box"/>
          <p:cNvSpPr/>
          <p:nvPr/>
        </p:nvSpPr>
        <p:spPr>
          <a:xfrm>
            <a:off x="548640" y="1650000"/>
            <a:ext cx="5450000" cy="2100000"/>
          </a:xfrm>
          <a:prstGeom prst="roundRect">
            <a:avLst>
              <a:gd name="adj" fmla="val 3000"/>
            </a:avLst>
          </a:prstGeom>
          <a:solidFill>
            <a:srgbClr val="E8F5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5" name="TB"/>
          <p:cNvSpPr/>
          <p:nvPr/>
        </p:nvSpPr>
        <p:spPr>
          <a:xfrm>
            <a:off x="748640" y="1780000"/>
            <a:ext cx="505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5D3B"/>
                </a:solidFill>
                <a:latin typeface="Calibri" pitchFamily="34" charset="0"/>
              </a:rPr>
              <a:t>Android</a:t>
            </a:r>
          </a:p>
        </p:txBody>
      </p:sp>
      <p:sp>
        <p:nvSpPr>
          <p:cNvPr id="126" name="TB"/>
          <p:cNvSpPr/>
          <p:nvPr/>
        </p:nvSpPr>
        <p:spPr>
          <a:xfrm>
            <a:off x="748640" y="2110000"/>
            <a:ext cx="5050000" cy="15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A normal https:// link.</a:t>
            </a:r>
          </a:p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Plus one shared custom scheme</a:t>
            </a:r>
          </a:p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(sgqrpay://) all 3 bank apps</a:t>
            </a:r>
          </a:p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register — no browser can claim it.</a:t>
            </a:r>
          </a:p>
        </p:txBody>
      </p:sp>
      <p:sp>
        <p:nvSpPr>
          <p:cNvPr id="127" name="Box"/>
          <p:cNvSpPr/>
          <p:nvPr/>
        </p:nvSpPr>
        <p:spPr>
          <a:xfrm>
            <a:off x="6193360" y="1650000"/>
            <a:ext cx="5450000" cy="2100000"/>
          </a:xfrm>
          <a:prstGeom prst="roundRect">
            <a:avLst>
              <a:gd name="adj" fmla="val 3000"/>
            </a:avLst>
          </a:prstGeom>
          <a:solidFill>
            <a:srgbClr val="E8F5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8" name="TB"/>
          <p:cNvSpPr/>
          <p:nvPr/>
        </p:nvSpPr>
        <p:spPr>
          <a:xfrm>
            <a:off x="6393360" y="1780000"/>
            <a:ext cx="505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5D3B"/>
                </a:solidFill>
                <a:latin typeface="Calibri" pitchFamily="34" charset="0"/>
              </a:rPr>
              <a:t>iOS</a:t>
            </a:r>
          </a:p>
        </p:txBody>
      </p:sp>
      <p:sp>
        <p:nvSpPr>
          <p:cNvPr id="129" name="TB"/>
          <p:cNvSpPr/>
          <p:nvPr/>
        </p:nvSpPr>
        <p:spPr>
          <a:xfrm>
            <a:off x="6393360" y="2110000"/>
            <a:ext cx="5050000" cy="15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The same normal https:// link.</a:t>
            </a:r>
          </a:p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Plus each bank's own individual</a:t>
            </a:r>
          </a:p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custom scheme (bankademo://,</a:t>
            </a:r>
          </a:p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bankbdemo://, bankcdemo://).</a:t>
            </a:r>
          </a:p>
        </p:txBody>
      </p:sp>
      <p:sp>
        <p:nvSpPr>
          <p:cNvPr id="130" name="Box"/>
          <p:cNvSpPr/>
          <p:nvPr/>
        </p:nvSpPr>
        <p:spPr>
          <a:xfrm>
            <a:off x="548640" y="3950000"/>
            <a:ext cx="11094720" cy="1350000"/>
          </a:xfrm>
          <a:prstGeom prst="roundRect">
            <a:avLst>
              <a:gd name="adj" fmla="val 3000"/>
            </a:avLst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1" name="TB"/>
          <p:cNvSpPr/>
          <p:nvPr/>
        </p:nvSpPr>
        <p:spPr>
          <a:xfrm>
            <a:off x="748640" y="4080000"/>
            <a:ext cx="1069472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A5A00"/>
                </a:solidFill>
                <a:latin typeface="Calibri" pitchFamily="34" charset="0"/>
              </a:rPr>
              <a:t>What the 5 alternatives actually proved</a:t>
            </a:r>
          </a:p>
        </p:txBody>
      </p:sp>
      <p:sp>
        <p:nvSpPr>
          <p:cNvPr id="132" name="TB"/>
          <p:cNvSpPr/>
          <p:nvPr/>
        </p:nvSpPr>
        <p:spPr>
          <a:xfrm>
            <a:off x="748640" y="4410000"/>
            <a:ext cx="10694720" cy="77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Bank 1 and Bank 4 show verification/naming CAN remove the chooser — but only by picking one app in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advance, defeating the "any of 3 banks" requirement. Bank 2 and Bank 3 show iOS verification is real but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gated behind external requirements this project can't meet. Bank 5 shows a different problem entirely.</a:t>
            </a:r>
          </a:p>
        </p:txBody>
      </p:sp>
      <p:sp>
        <p:nvSpPr>
          <p:cNvPr id="133" name="Box"/>
          <p:cNvSpPr/>
          <p:nvPr/>
        </p:nvSpPr>
        <p:spPr>
          <a:xfrm>
            <a:off x="548640" y="5500000"/>
            <a:ext cx="11094720" cy="1150000"/>
          </a:xfrm>
          <a:prstGeom prst="roundRect">
            <a:avLst>
              <a:gd name="adj" fmla="val 3000"/>
            </a:avLst>
          </a:prstGeom>
          <a:solidFill>
            <a:srgbClr val="FBEAE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4" name="TB"/>
          <p:cNvSpPr/>
          <p:nvPr/>
        </p:nvSpPr>
        <p:spPr>
          <a:xfrm>
            <a:off x="748640" y="5630000"/>
            <a:ext cx="1069472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A1F1F"/>
                </a:solidFill>
                <a:latin typeface="Calibri" pitchFamily="34" charset="0"/>
              </a:rPr>
              <a:t>The conclusion</a:t>
            </a:r>
          </a:p>
        </p:txBody>
      </p:sp>
      <p:sp>
        <p:nvSpPr>
          <p:cNvPr id="135" name="TB"/>
          <p:cNvSpPr/>
          <p:nvPr/>
        </p:nvSpPr>
        <p:spPr>
          <a:xfrm>
            <a:off x="748640" y="5960000"/>
            <a:ext cx="10694720" cy="57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None of the 5 alternatives were ever going to solve "same user flow, both platforms, any of 3 banks" —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each solves a narrower problem instead. Unregistered link is not the leftover option; it is the only one of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these 6 approaches actually shaped around this project's specific requirement.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verview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B"/>
          <p:cNvSpPr/>
          <p:nvPr/>
        </p:nvSpPr>
        <p:spPr>
          <a:xfrm>
            <a:off x="548640" y="330000"/>
            <a:ext cx="1109472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</a:rPr>
              <a:t>Six Ways to Resolve a Deep Link</a:t>
            </a:r>
          </a:p>
        </p:txBody>
      </p:sp>
      <p:sp>
        <p:nvSpPr>
          <p:cNvPr id="12" name="TB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</a:rPr>
              <a:t>This project builds and tests every one of them — not just the one Bank A/B/C uses</a:t>
            </a:r>
          </a:p>
        </p:txBody>
      </p:sp>
      <p:sp>
        <p:nvSpPr>
          <p:cNvPr id="13" name="H"/>
          <p:cNvSpPr/>
          <p:nvPr/>
        </p:nvSpPr>
        <p:spPr>
          <a:xfrm>
            <a:off x="548640" y="1650000"/>
            <a:ext cx="900000" cy="48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#</a:t>
            </a:r>
          </a:p>
        </p:txBody>
      </p:sp>
      <p:sp>
        <p:nvSpPr>
          <p:cNvPr id="14" name="H"/>
          <p:cNvSpPr/>
          <p:nvPr/>
        </p:nvSpPr>
        <p:spPr>
          <a:xfrm>
            <a:off x="1448640" y="1650000"/>
            <a:ext cx="4200000" cy="48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Method</a:t>
            </a:r>
          </a:p>
        </p:txBody>
      </p:sp>
      <p:sp>
        <p:nvSpPr>
          <p:cNvPr id="15" name="H"/>
          <p:cNvSpPr/>
          <p:nvPr/>
        </p:nvSpPr>
        <p:spPr>
          <a:xfrm>
            <a:off x="5648640" y="1650000"/>
            <a:ext cx="2000000" cy="48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Used by</a:t>
            </a:r>
          </a:p>
        </p:txBody>
      </p:sp>
      <p:sp>
        <p:nvSpPr>
          <p:cNvPr id="16" name="H"/>
          <p:cNvSpPr/>
          <p:nvPr/>
        </p:nvSpPr>
        <p:spPr>
          <a:xfrm>
            <a:off x="7648640" y="1650000"/>
            <a:ext cx="4000000" cy="48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In one line</a:t>
            </a:r>
          </a:p>
        </p:txBody>
      </p:sp>
      <p:sp>
        <p:nvSpPr>
          <p:cNvPr id="17" name="C"/>
          <p:cNvSpPr/>
          <p:nvPr/>
        </p:nvSpPr>
        <p:spPr>
          <a:xfrm>
            <a:off x="548640" y="2130000"/>
            <a:ext cx="9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0</a:t>
            </a:r>
          </a:p>
        </p:txBody>
      </p:sp>
      <p:sp>
        <p:nvSpPr>
          <p:cNvPr id="18" name="C"/>
          <p:cNvSpPr/>
          <p:nvPr/>
        </p:nvSpPr>
        <p:spPr>
          <a:xfrm>
            <a:off x="1448640" y="2130000"/>
            <a:ext cx="42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Unregistered link</a:t>
            </a:r>
          </a:p>
        </p:txBody>
      </p:sp>
      <p:sp>
        <p:nvSpPr>
          <p:cNvPr id="19" name="C"/>
          <p:cNvSpPr/>
          <p:nvPr/>
        </p:nvSpPr>
        <p:spPr>
          <a:xfrm>
            <a:off x="5648640" y="2130000"/>
            <a:ext cx="20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Bank A / B / C</a:t>
            </a:r>
          </a:p>
        </p:txBody>
      </p:sp>
      <p:sp>
        <p:nvSpPr>
          <p:cNvPr id="20" name="C"/>
          <p:cNvSpPr/>
          <p:nvPr/>
        </p:nvSpPr>
        <p:spPr>
          <a:xfrm>
            <a:off x="7648640" y="2130000"/>
            <a:ext cx="40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No verification — the chooser/picker IS the point</a:t>
            </a:r>
          </a:p>
        </p:txBody>
      </p:sp>
      <p:sp>
        <p:nvSpPr>
          <p:cNvPr id="21" name="C"/>
          <p:cNvSpPr/>
          <p:nvPr/>
        </p:nvSpPr>
        <p:spPr>
          <a:xfrm>
            <a:off x="548640" y="2830000"/>
            <a:ext cx="9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2" name="C"/>
          <p:cNvSpPr/>
          <p:nvPr/>
        </p:nvSpPr>
        <p:spPr>
          <a:xfrm>
            <a:off x="1448640" y="2830000"/>
            <a:ext cx="42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Verified Android App Links</a:t>
            </a:r>
          </a:p>
        </p:txBody>
      </p:sp>
      <p:sp>
        <p:nvSpPr>
          <p:cNvPr id="23" name="C"/>
          <p:cNvSpPr/>
          <p:nvPr/>
        </p:nvSpPr>
        <p:spPr>
          <a:xfrm>
            <a:off x="5648640" y="2830000"/>
            <a:ext cx="20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Bank 1</a:t>
            </a:r>
          </a:p>
        </p:txBody>
      </p:sp>
      <p:sp>
        <p:nvSpPr>
          <p:cNvPr id="24" name="C"/>
          <p:cNvSpPr/>
          <p:nvPr/>
        </p:nvSpPr>
        <p:spPr>
          <a:xfrm>
            <a:off x="7648640" y="2830000"/>
            <a:ext cx="40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OS proves domain ownership — chooser disappears</a:t>
            </a:r>
          </a:p>
        </p:txBody>
      </p:sp>
      <p:sp>
        <p:nvSpPr>
          <p:cNvPr id="25" name="C"/>
          <p:cNvSpPr/>
          <p:nvPr/>
        </p:nvSpPr>
        <p:spPr>
          <a:xfrm>
            <a:off x="548640" y="3530000"/>
            <a:ext cx="9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6" name="C"/>
          <p:cNvSpPr/>
          <p:nvPr/>
        </p:nvSpPr>
        <p:spPr>
          <a:xfrm>
            <a:off x="1448640" y="3530000"/>
            <a:ext cx="42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Verified iOS Universal Links</a:t>
            </a:r>
          </a:p>
        </p:txBody>
      </p:sp>
      <p:sp>
        <p:nvSpPr>
          <p:cNvPr id="27" name="C"/>
          <p:cNvSpPr/>
          <p:nvPr/>
        </p:nvSpPr>
        <p:spPr>
          <a:xfrm>
            <a:off x="5648640" y="3530000"/>
            <a:ext cx="20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Bank 2</a:t>
            </a:r>
          </a:p>
        </p:txBody>
      </p:sp>
      <p:sp>
        <p:nvSpPr>
          <p:cNvPr id="28" name="C"/>
          <p:cNvSpPr/>
          <p:nvPr/>
        </p:nvSpPr>
        <p:spPr>
          <a:xfrm>
            <a:off x="7648640" y="3530000"/>
            <a:ext cx="40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Same idea on iOS — blocked by a paid-account requirement</a:t>
            </a:r>
          </a:p>
        </p:txBody>
      </p:sp>
      <p:sp>
        <p:nvSpPr>
          <p:cNvPr id="29" name="C"/>
          <p:cNvSpPr/>
          <p:nvPr/>
        </p:nvSpPr>
        <p:spPr>
          <a:xfrm>
            <a:off x="548640" y="4230000"/>
            <a:ext cx="9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" name="C"/>
          <p:cNvSpPr/>
          <p:nvPr/>
        </p:nvSpPr>
        <p:spPr>
          <a:xfrm>
            <a:off x="1448640" y="4230000"/>
            <a:ext cx="42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iOS Smart App Banner</a:t>
            </a:r>
          </a:p>
        </p:txBody>
      </p:sp>
      <p:sp>
        <p:nvSpPr>
          <p:cNvPr id="31" name="C"/>
          <p:cNvSpPr/>
          <p:nvPr/>
        </p:nvSpPr>
        <p:spPr>
          <a:xfrm>
            <a:off x="5648640" y="4230000"/>
            <a:ext cx="20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Bank 3</a:t>
            </a:r>
          </a:p>
        </p:txBody>
      </p:sp>
      <p:sp>
        <p:nvSpPr>
          <p:cNvPr id="32" name="C"/>
          <p:cNvSpPr/>
          <p:nvPr/>
        </p:nvSpPr>
        <p:spPr>
          <a:xfrm>
            <a:off x="7648640" y="4230000"/>
            <a:ext cx="40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A webpage hint, not a verified link — blocked by App Store listing</a:t>
            </a:r>
          </a:p>
        </p:txBody>
      </p:sp>
      <p:sp>
        <p:nvSpPr>
          <p:cNvPr id="33" name="C"/>
          <p:cNvSpPr/>
          <p:nvPr/>
        </p:nvSpPr>
        <p:spPr>
          <a:xfrm>
            <a:off x="548640" y="4930000"/>
            <a:ext cx="9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34" name="C"/>
          <p:cNvSpPr/>
          <p:nvPr/>
        </p:nvSpPr>
        <p:spPr>
          <a:xfrm>
            <a:off x="1448640" y="4930000"/>
            <a:ext cx="42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Android Explicit-Package Intent</a:t>
            </a:r>
          </a:p>
        </p:txBody>
      </p:sp>
      <p:sp>
        <p:nvSpPr>
          <p:cNvPr id="35" name="C"/>
          <p:cNvSpPr/>
          <p:nvPr/>
        </p:nvSpPr>
        <p:spPr>
          <a:xfrm>
            <a:off x="5648640" y="4930000"/>
            <a:ext cx="20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Bank 4</a:t>
            </a:r>
          </a:p>
        </p:txBody>
      </p:sp>
      <p:sp>
        <p:nvSpPr>
          <p:cNvPr id="36" name="C"/>
          <p:cNvSpPr/>
          <p:nvPr/>
        </p:nvSpPr>
        <p:spPr>
          <a:xfrm>
            <a:off x="7648640" y="4930000"/>
            <a:ext cx="40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The sender just states the answer — no verification needed</a:t>
            </a:r>
          </a:p>
        </p:txBody>
      </p:sp>
      <p:sp>
        <p:nvSpPr>
          <p:cNvPr id="37" name="C"/>
          <p:cNvSpPr/>
          <p:nvPr/>
        </p:nvSpPr>
        <p:spPr>
          <a:xfrm>
            <a:off x="548640" y="5630000"/>
            <a:ext cx="9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5</a:t>
            </a:r>
          </a:p>
        </p:txBody>
      </p:sp>
      <p:sp>
        <p:nvSpPr>
          <p:cNvPr id="38" name="C"/>
          <p:cNvSpPr/>
          <p:nvPr/>
        </p:nvSpPr>
        <p:spPr>
          <a:xfrm>
            <a:off x="1448640" y="5630000"/>
            <a:ext cx="42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Deferred Deep Linking</a:t>
            </a:r>
          </a:p>
        </p:txBody>
      </p:sp>
      <p:sp>
        <p:nvSpPr>
          <p:cNvPr id="39" name="C"/>
          <p:cNvSpPr/>
          <p:nvPr/>
        </p:nvSpPr>
        <p:spPr>
          <a:xfrm>
            <a:off x="5648640" y="5630000"/>
            <a:ext cx="20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Bank 5</a:t>
            </a:r>
          </a:p>
        </p:txBody>
      </p:sp>
      <p:sp>
        <p:nvSpPr>
          <p:cNvPr id="40" name="C"/>
          <p:cNvSpPr/>
          <p:nvPr/>
        </p:nvSpPr>
        <p:spPr>
          <a:xfrm>
            <a:off x="7648640" y="5630000"/>
            <a:ext cx="40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Carries the destination across an app install, via clipboard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ank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B"/>
          <p:cNvSpPr/>
          <p:nvPr/>
        </p:nvSpPr>
        <p:spPr>
          <a:xfrm>
            <a:off x="548640" y="330000"/>
            <a:ext cx="1109472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</a:rPr>
              <a:t>Bank 1: Verified Android App Links</a:t>
            </a:r>
          </a:p>
        </p:txBody>
      </p:sp>
      <p:sp>
        <p:nvSpPr>
          <p:cNvPr id="56" name="TB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</a:rPr>
              <a:t>Proving domain ownership at install time removes the chooser entirely</a:t>
            </a:r>
          </a:p>
        </p:txBody>
      </p:sp>
      <p:sp>
        <p:nvSpPr>
          <p:cNvPr id="57" name="Box"/>
          <p:cNvSpPr/>
          <p:nvPr/>
        </p:nvSpPr>
        <p:spPr>
          <a:xfrm>
            <a:off x="548640" y="1550000"/>
            <a:ext cx="2600000" cy="420000"/>
          </a:xfrm>
          <a:prstGeom prst="roundRect">
            <a:avLst>
              <a:gd name="adj" fmla="val 15000"/>
            </a:avLst>
          </a:prstGeom>
          <a:solidFill>
            <a:srgbClr val="E8F5E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8" name="TB"/>
          <p:cNvSpPr/>
          <p:nvPr/>
        </p:nvSpPr>
        <p:spPr>
          <a:xfrm>
            <a:off x="548640" y="1550000"/>
            <a:ext cx="260000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</a:rPr>
              <a:t>Android only</a:t>
            </a:r>
          </a:p>
        </p:txBody>
      </p:sp>
      <p:sp>
        <p:nvSpPr>
          <p:cNvPr id="59" name="Box"/>
          <p:cNvSpPr/>
          <p:nvPr/>
        </p:nvSpPr>
        <p:spPr>
          <a:xfrm>
            <a:off x="548640" y="2100000"/>
            <a:ext cx="5450000" cy="3900000"/>
          </a:xfrm>
          <a:prstGeom prst="roundRect">
            <a:avLst>
              <a:gd name="adj" fmla="val 35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TB"/>
          <p:cNvSpPr/>
          <p:nvPr/>
        </p:nvSpPr>
        <p:spPr>
          <a:xfrm>
            <a:off x="768640" y="2250000"/>
            <a:ext cx="5010000" cy="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alibri" pitchFamily="34" charset="0"/>
              </a:rPr>
              <a:t>AndroidManifest.xml</a:t>
            </a:r>
          </a:p>
        </p:txBody>
      </p:sp>
      <p:sp>
        <p:nvSpPr>
          <p:cNvPr id="61" name="TB"/>
          <p:cNvSpPr/>
          <p:nvPr/>
        </p:nvSpPr>
        <p:spPr>
          <a:xfrm>
            <a:off x="768640" y="2620000"/>
            <a:ext cx="5010000" cy="32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&lt;intent-filter android:autoVerify="true"&gt;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&lt;action android:name=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 "android.intent.action.VIEW"/&gt;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&lt;data android:scheme="https"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 android:host="...onrender.com"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 android:pathPrefix="/methods/applinks"/&gt;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&lt;/intent-filter&gt;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/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Hosted at /.well-known/assetlinks.json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"package_name": "com.sgqrdemo.methodapplinks"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"sha256_cert_fingerprints": ["D7:87:...:1E"]</a:t>
            </a:r>
          </a:p>
        </p:txBody>
      </p:sp>
      <p:sp>
        <p:nvSpPr>
          <p:cNvPr id="62" name="Box"/>
          <p:cNvSpPr/>
          <p:nvPr/>
        </p:nvSpPr>
        <p:spPr>
          <a:xfrm>
            <a:off x="6193360" y="2100000"/>
            <a:ext cx="5450000" cy="3900000"/>
          </a:xfrm>
          <a:prstGeom prst="roundRect">
            <a:avLst>
              <a:gd name="adj" fmla="val 30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3" name="TB"/>
          <p:cNvSpPr/>
          <p:nvPr/>
        </p:nvSpPr>
        <p:spPr>
          <a:xfrm>
            <a:off x="6393360" y="2230000"/>
            <a:ext cx="505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</a:rPr>
              <a:t>What this means</a:t>
            </a:r>
          </a:p>
        </p:txBody>
      </p:sp>
      <p:sp>
        <p:nvSpPr>
          <p:cNvPr id="64" name="TB"/>
          <p:cNvSpPr/>
          <p:nvPr/>
        </p:nvSpPr>
        <p:spPr>
          <a:xfrm>
            <a:off x="6393360" y="2560000"/>
            <a:ext cx="5050000" cy="3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Android checks this file against the app's real signing certificate at install time.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If it matches, Android treats Bank 1 as the sole proven owner of this path.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The link then opens Bank 1 directly — no browser interstitial, no chooser —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even with every other bank app installed on the same device.</a:t>
            </a:r>
          </a:p>
        </p:txBody>
      </p:sp>
      <p:sp>
        <p:nvSpPr>
          <p:cNvPr id="65" name="TB"/>
          <p:cNvSpPr/>
          <p:nvPr/>
        </p:nvSpPr>
        <p:spPr>
          <a:xfrm>
            <a:off x="548640" y="6150000"/>
            <a:ext cx="1109472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0B5D3B"/>
                </a:solidFill>
                <a:latin typeface="Calibri" pitchFamily="34" charset="0"/>
              </a:rPr>
              <a:t>Tested live on a real Android device: opened directly, zero prompt, correct payload fetched.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ank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B"/>
          <p:cNvSpPr/>
          <p:nvPr/>
        </p:nvSpPr>
        <p:spPr>
          <a:xfrm>
            <a:off x="548640" y="330000"/>
            <a:ext cx="1109472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</a:rPr>
              <a:t>Bank 2: Verified iOS Universal Links</a:t>
            </a:r>
          </a:p>
        </p:txBody>
      </p:sp>
      <p:sp>
        <p:nvSpPr>
          <p:cNvPr id="67" name="TB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</a:rPr>
              <a:t>The iOS equivalent of Bank 1 — intended to work the same way, blocked by an account requirement</a:t>
            </a:r>
          </a:p>
        </p:txBody>
      </p:sp>
      <p:sp>
        <p:nvSpPr>
          <p:cNvPr id="68" name="Box"/>
          <p:cNvSpPr/>
          <p:nvPr/>
        </p:nvSpPr>
        <p:spPr>
          <a:xfrm>
            <a:off x="548640" y="1550000"/>
            <a:ext cx="2600000" cy="420000"/>
          </a:xfrm>
          <a:prstGeom prst="roundRect">
            <a:avLst>
              <a:gd name="adj" fmla="val 15000"/>
            </a:avLst>
          </a:prstGeom>
          <a:solidFill>
            <a:srgbClr val="E3F2F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TB"/>
          <p:cNvSpPr/>
          <p:nvPr/>
        </p:nvSpPr>
        <p:spPr>
          <a:xfrm>
            <a:off x="548640" y="1550000"/>
            <a:ext cx="260000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0D47A1"/>
                </a:solidFill>
                <a:latin typeface="Calibri" pitchFamily="34" charset="0"/>
              </a:rPr>
              <a:t>iOS only</a:t>
            </a:r>
          </a:p>
        </p:txBody>
      </p:sp>
      <p:sp>
        <p:nvSpPr>
          <p:cNvPr id="70" name="Box"/>
          <p:cNvSpPr/>
          <p:nvPr/>
        </p:nvSpPr>
        <p:spPr>
          <a:xfrm>
            <a:off x="548640" y="2100000"/>
            <a:ext cx="5450000" cy="2350000"/>
          </a:xfrm>
          <a:prstGeom prst="roundRect">
            <a:avLst>
              <a:gd name="adj" fmla="val 35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" name="TB"/>
          <p:cNvSpPr/>
          <p:nvPr/>
        </p:nvSpPr>
        <p:spPr>
          <a:xfrm>
            <a:off x="768640" y="2250000"/>
            <a:ext cx="5010000" cy="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alibri" pitchFamily="34" charset="0"/>
              </a:rPr>
              <a:t>Runner.entitlements</a:t>
            </a:r>
          </a:p>
        </p:txBody>
      </p:sp>
      <p:sp>
        <p:nvSpPr>
          <p:cNvPr id="72" name="TB"/>
          <p:cNvSpPr/>
          <p:nvPr/>
        </p:nvSpPr>
        <p:spPr>
          <a:xfrm>
            <a:off x="768640" y="2620000"/>
            <a:ext cx="5010000" cy="17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&lt;key&gt;com.apple.developer.associated-domains&lt;/key&gt;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&lt;array&gt;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&lt;string&gt;applinks:...onrender.com&lt;/string&gt;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&lt;/array&gt;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/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Hosted at /.well-known/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  apple-app-site-association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"appID": "HBT73QTC22.com.sgqrdemo.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        methodUniversallinks"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"paths": ["/methods/universallinks/*"]</a:t>
            </a:r>
          </a:p>
        </p:txBody>
      </p:sp>
      <p:sp>
        <p:nvSpPr>
          <p:cNvPr id="73" name="Box"/>
          <p:cNvSpPr/>
          <p:nvPr/>
        </p:nvSpPr>
        <p:spPr>
          <a:xfrm>
            <a:off x="6193360" y="2100000"/>
            <a:ext cx="5450000" cy="2350000"/>
          </a:xfrm>
          <a:prstGeom prst="roundRect">
            <a:avLst>
              <a:gd name="adj" fmla="val 30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4" name="TB"/>
          <p:cNvSpPr/>
          <p:nvPr/>
        </p:nvSpPr>
        <p:spPr>
          <a:xfrm>
            <a:off x="6393360" y="2230000"/>
            <a:ext cx="505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</a:rPr>
              <a:t>What this means</a:t>
            </a:r>
          </a:p>
        </p:txBody>
      </p:sp>
      <p:sp>
        <p:nvSpPr>
          <p:cNvPr id="75" name="TB"/>
          <p:cNvSpPr/>
          <p:nvPr/>
        </p:nvSpPr>
        <p:spPr>
          <a:xfrm>
            <a:off x="6393360" y="2560000"/>
            <a:ext cx="5050000" cy="177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iOS is meant to check this file the same way Android checks assetlinks.json,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then hand the link straight to Bank 2 with no Safari, no prompt at all.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Confirmed present in the signed binary via codesign — the configuration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itself is correct and deployed exactly as intended.</a:t>
            </a:r>
          </a:p>
        </p:txBody>
      </p:sp>
      <p:sp>
        <p:nvSpPr>
          <p:cNvPr id="76" name="TB"/>
          <p:cNvSpPr/>
          <p:nvPr/>
        </p:nvSpPr>
        <p:spPr>
          <a:xfrm>
            <a:off x="548640" y="4600000"/>
            <a:ext cx="1109472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8A5A00"/>
                </a:solidFill>
                <a:latin typeface="Calibri" pitchFamily="34" charset="0"/>
              </a:rPr>
              <a:t>Tested on a real iPhone: iOS never completed verification — every link fell through to Safari with a manual banner instead of a silent handoff.</a:t>
            </a:r>
          </a:p>
        </p:txBody>
      </p:sp>
      <p:sp>
        <p:nvSpPr>
          <p:cNvPr id="77" name="Box"/>
          <p:cNvSpPr/>
          <p:nvPr/>
        </p:nvSpPr>
        <p:spPr>
          <a:xfrm>
            <a:off x="548640" y="5000000"/>
            <a:ext cx="5397360" cy="1300000"/>
          </a:xfrm>
          <a:prstGeom prst="roundRect">
            <a:avLst>
              <a:gd name="adj" fmla="val 3000"/>
            </a:avLst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8" name="TB"/>
          <p:cNvSpPr/>
          <p:nvPr/>
        </p:nvSpPr>
        <p:spPr>
          <a:xfrm>
            <a:off x="748640" y="5130000"/>
            <a:ext cx="499736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A5A00"/>
                </a:solidFill>
                <a:latin typeface="Calibri" pitchFamily="34" charset="0"/>
              </a:rPr>
              <a:t>Why it's blocked</a:t>
            </a:r>
          </a:p>
        </p:txBody>
      </p:sp>
      <p:sp>
        <p:nvSpPr>
          <p:cNvPr id="79" name="TB"/>
          <p:cNvSpPr/>
          <p:nvPr/>
        </p:nvSpPr>
        <p:spPr>
          <a:xfrm>
            <a:off x="748640" y="5460000"/>
            <a:ext cx="4997360" cy="7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Full verification requires a paid Apple Developer Program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membership ($99/year). A free Apple ID can sign the app and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include the entitlement, but iOS never finishes verifying it —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confirmed by the absence of the "Open Links" Settings entry.</a:t>
            </a:r>
          </a:p>
        </p:txBody>
      </p:sp>
      <p:sp>
        <p:nvSpPr>
          <p:cNvPr id="80" name="Box"/>
          <p:cNvSpPr/>
          <p:nvPr/>
        </p:nvSpPr>
        <p:spPr>
          <a:xfrm>
            <a:off x="6246000" y="5000000"/>
            <a:ext cx="5397360" cy="1300000"/>
          </a:xfrm>
          <a:prstGeom prst="roundRect">
            <a:avLst>
              <a:gd name="adj" fmla="val 3000"/>
            </a:avLst>
          </a:prstGeom>
          <a:solidFill>
            <a:srgbClr val="E8F5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1" name="TB"/>
          <p:cNvSpPr/>
          <p:nvPr/>
        </p:nvSpPr>
        <p:spPr>
          <a:xfrm>
            <a:off x="6446000" y="5130000"/>
            <a:ext cx="499736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5D3B"/>
                </a:solidFill>
                <a:latin typeface="Calibri" pitchFamily="34" charset="0"/>
              </a:rPr>
              <a:t>What would need to change</a:t>
            </a:r>
          </a:p>
        </p:txBody>
      </p:sp>
      <p:sp>
        <p:nvSpPr>
          <p:cNvPr id="82" name="TB"/>
          <p:cNvSpPr/>
          <p:nvPr/>
        </p:nvSpPr>
        <p:spPr>
          <a:xfrm>
            <a:off x="6446000" y="5460000"/>
            <a:ext cx="4997360" cy="7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Enroll the same Apple ID in the paid Apple Developer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Program, rebuild and reinstall Bank 2 — no code changes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needed, since the entitlement and hosting are already correct.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ank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B"/>
          <p:cNvSpPr/>
          <p:nvPr/>
        </p:nvSpPr>
        <p:spPr>
          <a:xfrm>
            <a:off x="548640" y="330000"/>
            <a:ext cx="1109472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</a:rPr>
              <a:t>Bank 3: iOS Smart App Banner</a:t>
            </a:r>
          </a:p>
        </p:txBody>
      </p:sp>
      <p:sp>
        <p:nvSpPr>
          <p:cNvPr id="84" name="TB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</a:rPr>
              <a:t>A much lighter-weight hint to Safari — no entitlement at all, but it needs a real App Store listing</a:t>
            </a:r>
          </a:p>
        </p:txBody>
      </p:sp>
      <p:sp>
        <p:nvSpPr>
          <p:cNvPr id="85" name="Box"/>
          <p:cNvSpPr/>
          <p:nvPr/>
        </p:nvSpPr>
        <p:spPr>
          <a:xfrm>
            <a:off x="548640" y="1550000"/>
            <a:ext cx="2600000" cy="420000"/>
          </a:xfrm>
          <a:prstGeom prst="roundRect">
            <a:avLst>
              <a:gd name="adj" fmla="val 15000"/>
            </a:avLst>
          </a:prstGeom>
          <a:solidFill>
            <a:srgbClr val="E3F2F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6" name="TB"/>
          <p:cNvSpPr/>
          <p:nvPr/>
        </p:nvSpPr>
        <p:spPr>
          <a:xfrm>
            <a:off x="548640" y="1550000"/>
            <a:ext cx="260000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0D47A1"/>
                </a:solidFill>
                <a:latin typeface="Calibri" pitchFamily="34" charset="0"/>
              </a:rPr>
              <a:t>iOS only</a:t>
            </a:r>
          </a:p>
        </p:txBody>
      </p:sp>
      <p:sp>
        <p:nvSpPr>
          <p:cNvPr id="87" name="Box"/>
          <p:cNvSpPr/>
          <p:nvPr/>
        </p:nvSpPr>
        <p:spPr>
          <a:xfrm>
            <a:off x="548640" y="2100000"/>
            <a:ext cx="5450000" cy="2350000"/>
          </a:xfrm>
          <a:prstGeom prst="roundRect">
            <a:avLst>
              <a:gd name="adj" fmla="val 35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8" name="TB"/>
          <p:cNvSpPr/>
          <p:nvPr/>
        </p:nvSpPr>
        <p:spPr>
          <a:xfrm>
            <a:off x="768640" y="2250000"/>
            <a:ext cx="5010000" cy="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alibri" pitchFamily="34" charset="0"/>
              </a:rPr>
              <a:t>pay.html &lt;head&gt;</a:t>
            </a:r>
          </a:p>
        </p:txBody>
      </p:sp>
      <p:sp>
        <p:nvSpPr>
          <p:cNvPr id="89" name="TB"/>
          <p:cNvSpPr/>
          <p:nvPr/>
        </p:nvSpPr>
        <p:spPr>
          <a:xfrm>
            <a:off x="768640" y="2620000"/>
            <a:ext cx="5010000" cy="17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&lt;meta name="apple-itunes-app"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content="app-id=0000000000,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 app-argument=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 smartbannerdemo://pay?token=..."&gt;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/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No entitlement, no hosted verification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file at all — just this one tag.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Tapping "OPEN" (if the app is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installed) delivers app-argument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the same way a custom scheme would.</a:t>
            </a:r>
          </a:p>
        </p:txBody>
      </p:sp>
      <p:sp>
        <p:nvSpPr>
          <p:cNvPr id="90" name="Box"/>
          <p:cNvSpPr/>
          <p:nvPr/>
        </p:nvSpPr>
        <p:spPr>
          <a:xfrm>
            <a:off x="6193360" y="2100000"/>
            <a:ext cx="5450000" cy="2350000"/>
          </a:xfrm>
          <a:prstGeom prst="roundRect">
            <a:avLst>
              <a:gd name="adj" fmla="val 30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1" name="TB"/>
          <p:cNvSpPr/>
          <p:nvPr/>
        </p:nvSpPr>
        <p:spPr>
          <a:xfrm>
            <a:off x="6393360" y="2230000"/>
            <a:ext cx="505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</a:rPr>
              <a:t>What this means</a:t>
            </a:r>
          </a:p>
        </p:txBody>
      </p:sp>
      <p:sp>
        <p:nvSpPr>
          <p:cNvPr id="92" name="TB"/>
          <p:cNvSpPr/>
          <p:nvPr/>
        </p:nvSpPr>
        <p:spPr>
          <a:xfrm>
            <a:off x="6393360" y="2560000"/>
            <a:ext cx="5050000" cy="177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This tag alone is enough for Safari to show a banner offering to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open or install the app — dramatically simpler than Universal Links.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But Safari validates app-id against Apple's own servers before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showing anything, checking it matches a real App Store listing.</a:t>
            </a:r>
          </a:p>
        </p:txBody>
      </p:sp>
      <p:sp>
        <p:nvSpPr>
          <p:cNvPr id="93" name="TB"/>
          <p:cNvSpPr/>
          <p:nvPr/>
        </p:nvSpPr>
        <p:spPr>
          <a:xfrm>
            <a:off x="548640" y="4600000"/>
            <a:ext cx="1109472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8A5A00"/>
                </a:solidFill>
                <a:latin typeface="Calibri" pitchFamily="34" charset="0"/>
              </a:rPr>
              <a:t>Code and hosting confirmed correct and deployed — the banner itself never renders, because there is nothing to validate against.</a:t>
            </a:r>
          </a:p>
        </p:txBody>
      </p:sp>
      <p:sp>
        <p:nvSpPr>
          <p:cNvPr id="94" name="Box"/>
          <p:cNvSpPr/>
          <p:nvPr/>
        </p:nvSpPr>
        <p:spPr>
          <a:xfrm>
            <a:off x="548640" y="5000000"/>
            <a:ext cx="5397360" cy="1300000"/>
          </a:xfrm>
          <a:prstGeom prst="roundRect">
            <a:avLst>
              <a:gd name="adj" fmla="val 3000"/>
            </a:avLst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5" name="TB"/>
          <p:cNvSpPr/>
          <p:nvPr/>
        </p:nvSpPr>
        <p:spPr>
          <a:xfrm>
            <a:off x="748640" y="5130000"/>
            <a:ext cx="499736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A5A00"/>
                </a:solidFill>
                <a:latin typeface="Calibri" pitchFamily="34" charset="0"/>
              </a:rPr>
              <a:t>Why it's blocked</a:t>
            </a:r>
          </a:p>
        </p:txBody>
      </p:sp>
      <p:sp>
        <p:nvSpPr>
          <p:cNvPr id="96" name="TB"/>
          <p:cNvSpPr/>
          <p:nvPr/>
        </p:nvSpPr>
        <p:spPr>
          <a:xfrm>
            <a:off x="748640" y="5460000"/>
            <a:ext cx="4997360" cy="7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Safari checks the app-id against a real, published App Store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listing before ever rendering the banner — it validates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server-side, not just whether the tag is present on the page.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This demo app is sideloaded and was never published.</a:t>
            </a:r>
          </a:p>
        </p:txBody>
      </p:sp>
      <p:sp>
        <p:nvSpPr>
          <p:cNvPr id="97" name="Box"/>
          <p:cNvSpPr/>
          <p:nvPr/>
        </p:nvSpPr>
        <p:spPr>
          <a:xfrm>
            <a:off x="6246000" y="5000000"/>
            <a:ext cx="5397360" cy="1300000"/>
          </a:xfrm>
          <a:prstGeom prst="roundRect">
            <a:avLst>
              <a:gd name="adj" fmla="val 3000"/>
            </a:avLst>
          </a:prstGeom>
          <a:solidFill>
            <a:srgbClr val="E8F5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8" name="TB"/>
          <p:cNvSpPr/>
          <p:nvPr/>
        </p:nvSpPr>
        <p:spPr>
          <a:xfrm>
            <a:off x="6446000" y="5130000"/>
            <a:ext cx="499736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5D3B"/>
                </a:solidFill>
                <a:latin typeface="Calibri" pitchFamily="34" charset="0"/>
              </a:rPr>
              <a:t>What would need to change</a:t>
            </a:r>
          </a:p>
        </p:txBody>
      </p:sp>
      <p:sp>
        <p:nvSpPr>
          <p:cNvPr id="99" name="TB"/>
          <p:cNvSpPr/>
          <p:nvPr/>
        </p:nvSpPr>
        <p:spPr>
          <a:xfrm>
            <a:off x="6446000" y="5460000"/>
            <a:ext cx="4997360" cy="7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Publish Bank 3 to the App Store with a real app-id, then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the exact same tag already deployed here would start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showing the banner with no further code changes.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ank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B"/>
          <p:cNvSpPr/>
          <p:nvPr/>
        </p:nvSpPr>
        <p:spPr>
          <a:xfrm>
            <a:off x="548640" y="330000"/>
            <a:ext cx="1109472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</a:rPr>
              <a:t>Bank 4: Android Explicit-Package Intent</a:t>
            </a:r>
          </a:p>
        </p:txBody>
      </p:sp>
      <p:sp>
        <p:nvSpPr>
          <p:cNvPr id="101" name="TB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</a:rPr>
              <a:t>No verification of any kind — the sender just states the answer</a:t>
            </a:r>
          </a:p>
        </p:txBody>
      </p:sp>
      <p:sp>
        <p:nvSpPr>
          <p:cNvPr id="102" name="Box"/>
          <p:cNvSpPr/>
          <p:nvPr/>
        </p:nvSpPr>
        <p:spPr>
          <a:xfrm>
            <a:off x="548640" y="1550000"/>
            <a:ext cx="2600000" cy="420000"/>
          </a:xfrm>
          <a:prstGeom prst="roundRect">
            <a:avLst>
              <a:gd name="adj" fmla="val 15000"/>
            </a:avLst>
          </a:prstGeom>
          <a:solidFill>
            <a:srgbClr val="E8F5E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TB"/>
          <p:cNvSpPr/>
          <p:nvPr/>
        </p:nvSpPr>
        <p:spPr>
          <a:xfrm>
            <a:off x="548640" y="1550000"/>
            <a:ext cx="260000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</a:rPr>
              <a:t>Android only</a:t>
            </a:r>
          </a:p>
        </p:txBody>
      </p:sp>
      <p:sp>
        <p:nvSpPr>
          <p:cNvPr id="104" name="Box"/>
          <p:cNvSpPr/>
          <p:nvPr/>
        </p:nvSpPr>
        <p:spPr>
          <a:xfrm>
            <a:off x="548640" y="2100000"/>
            <a:ext cx="5450000" cy="3900000"/>
          </a:xfrm>
          <a:prstGeom prst="roundRect">
            <a:avLst>
              <a:gd name="adj" fmla="val 35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5" name="TB"/>
          <p:cNvSpPr/>
          <p:nvPr/>
        </p:nvSpPr>
        <p:spPr>
          <a:xfrm>
            <a:off x="768640" y="2250000"/>
            <a:ext cx="5010000" cy="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alibri" pitchFamily="34" charset="0"/>
              </a:rPr>
              <a:t>The "Open" link on the page</a:t>
            </a:r>
          </a:p>
        </p:txBody>
      </p:sp>
      <p:sp>
        <p:nvSpPr>
          <p:cNvPr id="106" name="TB"/>
          <p:cNvSpPr/>
          <p:nvPr/>
        </p:nvSpPr>
        <p:spPr>
          <a:xfrm>
            <a:off x="768640" y="2620000"/>
            <a:ext cx="5010000" cy="32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intent://pay?token=abc123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#Intent;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scheme=explicitintentdemo;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package=com.sgqrdemo.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 method_explicit_intent;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end</a:t>
            </a:r>
          </a:p>
        </p:txBody>
      </p:sp>
      <p:sp>
        <p:nvSpPr>
          <p:cNvPr id="107" name="Box"/>
          <p:cNvSpPr/>
          <p:nvPr/>
        </p:nvSpPr>
        <p:spPr>
          <a:xfrm>
            <a:off x="6193360" y="2100000"/>
            <a:ext cx="5450000" cy="3900000"/>
          </a:xfrm>
          <a:prstGeom prst="roundRect">
            <a:avLst>
              <a:gd name="adj" fmla="val 30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8" name="TB"/>
          <p:cNvSpPr/>
          <p:nvPr/>
        </p:nvSpPr>
        <p:spPr>
          <a:xfrm>
            <a:off x="6393360" y="2230000"/>
            <a:ext cx="505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</a:rPr>
              <a:t>What this means</a:t>
            </a:r>
          </a:p>
        </p:txBody>
      </p:sp>
      <p:sp>
        <p:nvSpPr>
          <p:cNvPr id="109" name="TB"/>
          <p:cNvSpPr/>
          <p:nvPr/>
        </p:nvSpPr>
        <p:spPr>
          <a:xfrm>
            <a:off x="6393360" y="2560000"/>
            <a:ext cx="5050000" cy="3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package= names this app's exact package directly inside the link itself.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Android has nothing left to disambiguate — no chooser is possible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when only one app is named, regardless of what else is installed.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Trade-off: only works when whoever generates the link already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knows which app should open it — the opposite of Bank A/B/C's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"any of 3 banks" scenario.</a:t>
            </a:r>
          </a:p>
        </p:txBody>
      </p:sp>
      <p:sp>
        <p:nvSpPr>
          <p:cNvPr id="110" name="TB"/>
          <p:cNvSpPr/>
          <p:nvPr/>
        </p:nvSpPr>
        <p:spPr>
          <a:xfrm>
            <a:off x="548640" y="6150000"/>
            <a:ext cx="1109472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0B5D3B"/>
                </a:solidFill>
                <a:latin typeface="Calibri" pitchFamily="34" charset="0"/>
              </a:rPr>
              <a:t>Tested live on a real Android device: opened directly, zero prompt, correct payload fetched.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ank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B"/>
          <p:cNvSpPr/>
          <p:nvPr/>
        </p:nvSpPr>
        <p:spPr>
          <a:xfrm>
            <a:off x="548640" y="330000"/>
            <a:ext cx="1109472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</a:rPr>
              <a:t>Bank 5: Deferred Deep Linking</a:t>
            </a:r>
          </a:p>
        </p:txBody>
      </p:sp>
      <p:sp>
        <p:nvSpPr>
          <p:cNvPr id="112" name="TB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</a:rPr>
              <a:t>Carrying a destination across an app install — simulated via the clipboard</a:t>
            </a:r>
          </a:p>
        </p:txBody>
      </p:sp>
      <p:sp>
        <p:nvSpPr>
          <p:cNvPr id="113" name="Box"/>
          <p:cNvSpPr/>
          <p:nvPr/>
        </p:nvSpPr>
        <p:spPr>
          <a:xfrm>
            <a:off x="548640" y="1550000"/>
            <a:ext cx="2600000" cy="420000"/>
          </a:xfrm>
          <a:prstGeom prst="roundRect">
            <a:avLst>
              <a:gd name="adj" fmla="val 15000"/>
            </a:avLst>
          </a:prstGeom>
          <a:solidFill>
            <a:srgbClr val="F3E5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" name="TB"/>
          <p:cNvSpPr/>
          <p:nvPr/>
        </p:nvSpPr>
        <p:spPr>
          <a:xfrm>
            <a:off x="548640" y="1550000"/>
            <a:ext cx="260000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6A1B9A"/>
                </a:solidFill>
                <a:latin typeface="Calibri" pitchFamily="34" charset="0"/>
              </a:rPr>
              <a:t>Android + iOS</a:t>
            </a:r>
          </a:p>
        </p:txBody>
      </p:sp>
      <p:sp>
        <p:nvSpPr>
          <p:cNvPr id="115" name="Box"/>
          <p:cNvSpPr/>
          <p:nvPr/>
        </p:nvSpPr>
        <p:spPr>
          <a:xfrm>
            <a:off x="548640" y="2100000"/>
            <a:ext cx="5450000" cy="3900000"/>
          </a:xfrm>
          <a:prstGeom prst="roundRect">
            <a:avLst>
              <a:gd name="adj" fmla="val 35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6" name="TB"/>
          <p:cNvSpPr/>
          <p:nvPr/>
        </p:nvSpPr>
        <p:spPr>
          <a:xfrm>
            <a:off x="768640" y="2250000"/>
            <a:ext cx="5010000" cy="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alibri" pitchFamily="34" charset="0"/>
              </a:rPr>
              <a:t>The link itself</a:t>
            </a:r>
          </a:p>
        </p:txBody>
      </p:sp>
      <p:sp>
        <p:nvSpPr>
          <p:cNvPr id="117" name="TB"/>
          <p:cNvSpPr/>
          <p:nvPr/>
        </p:nvSpPr>
        <p:spPr>
          <a:xfrm>
            <a:off x="768640" y="2620000"/>
            <a:ext cx="5010000" cy="32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https://...onrender.com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/methods/deferred/abc123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/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An entirely ordinary https link —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no scheme, no verification, nothing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claimed on either platform at all.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/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App checks on first launch: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RegExp(r'/methods/deferred/([\w-]+)')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.firstMatch(clipboardText)</a:t>
            </a:r>
          </a:p>
        </p:txBody>
      </p:sp>
      <p:sp>
        <p:nvSpPr>
          <p:cNvPr id="118" name="Box"/>
          <p:cNvSpPr/>
          <p:nvPr/>
        </p:nvSpPr>
        <p:spPr>
          <a:xfrm>
            <a:off x="6193360" y="2100000"/>
            <a:ext cx="5450000" cy="3900000"/>
          </a:xfrm>
          <a:prstGeom prst="roundRect">
            <a:avLst>
              <a:gd name="adj" fmla="val 30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9" name="TB"/>
          <p:cNvSpPr/>
          <p:nvPr/>
        </p:nvSpPr>
        <p:spPr>
          <a:xfrm>
            <a:off x="6393360" y="2230000"/>
            <a:ext cx="505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</a:rPr>
              <a:t>What this means</a:t>
            </a:r>
          </a:p>
        </p:txBody>
      </p:sp>
      <p:sp>
        <p:nvSpPr>
          <p:cNvPr id="120" name="TB"/>
          <p:cNvSpPr/>
          <p:nvPr/>
        </p:nvSpPr>
        <p:spPr>
          <a:xfrm>
            <a:off x="6393360" y="2560000"/>
            <a:ext cx="5050000" cy="3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Real deferred linking relies on the App/Play Store carrying a click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identifier through installation — only possible for a published app.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This simulates the same result: the webpage copies this same link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to the clipboard before "install," and the app reads it back on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first launch — no store involved, so nothing about the link matters.</a:t>
            </a:r>
          </a:p>
        </p:txBody>
      </p:sp>
      <p:sp>
        <p:nvSpPr>
          <p:cNvPr id="121" name="TB"/>
          <p:cNvSpPr/>
          <p:nvPr/>
        </p:nvSpPr>
        <p:spPr>
          <a:xfrm>
            <a:off x="548640" y="6150000"/>
            <a:ext cx="1109472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0B5D3B"/>
                </a:solidFill>
                <a:latin typeface="Calibri" pitchFamily="34" charset="0"/>
              </a:rPr>
              <a:t>Tested live on both a real Android device and a real iPhone: correct token recovered from the clipboard both times.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SGQR-Style Deep Linking Simulation</dc:title>
  <dc:subject>PptxGenJS Presentation</dc:subject>
  <dc:creator>SGQR Deep Link Demo</dc:creator>
  <cp:lastModifiedBy>SGQR Deep Link Demo</cp:lastModifiedBy>
  <cp:revision>1</cp:revision>
  <dcterms:created xsi:type="dcterms:W3CDTF">2026-07-16T01:33:30Z</dcterms:created>
  <dcterms:modified xsi:type="dcterms:W3CDTF">2026-07-16T01:33:30Z</dcterms:modified>
</cp:coreProperties>
</file>