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22"/>
    <p:sldId id="257" r:id="rId3"/>
    <p:sldId id="258" r:id="rId4"/>
    <p:sldId id="259" r:id="rId5"/>
    <p:sldId id="270" r:id="rId21"/>
    <p:sldId id="260" r:id="rId6"/>
    <p:sldId id="261" r:id="rId7"/>
    <p:sldId id="262" r:id="rId8"/>
    <p:sldId id="263" r:id="rId9"/>
    <p:sldId id="264" r:id="rId10"/>
    <p:sldId id="265" r:id="rId11"/>
    <p:sldId id="272" r:id="rId23"/>
    <p:sldId id="273" r:id="rId24"/>
    <p:sldId id="274" r:id="rId25"/>
    <p:sldId id="275" r:id="rId26"/>
    <p:sldId id="276" r:id="rId27"/>
    <p:sldId id="267" r:id="rId18"/>
    <p:sldId id="269" r:id="rId20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  <Relationship Id="rId24" Type="http://schemas.openxmlformats.org/officeDocument/2006/relationships/slide" Target="slides/slide18.xml"/>
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4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5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6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7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8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9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0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21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Cross-Platform Verification: Confirmed Live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was also installed on the "wrong" platform to confirm the negative case</a:t>
            </a:r>
          </a:p>
        </p:txBody>
      </p:sp>
      <p:sp>
        <p:nvSpPr>
          <p:cNvPr id="39" name="THead"/>
          <p:cNvSpPr/>
          <p:nvPr/>
        </p:nvSpPr>
        <p:spPr>
          <a:xfrm>
            <a:off x="548640" y="1750000"/>
            <a:ext cx="26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40" name="THead"/>
          <p:cNvSpPr/>
          <p:nvPr/>
        </p:nvSpPr>
        <p:spPr>
          <a:xfrm>
            <a:off x="3148640" y="1750000"/>
            <a:ext cx="47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Android</a:t>
            </a:r>
          </a:p>
        </p:txBody>
      </p:sp>
      <p:sp>
        <p:nvSpPr>
          <p:cNvPr id="41" name="THead"/>
          <p:cNvSpPr/>
          <p:nvPr/>
        </p:nvSpPr>
        <p:spPr>
          <a:xfrm>
            <a:off x="7848640" y="1750000"/>
            <a:ext cx="47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iOS</a:t>
            </a:r>
          </a:p>
        </p:txBody>
      </p:sp>
      <p:sp>
        <p:nvSpPr>
          <p:cNvPr id="42" name="TCell"/>
          <p:cNvSpPr/>
          <p:nvPr/>
        </p:nvSpPr>
        <p:spPr>
          <a:xfrm>
            <a:off x="548640" y="22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1 — App Links</a:t>
            </a:r>
          </a:p>
        </p:txBody>
      </p:sp>
      <p:sp>
        <p:nvSpPr>
          <p:cNvPr id="43" name="TCell"/>
          <p:cNvSpPr/>
          <p:nvPr/>
        </p:nvSpPr>
        <p:spPr>
          <a:xfrm>
            <a:off x="3148640" y="22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44" name="TCell"/>
          <p:cNvSpPr/>
          <p:nvPr/>
        </p:nvSpPr>
        <p:spPr>
          <a:xfrm>
            <a:off x="7848640" y="22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45" name="TCell"/>
          <p:cNvSpPr/>
          <p:nvPr/>
        </p:nvSpPr>
        <p:spPr>
          <a:xfrm>
            <a:off x="548640" y="29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2 — Universal Links</a:t>
            </a:r>
          </a:p>
        </p:txBody>
      </p:sp>
      <p:sp>
        <p:nvSpPr>
          <p:cNvPr id="46" name="TCell"/>
          <p:cNvSpPr/>
          <p:nvPr/>
        </p:nvSpPr>
        <p:spPr>
          <a:xfrm>
            <a:off x="3148640" y="29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47" name="TCell"/>
          <p:cNvSpPr/>
          <p:nvPr/>
        </p:nvSpPr>
        <p:spPr>
          <a:xfrm>
            <a:off x="7848640" y="295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48" name="TCell"/>
          <p:cNvSpPr/>
          <p:nvPr/>
        </p:nvSpPr>
        <p:spPr>
          <a:xfrm>
            <a:off x="548640" y="36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3 — Smart Banner</a:t>
            </a:r>
          </a:p>
        </p:txBody>
      </p:sp>
      <p:sp>
        <p:nvSpPr>
          <p:cNvPr id="49" name="TCell"/>
          <p:cNvSpPr/>
          <p:nvPr/>
        </p:nvSpPr>
        <p:spPr>
          <a:xfrm>
            <a:off x="3148640" y="36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the app is never involved</a:t>
            </a:r>
          </a:p>
        </p:txBody>
      </p:sp>
      <p:sp>
        <p:nvSpPr>
          <p:cNvPr id="50" name="TCell"/>
          <p:cNvSpPr/>
          <p:nvPr/>
        </p:nvSpPr>
        <p:spPr>
          <a:xfrm>
            <a:off x="7848640" y="365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51" name="TCell"/>
          <p:cNvSpPr/>
          <p:nvPr/>
        </p:nvSpPr>
        <p:spPr>
          <a:xfrm>
            <a:off x="548640" y="43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4 — Explicit Intent</a:t>
            </a:r>
          </a:p>
        </p:txBody>
      </p:sp>
      <p:sp>
        <p:nvSpPr>
          <p:cNvPr id="52" name="TCell"/>
          <p:cNvSpPr/>
          <p:nvPr/>
        </p:nvSpPr>
        <p:spPr>
          <a:xfrm>
            <a:off x="3148640" y="43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53" name="TCell"/>
          <p:cNvSpPr/>
          <p:nvPr/>
        </p:nvSpPr>
        <p:spPr>
          <a:xfrm>
            <a:off x="7848640" y="43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the app is never involved</a:t>
            </a:r>
          </a:p>
        </p:txBody>
      </p:sp>
      <p:sp>
        <p:nvSpPr>
          <p:cNvPr id="54" name="TCell"/>
          <p:cNvSpPr/>
          <p:nvPr/>
        </p:nvSpPr>
        <p:spPr>
          <a:xfrm>
            <a:off x="548640" y="50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5 — Deferred Linking</a:t>
            </a:r>
          </a:p>
        </p:txBody>
      </p:sp>
      <p:sp>
        <p:nvSpPr>
          <p:cNvPr id="55" name="TCell"/>
          <p:cNvSpPr/>
          <p:nvPr/>
        </p:nvSpPr>
        <p:spPr>
          <a:xfrm>
            <a:off x="3148640" y="50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</a:t>
            </a:r>
          </a:p>
        </p:txBody>
      </p:sp>
      <p:sp>
        <p:nvSpPr>
          <p:cNvPr id="56" name="TCell"/>
          <p:cNvSpPr/>
          <p:nvPr/>
        </p:nvSpPr>
        <p:spPr>
          <a:xfrm>
            <a:off x="7848640" y="50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 — identical to Android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hyUnregister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Why We Chose an Unregistered Link</a:t>
            </a:r>
          </a:p>
        </p:txBody>
      </p:sp>
      <p:sp>
        <p:nvSpPr>
          <p:cNvPr id="4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The deciding factor: it produces the same user flow on both platforms</a:t>
            </a:r>
          </a:p>
        </p:txBody>
      </p:sp>
      <p:sp>
        <p:nvSpPr>
          <p:cNvPr id="43" name="Box"/>
          <p:cNvSpPr/>
          <p:nvPr/>
        </p:nvSpPr>
        <p:spPr>
          <a:xfrm>
            <a:off x="548640" y="1650000"/>
            <a:ext cx="5450000" cy="2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" name="TB"/>
          <p:cNvSpPr/>
          <p:nvPr/>
        </p:nvSpPr>
        <p:spPr>
          <a:xfrm>
            <a:off x="74864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Android</a:t>
            </a:r>
          </a:p>
        </p:txBody>
      </p:sp>
      <p:sp>
        <p:nvSpPr>
          <p:cNvPr id="45" name="TB"/>
          <p:cNvSpPr/>
          <p:nvPr/>
        </p:nvSpPr>
        <p:spPr>
          <a:xfrm>
            <a:off x="748640" y="2110000"/>
            <a:ext cx="5050000" cy="1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A normal https:// link.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Plus one shared custom scheme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(sgqrpay://) all 3 bank apps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register — no browser can claim it.</a:t>
            </a:r>
          </a:p>
        </p:txBody>
      </p:sp>
      <p:sp>
        <p:nvSpPr>
          <p:cNvPr id="46" name="Box"/>
          <p:cNvSpPr/>
          <p:nvPr/>
        </p:nvSpPr>
        <p:spPr>
          <a:xfrm>
            <a:off x="6193360" y="1650000"/>
            <a:ext cx="5450000" cy="2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TB"/>
          <p:cNvSpPr/>
          <p:nvPr/>
        </p:nvSpPr>
        <p:spPr>
          <a:xfrm>
            <a:off x="6393360" y="178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iOS</a:t>
            </a:r>
          </a:p>
        </p:txBody>
      </p:sp>
      <p:sp>
        <p:nvSpPr>
          <p:cNvPr id="48" name="TB"/>
          <p:cNvSpPr/>
          <p:nvPr/>
        </p:nvSpPr>
        <p:spPr>
          <a:xfrm>
            <a:off x="6393360" y="2110000"/>
            <a:ext cx="5050000" cy="1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The same normal https:// link.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Plus each bank's own individual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custom scheme (bankademo://,</a:t>
            </a:r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</a:rPr>
              <a:t>bankbdemo://, bankcdemo://).</a:t>
            </a:r>
          </a:p>
        </p:txBody>
      </p:sp>
      <p:sp>
        <p:nvSpPr>
          <p:cNvPr id="49" name="Box"/>
          <p:cNvSpPr/>
          <p:nvPr/>
        </p:nvSpPr>
        <p:spPr>
          <a:xfrm>
            <a:off x="548640" y="4150000"/>
            <a:ext cx="11094720" cy="15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TB"/>
          <p:cNvSpPr/>
          <p:nvPr/>
        </p:nvSpPr>
        <p:spPr>
          <a:xfrm>
            <a:off x="748640" y="428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The point</a:t>
            </a:r>
          </a:p>
        </p:txBody>
      </p:sp>
      <p:sp>
        <p:nvSpPr>
          <p:cNvPr id="51" name="TB"/>
          <p:cNvSpPr/>
          <p:nvPr/>
        </p:nvSpPr>
        <p:spPr>
          <a:xfrm>
            <a:off x="748640" y="4610000"/>
            <a:ext cx="10694720" cy="9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Neither platform's link is ever verified or registered with the OS. That single choice is what makes both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flows land in the same place: the user always ends up choosing a bank, on both phones, from one QR code —</a:t>
            </a:r>
          </a:p>
          <a:p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</a:rPr>
              <a:t>instead of two platforms behaving in two unrelated ways that would each need separate testing and upkeep.</a:t>
            </a:r>
          </a:p>
        </p:txBody>
      </p:sp>
      <p:sp>
        <p:nvSpPr>
          <p:cNvPr id="52" name="Box"/>
          <p:cNvSpPr/>
          <p:nvPr/>
        </p:nvSpPr>
        <p:spPr>
          <a:xfrm>
            <a:off x="548640" y="5850000"/>
            <a:ext cx="11094720" cy="900000"/>
          </a:xfrm>
          <a:prstGeom prst="roundRect">
            <a:avLst>
              <a:gd name="adj" fmla="val 3000"/>
            </a:avLst>
          </a:prstGeom>
          <a:solidFill>
            <a:srgbClr val="FBEAE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TB"/>
          <p:cNvSpPr/>
          <p:nvPr/>
        </p:nvSpPr>
        <p:spPr>
          <a:xfrm>
            <a:off x="748640" y="598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A1F1F"/>
                </a:solidFill>
                <a:latin typeface="Calibri" pitchFamily="34" charset="0"/>
              </a:rPr>
              <a:t>The trade-off</a:t>
            </a:r>
          </a:p>
        </p:txBody>
      </p:sp>
      <p:sp>
        <p:nvSpPr>
          <p:cNvPr id="54" name="TB"/>
          <p:cNvSpPr/>
          <p:nvPr/>
        </p:nvSpPr>
        <p:spPr>
          <a:xfrm>
            <a:off x="748640" y="6310000"/>
            <a:ext cx="106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</a:rPr>
              <a:t>This is a deliberate choice, not a limitation avoided by accident — Bank 1, 2, and 4 in this project all prove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Calibri" pitchFamily="34" charset="0"/>
              </a:rPr>
              <a:t>that registering/verifying a link is possible; it just produces a different (single-app, no-choice) outcome.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vervie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Six Ways to Resolve a Deep Link</a:t>
            </a:r>
          </a:p>
        </p:txBody>
      </p:sp>
      <p:sp>
        <p:nvSpPr>
          <p:cNvPr id="1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This project builds and tests every one of them — not just the one Bank A/B/C uses</a:t>
            </a:r>
          </a:p>
        </p:txBody>
      </p:sp>
      <p:sp>
        <p:nvSpPr>
          <p:cNvPr id="13" name="H"/>
          <p:cNvSpPr/>
          <p:nvPr/>
        </p:nvSpPr>
        <p:spPr>
          <a:xfrm>
            <a:off x="548640" y="1650000"/>
            <a:ext cx="9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#</a:t>
            </a:r>
          </a:p>
        </p:txBody>
      </p:sp>
      <p:sp>
        <p:nvSpPr>
          <p:cNvPr id="14" name="H"/>
          <p:cNvSpPr/>
          <p:nvPr/>
        </p:nvSpPr>
        <p:spPr>
          <a:xfrm>
            <a:off x="1448640" y="1650000"/>
            <a:ext cx="42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Method</a:t>
            </a:r>
          </a:p>
        </p:txBody>
      </p:sp>
      <p:sp>
        <p:nvSpPr>
          <p:cNvPr id="15" name="H"/>
          <p:cNvSpPr/>
          <p:nvPr/>
        </p:nvSpPr>
        <p:spPr>
          <a:xfrm>
            <a:off x="5648640" y="1650000"/>
            <a:ext cx="2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Used by</a:t>
            </a:r>
          </a:p>
        </p:txBody>
      </p:sp>
      <p:sp>
        <p:nvSpPr>
          <p:cNvPr id="16" name="H"/>
          <p:cNvSpPr/>
          <p:nvPr/>
        </p:nvSpPr>
        <p:spPr>
          <a:xfrm>
            <a:off x="7648640" y="1650000"/>
            <a:ext cx="4000000" cy="48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In one line</a:t>
            </a:r>
          </a:p>
        </p:txBody>
      </p:sp>
      <p:sp>
        <p:nvSpPr>
          <p:cNvPr id="17" name="C"/>
          <p:cNvSpPr/>
          <p:nvPr/>
        </p:nvSpPr>
        <p:spPr>
          <a:xfrm>
            <a:off x="548640" y="21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0</a:t>
            </a:r>
          </a:p>
        </p:txBody>
      </p:sp>
      <p:sp>
        <p:nvSpPr>
          <p:cNvPr id="18" name="C"/>
          <p:cNvSpPr/>
          <p:nvPr/>
        </p:nvSpPr>
        <p:spPr>
          <a:xfrm>
            <a:off x="1448640" y="21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Unregistered link</a:t>
            </a:r>
          </a:p>
        </p:txBody>
      </p:sp>
      <p:sp>
        <p:nvSpPr>
          <p:cNvPr id="19" name="C"/>
          <p:cNvSpPr/>
          <p:nvPr/>
        </p:nvSpPr>
        <p:spPr>
          <a:xfrm>
            <a:off x="5648640" y="21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A / B / C</a:t>
            </a:r>
          </a:p>
        </p:txBody>
      </p:sp>
      <p:sp>
        <p:nvSpPr>
          <p:cNvPr id="20" name="C"/>
          <p:cNvSpPr/>
          <p:nvPr/>
        </p:nvSpPr>
        <p:spPr>
          <a:xfrm>
            <a:off x="7648640" y="21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No verification — the chooser/picker IS the point</a:t>
            </a:r>
          </a:p>
        </p:txBody>
      </p:sp>
      <p:sp>
        <p:nvSpPr>
          <p:cNvPr id="21" name="C"/>
          <p:cNvSpPr/>
          <p:nvPr/>
        </p:nvSpPr>
        <p:spPr>
          <a:xfrm>
            <a:off x="548640" y="28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2" name="C"/>
          <p:cNvSpPr/>
          <p:nvPr/>
        </p:nvSpPr>
        <p:spPr>
          <a:xfrm>
            <a:off x="1448640" y="28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Android App Links</a:t>
            </a:r>
          </a:p>
        </p:txBody>
      </p:sp>
      <p:sp>
        <p:nvSpPr>
          <p:cNvPr id="23" name="C"/>
          <p:cNvSpPr/>
          <p:nvPr/>
        </p:nvSpPr>
        <p:spPr>
          <a:xfrm>
            <a:off x="5648640" y="28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1</a:t>
            </a:r>
          </a:p>
        </p:txBody>
      </p:sp>
      <p:sp>
        <p:nvSpPr>
          <p:cNvPr id="24" name="C"/>
          <p:cNvSpPr/>
          <p:nvPr/>
        </p:nvSpPr>
        <p:spPr>
          <a:xfrm>
            <a:off x="7648640" y="28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OS proves domain ownership — chooser disappears</a:t>
            </a:r>
          </a:p>
        </p:txBody>
      </p:sp>
      <p:sp>
        <p:nvSpPr>
          <p:cNvPr id="25" name="C"/>
          <p:cNvSpPr/>
          <p:nvPr/>
        </p:nvSpPr>
        <p:spPr>
          <a:xfrm>
            <a:off x="548640" y="35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6" name="C"/>
          <p:cNvSpPr/>
          <p:nvPr/>
        </p:nvSpPr>
        <p:spPr>
          <a:xfrm>
            <a:off x="1448640" y="35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Verified iOS Universal Links</a:t>
            </a:r>
          </a:p>
        </p:txBody>
      </p:sp>
      <p:sp>
        <p:nvSpPr>
          <p:cNvPr id="27" name="C"/>
          <p:cNvSpPr/>
          <p:nvPr/>
        </p:nvSpPr>
        <p:spPr>
          <a:xfrm>
            <a:off x="5648640" y="35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2</a:t>
            </a:r>
          </a:p>
        </p:txBody>
      </p:sp>
      <p:sp>
        <p:nvSpPr>
          <p:cNvPr id="28" name="C"/>
          <p:cNvSpPr/>
          <p:nvPr/>
        </p:nvSpPr>
        <p:spPr>
          <a:xfrm>
            <a:off x="7648640" y="35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Same idea on iOS — blocked by a paid-account requirement</a:t>
            </a:r>
          </a:p>
        </p:txBody>
      </p:sp>
      <p:sp>
        <p:nvSpPr>
          <p:cNvPr id="29" name="C"/>
          <p:cNvSpPr/>
          <p:nvPr/>
        </p:nvSpPr>
        <p:spPr>
          <a:xfrm>
            <a:off x="548640" y="42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" name="C"/>
          <p:cNvSpPr/>
          <p:nvPr/>
        </p:nvSpPr>
        <p:spPr>
          <a:xfrm>
            <a:off x="1448640" y="42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iOS Smart App Banner</a:t>
            </a:r>
          </a:p>
        </p:txBody>
      </p:sp>
      <p:sp>
        <p:nvSpPr>
          <p:cNvPr id="31" name="C"/>
          <p:cNvSpPr/>
          <p:nvPr/>
        </p:nvSpPr>
        <p:spPr>
          <a:xfrm>
            <a:off x="5648640" y="42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3</a:t>
            </a:r>
          </a:p>
        </p:txBody>
      </p:sp>
      <p:sp>
        <p:nvSpPr>
          <p:cNvPr id="32" name="C"/>
          <p:cNvSpPr/>
          <p:nvPr/>
        </p:nvSpPr>
        <p:spPr>
          <a:xfrm>
            <a:off x="7648640" y="42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 webpage hint, not a verified link — blocked by App Store listing</a:t>
            </a:r>
          </a:p>
        </p:txBody>
      </p:sp>
      <p:sp>
        <p:nvSpPr>
          <p:cNvPr id="33" name="C"/>
          <p:cNvSpPr/>
          <p:nvPr/>
        </p:nvSpPr>
        <p:spPr>
          <a:xfrm>
            <a:off x="548640" y="4930000"/>
            <a:ext cx="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4" name="C"/>
          <p:cNvSpPr/>
          <p:nvPr/>
        </p:nvSpPr>
        <p:spPr>
          <a:xfrm>
            <a:off x="1448640" y="4930000"/>
            <a:ext cx="42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Android Explicit-Package Intent</a:t>
            </a:r>
          </a:p>
        </p:txBody>
      </p:sp>
      <p:sp>
        <p:nvSpPr>
          <p:cNvPr id="35" name="C"/>
          <p:cNvSpPr/>
          <p:nvPr/>
        </p:nvSpPr>
        <p:spPr>
          <a:xfrm>
            <a:off x="5648640" y="4930000"/>
            <a:ext cx="2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4</a:t>
            </a:r>
          </a:p>
        </p:txBody>
      </p:sp>
      <p:sp>
        <p:nvSpPr>
          <p:cNvPr id="36" name="C"/>
          <p:cNvSpPr/>
          <p:nvPr/>
        </p:nvSpPr>
        <p:spPr>
          <a:xfrm>
            <a:off x="7648640" y="4930000"/>
            <a:ext cx="40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sender just states the answer — no verification needed</a:t>
            </a:r>
          </a:p>
        </p:txBody>
      </p:sp>
      <p:sp>
        <p:nvSpPr>
          <p:cNvPr id="37" name="C"/>
          <p:cNvSpPr/>
          <p:nvPr/>
        </p:nvSpPr>
        <p:spPr>
          <a:xfrm>
            <a:off x="548640" y="5630000"/>
            <a:ext cx="9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8" name="C"/>
          <p:cNvSpPr/>
          <p:nvPr/>
        </p:nvSpPr>
        <p:spPr>
          <a:xfrm>
            <a:off x="1448640" y="5630000"/>
            <a:ext cx="42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</a:rPr>
              <a:t>Deferred Deep Linking</a:t>
            </a:r>
          </a:p>
        </p:txBody>
      </p:sp>
      <p:sp>
        <p:nvSpPr>
          <p:cNvPr id="39" name="C"/>
          <p:cNvSpPr/>
          <p:nvPr/>
        </p:nvSpPr>
        <p:spPr>
          <a:xfrm>
            <a:off x="5648640" y="5630000"/>
            <a:ext cx="2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Bank 5</a:t>
            </a:r>
          </a:p>
        </p:txBody>
      </p:sp>
      <p:sp>
        <p:nvSpPr>
          <p:cNvPr id="40" name="C"/>
          <p:cNvSpPr/>
          <p:nvPr/>
        </p:nvSpPr>
        <p:spPr>
          <a:xfrm>
            <a:off x="7648640" y="5630000"/>
            <a:ext cx="4000000" cy="700000"/>
          </a:xfrm>
          <a:prstGeom prst="rect">
            <a:avLst/>
          </a:prstGeom>
          <a:solidFill>
            <a:srgbClr val="F5F8FA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Carries the destination across an app install, via clipboard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1: Verified Android App Links</a:t>
            </a:r>
          </a:p>
        </p:txBody>
      </p:sp>
      <p:sp>
        <p:nvSpPr>
          <p:cNvPr id="56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Proving domain ownership at install time removes the chooser entirely</a:t>
            </a:r>
          </a:p>
        </p:txBody>
      </p:sp>
      <p:sp>
        <p:nvSpPr>
          <p:cNvPr id="57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59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AndroidManifest.xml</a:t>
            </a:r>
          </a:p>
        </p:txBody>
      </p:sp>
      <p:sp>
        <p:nvSpPr>
          <p:cNvPr id="61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&lt;intent-filter android:autoVerify="true"&gt;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&lt;action android:name=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"android.intent.action.VIEW"/&gt;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&lt;data android:scheme="https"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android:host="...onrender.com"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android:pathPrefix="/methods/applinks"/&gt;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&lt;/intent-filter&gt;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/.well-known/assetlinks.json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"package_name": "com.sgqrdemo.methodapplinks"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"sha256_cert_fingerprints": ["D7:87:...:1E"]</a:t>
            </a:r>
          </a:p>
        </p:txBody>
      </p:sp>
      <p:sp>
        <p:nvSpPr>
          <p:cNvPr id="62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64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checks this file against the app's real signing certificate at install time.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If it matches, Android treats Bank 1 as the sole proven owner of this path.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 link then opens Bank 1 directly — no browser interstitial, no chooser —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even with every other bank app installed on the same device.</a:t>
            </a:r>
          </a:p>
        </p:txBody>
      </p:sp>
      <p:sp>
        <p:nvSpPr>
          <p:cNvPr id="65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2: Verified iOS Universal Links</a:t>
            </a:r>
          </a:p>
        </p:txBody>
      </p:sp>
      <p:sp>
        <p:nvSpPr>
          <p:cNvPr id="67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The iOS equivalent of Bank 1 — intended to work the same way, blocked by an account requirement</a:t>
            </a:r>
          </a:p>
        </p:txBody>
      </p:sp>
      <p:sp>
        <p:nvSpPr>
          <p:cNvPr id="68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70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1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Runner.entitlements</a:t>
            </a:r>
          </a:p>
        </p:txBody>
      </p:sp>
      <p:sp>
        <p:nvSpPr>
          <p:cNvPr id="72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&lt;key&gt;com.apple.developer.associated-domains&lt;/key&gt;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&lt;string&gt;applinks:...onrender.com&lt;/string&gt;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&lt;/array&gt;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Hosted at /.well-known/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  apple-app-site-association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"appID": "HBT73QTC22.com.sgqrdemo.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       methodUniversallinks"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"paths": ["/methods/universallinks/*"]</a:t>
            </a:r>
          </a:p>
        </p:txBody>
      </p:sp>
      <p:sp>
        <p:nvSpPr>
          <p:cNvPr id="73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75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iOS is meant to check this file the same way Android checks assetlinks.json,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then hand the link straight to Bank 2 with no Safari, no prompt at all.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Confirmed present in the signed binary via codesign — the configuration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itself is correct and deployed exactly as intended.</a:t>
            </a:r>
          </a:p>
        </p:txBody>
      </p:sp>
      <p:sp>
        <p:nvSpPr>
          <p:cNvPr id="76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Tested on a real iPhone: iOS never completed verification — every link fell through to Safari with a manual banner instead of a silent handoff.</a:t>
            </a:r>
          </a:p>
        </p:txBody>
      </p:sp>
      <p:sp>
        <p:nvSpPr>
          <p:cNvPr id="77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8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79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Full verification requires a paid Apple Developer Program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membership ($99/year). A free Apple ID can sign the app and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include the entitlement, but iOS never finishes verifying it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confirmed by the absence of the "Open Links" Settings entry.</a:t>
            </a:r>
          </a:p>
        </p:txBody>
      </p:sp>
      <p:sp>
        <p:nvSpPr>
          <p:cNvPr id="80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82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Enroll the same Apple ID in the paid Apple Developer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Program, rebuild and reinstall Bank 2 — no code changes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needed, since the entitlement and hosting are already correct.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3: iOS Smart App Banner</a:t>
            </a:r>
          </a:p>
        </p:txBody>
      </p:sp>
      <p:sp>
        <p:nvSpPr>
          <p:cNvPr id="84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A much lighter-weight hint to Safari — no entitlement at all, but it needs a real App Store listing</a:t>
            </a:r>
          </a:p>
        </p:txBody>
      </p:sp>
      <p:sp>
        <p:nvSpPr>
          <p:cNvPr id="85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3F2F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6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47A1"/>
                </a:solidFill>
                <a:latin typeface="Calibri" pitchFamily="34" charset="0"/>
              </a:rPr>
              <a:t>iOS only</a:t>
            </a:r>
          </a:p>
        </p:txBody>
      </p:sp>
      <p:sp>
        <p:nvSpPr>
          <p:cNvPr id="87" name="Box"/>
          <p:cNvSpPr/>
          <p:nvPr/>
        </p:nvSpPr>
        <p:spPr>
          <a:xfrm>
            <a:off x="548640" y="2100000"/>
            <a:ext cx="5450000" cy="235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8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pay.html &lt;head&gt;</a:t>
            </a:r>
          </a:p>
        </p:txBody>
      </p:sp>
      <p:sp>
        <p:nvSpPr>
          <p:cNvPr id="89" name="TB"/>
          <p:cNvSpPr/>
          <p:nvPr/>
        </p:nvSpPr>
        <p:spPr>
          <a:xfrm>
            <a:off x="768640" y="2620000"/>
            <a:ext cx="5010000" cy="17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&lt;meta name="apple-itunes-app"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content="app-id=0000000000,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app-argument=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smartbannerdemo://pay?token=..."&gt;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entitlement, no hosted verification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file at all — just this one tag.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Tapping "OPEN" (if the app is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installed) delivers app-argument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the same way a custom scheme would.</a:t>
            </a:r>
          </a:p>
        </p:txBody>
      </p:sp>
      <p:sp>
        <p:nvSpPr>
          <p:cNvPr id="90" name="Box"/>
          <p:cNvSpPr/>
          <p:nvPr/>
        </p:nvSpPr>
        <p:spPr>
          <a:xfrm>
            <a:off x="6193360" y="2100000"/>
            <a:ext cx="5450000" cy="235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92" name="TB"/>
          <p:cNvSpPr/>
          <p:nvPr/>
        </p:nvSpPr>
        <p:spPr>
          <a:xfrm>
            <a:off x="6393360" y="2560000"/>
            <a:ext cx="5050000" cy="177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tag alone is enough for Safari to show a banner offering to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open or install the app — dramatically simpler than Universal Links.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But Safari validates app-id against Apple's own servers before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showing anything, checking it matches a real App Store listing.</a:t>
            </a:r>
          </a:p>
        </p:txBody>
      </p:sp>
      <p:sp>
        <p:nvSpPr>
          <p:cNvPr id="93" name="TB"/>
          <p:cNvSpPr/>
          <p:nvPr/>
        </p:nvSpPr>
        <p:spPr>
          <a:xfrm>
            <a:off x="548640" y="460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A5A00"/>
                </a:solidFill>
                <a:latin typeface="Calibri" pitchFamily="34" charset="0"/>
              </a:rPr>
              <a:t>Code and hosting confirmed correct and deployed — the banner itself never renders, because there is nothing to validate against.</a:t>
            </a:r>
          </a:p>
        </p:txBody>
      </p:sp>
      <p:sp>
        <p:nvSpPr>
          <p:cNvPr id="94" name="Box"/>
          <p:cNvSpPr/>
          <p:nvPr/>
        </p:nvSpPr>
        <p:spPr>
          <a:xfrm>
            <a:off x="54864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FFF3E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5" name="TB"/>
          <p:cNvSpPr/>
          <p:nvPr/>
        </p:nvSpPr>
        <p:spPr>
          <a:xfrm>
            <a:off x="74864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</a:rPr>
              <a:t>Why it's blocked</a:t>
            </a:r>
          </a:p>
        </p:txBody>
      </p:sp>
      <p:sp>
        <p:nvSpPr>
          <p:cNvPr id="96" name="TB"/>
          <p:cNvSpPr/>
          <p:nvPr/>
        </p:nvSpPr>
        <p:spPr>
          <a:xfrm>
            <a:off x="74864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Safari checks the app-id against a real, published App Store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listing before ever rendering the banner — it validates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server-side, not just whether the tag is present on the page.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This demo app is sideloaded and was never published.</a:t>
            </a:r>
          </a:p>
        </p:txBody>
      </p:sp>
      <p:sp>
        <p:nvSpPr>
          <p:cNvPr id="97" name="Box"/>
          <p:cNvSpPr/>
          <p:nvPr/>
        </p:nvSpPr>
        <p:spPr>
          <a:xfrm>
            <a:off x="6246000" y="5000000"/>
            <a:ext cx="5397360" cy="1300000"/>
          </a:xfrm>
          <a:prstGeom prst="roundRect">
            <a:avLst>
              <a:gd name="adj" fmla="val 3000"/>
            </a:avLst>
          </a:prstGeom>
          <a:solidFill>
            <a:srgbClr val="E8F5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8" name="TB"/>
          <p:cNvSpPr/>
          <p:nvPr/>
        </p:nvSpPr>
        <p:spPr>
          <a:xfrm>
            <a:off x="6446000" y="5130000"/>
            <a:ext cx="499736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5D3B"/>
                </a:solidFill>
                <a:latin typeface="Calibri" pitchFamily="34" charset="0"/>
              </a:rPr>
              <a:t>What would need to change</a:t>
            </a:r>
          </a:p>
        </p:txBody>
      </p:sp>
      <p:sp>
        <p:nvSpPr>
          <p:cNvPr id="99" name="TB"/>
          <p:cNvSpPr/>
          <p:nvPr/>
        </p:nvSpPr>
        <p:spPr>
          <a:xfrm>
            <a:off x="6446000" y="5460000"/>
            <a:ext cx="4997360" cy="7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Publish Bank 3 to the App Store with a real app-id, then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the exact same tag already deployed here would start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showing the banner with no further code changes.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4: Android Explicit-Package Intent</a:t>
            </a:r>
          </a:p>
        </p:txBody>
      </p:sp>
      <p:sp>
        <p:nvSpPr>
          <p:cNvPr id="101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No verification of any kind — the sender just states the answer</a:t>
            </a:r>
          </a:p>
        </p:txBody>
      </p:sp>
      <p:sp>
        <p:nvSpPr>
          <p:cNvPr id="102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2E7D32"/>
                </a:solidFill>
                <a:latin typeface="Calibri" pitchFamily="34" charset="0"/>
              </a:rPr>
              <a:t>Android only</a:t>
            </a:r>
          </a:p>
        </p:txBody>
      </p:sp>
      <p:sp>
        <p:nvSpPr>
          <p:cNvPr id="104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"Open" link on the page</a:t>
            </a:r>
          </a:p>
        </p:txBody>
      </p:sp>
      <p:sp>
        <p:nvSpPr>
          <p:cNvPr id="106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intent://pay?token=abc123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#Intent;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scheme=explicitintentdemo;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package=com.sgqrdemo.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  method_explicit_intent;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end</a:t>
            </a:r>
          </a:p>
        </p:txBody>
      </p:sp>
      <p:sp>
        <p:nvSpPr>
          <p:cNvPr id="107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8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09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package= names this app's exact package directly inside the link itself.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Android has nothing left to disambiguate — no chooser is possible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when only one app is named, regardless of what else is installed.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Trade-off: only works when whoever generates the link already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knows which app should open it — the opposite of Bank A/B/C's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"any of 3 banks" scenario.</a:t>
            </a:r>
          </a:p>
        </p:txBody>
      </p:sp>
      <p:sp>
        <p:nvSpPr>
          <p:cNvPr id="110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a real Android device: opened directly, zero prompt, correct payload fetched.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Bank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B"/>
          <p:cNvSpPr/>
          <p:nvPr/>
        </p:nvSpPr>
        <p:spPr>
          <a:xfrm>
            <a:off x="548640" y="330000"/>
            <a:ext cx="1109472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</a:rPr>
              <a:t>Bank 5: Deferred Deep Linking</a:t>
            </a:r>
          </a:p>
        </p:txBody>
      </p:sp>
      <p:sp>
        <p:nvSpPr>
          <p:cNvPr id="112" name="TB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9"/>
                </a:solidFill>
                <a:latin typeface="Calibri" pitchFamily="34" charset="0"/>
              </a:rPr>
              <a:t>Carrying a destination across an app install — simulated via the clipboard</a:t>
            </a:r>
          </a:p>
        </p:txBody>
      </p:sp>
      <p:sp>
        <p:nvSpPr>
          <p:cNvPr id="113" name="Box"/>
          <p:cNvSpPr/>
          <p:nvPr/>
        </p:nvSpPr>
        <p:spPr>
          <a:xfrm>
            <a:off x="548640" y="1550000"/>
            <a:ext cx="2600000" cy="420000"/>
          </a:xfrm>
          <a:prstGeom prst="roundRect">
            <a:avLst>
              <a:gd name="adj" fmla="val 15000"/>
            </a:avLst>
          </a:prstGeom>
          <a:solidFill>
            <a:srgbClr val="F3E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B"/>
          <p:cNvSpPr/>
          <p:nvPr/>
        </p:nvSpPr>
        <p:spPr>
          <a:xfrm>
            <a:off x="548640" y="1550000"/>
            <a:ext cx="2600000" cy="42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6A1B9A"/>
                </a:solidFill>
                <a:latin typeface="Calibri" pitchFamily="34" charset="0"/>
              </a:rPr>
              <a:t>Android + iOS</a:t>
            </a:r>
          </a:p>
        </p:txBody>
      </p:sp>
      <p:sp>
        <p:nvSpPr>
          <p:cNvPr id="115" name="Box"/>
          <p:cNvSpPr/>
          <p:nvPr/>
        </p:nvSpPr>
        <p:spPr>
          <a:xfrm>
            <a:off x="548640" y="2100000"/>
            <a:ext cx="5450000" cy="3900000"/>
          </a:xfrm>
          <a:prstGeom prst="roundRect">
            <a:avLst>
              <a:gd name="adj" fmla="val 3500"/>
            </a:avLst>
          </a:prstGeom>
          <a:solidFill>
            <a:srgbClr val="21295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6" name="TB"/>
          <p:cNvSpPr/>
          <p:nvPr/>
        </p:nvSpPr>
        <p:spPr>
          <a:xfrm>
            <a:off x="768640" y="2250000"/>
            <a:ext cx="5010000" cy="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Calibri" pitchFamily="34" charset="0"/>
              </a:rPr>
              <a:t>The link itself</a:t>
            </a:r>
          </a:p>
        </p:txBody>
      </p:sp>
      <p:sp>
        <p:nvSpPr>
          <p:cNvPr id="117" name="TB"/>
          <p:cNvSpPr/>
          <p:nvPr/>
        </p:nvSpPr>
        <p:spPr>
          <a:xfrm>
            <a:off x="768640" y="2620000"/>
            <a:ext cx="5010000" cy="32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https://...onrender.com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/methods/deferred/abc123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An entirely ordinary https link —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no scheme, no verification, nothing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claimed on either platform at all.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/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# App checks on first launch: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RegExp(r'/methods/deferred/([\w-]+)')</a:t>
            </a:r>
          </a:p>
          <a:p>
            <a:pPr indent="0" marL="0">
              <a:buNone/>
            </a:pPr>
            <a:r>
              <a:rPr lang="en-US" sz="1050" dirty="0">
                <a:solidFill>
                  <a:srgbClr val="E8ECEF"/>
                </a:solidFill>
                <a:latin typeface="Courier New" pitchFamily="34" charset="0"/>
              </a:rPr>
              <a:t>  .firstMatch(clipboardText)</a:t>
            </a:r>
          </a:p>
        </p:txBody>
      </p:sp>
      <p:sp>
        <p:nvSpPr>
          <p:cNvPr id="118" name="Box"/>
          <p:cNvSpPr/>
          <p:nvPr/>
        </p:nvSpPr>
        <p:spPr>
          <a:xfrm>
            <a:off x="6193360" y="2100000"/>
            <a:ext cx="5450000" cy="3900000"/>
          </a:xfrm>
          <a:prstGeom prst="roundRect">
            <a:avLst>
              <a:gd name="adj" fmla="val 3000"/>
            </a:avLst>
          </a:prstGeom>
          <a:solidFill>
            <a:srgbClr val="F5F8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B"/>
          <p:cNvSpPr/>
          <p:nvPr/>
        </p:nvSpPr>
        <p:spPr>
          <a:xfrm>
            <a:off x="6393360" y="2230000"/>
            <a:ext cx="505000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</a:rPr>
              <a:t>What this means</a:t>
            </a:r>
          </a:p>
        </p:txBody>
      </p:sp>
      <p:sp>
        <p:nvSpPr>
          <p:cNvPr id="120" name="TB"/>
          <p:cNvSpPr/>
          <p:nvPr/>
        </p:nvSpPr>
        <p:spPr>
          <a:xfrm>
            <a:off x="6393360" y="2560000"/>
            <a:ext cx="5050000" cy="3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Real deferred linking relies on the App/Play Store carrying a click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identifier through installation — only possible for a published app.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This simulates the same result: the webpage copies this same link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to the clipboard before "install," and the app reads it back on</a:t>
            </a:r>
          </a:p>
          <a:p>
            <a:pPr indent="0" marL="0"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</a:rPr>
              <a:t>first launch — no store involved, so nothing about the link matters.</a:t>
            </a:r>
          </a:p>
        </p:txBody>
      </p:sp>
      <p:sp>
        <p:nvSpPr>
          <p:cNvPr id="121" name="TB"/>
          <p:cNvSpPr/>
          <p:nvPr/>
        </p:nvSpPr>
        <p:spPr>
          <a:xfrm>
            <a:off x="548640" y="615000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0B5D3B"/>
                </a:solidFill>
                <a:latin typeface="Calibri" pitchFamily="34" charset="0"/>
              </a:rPr>
              <a:t>Tested live on both a real Android device and a real iPhone: correct token recovered from the clipboard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