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2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71" r:id="rId22"/>
    <p:sldId id="272" r:id="rId23"/>
    <p:sldId id="273" r:id="rId24"/>
    <p:sldId id="274" r:id="rId25"/>
    <p:sldId id="275" r:id="rId26"/>
    <p:sldId id="276" r:id="rId27"/>
    <p:sldId id="267" r:id="rId18"/>
    <p:sldId id="269" r:id="rId20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70" r:id="rId21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  <Relationship Id="rId18" Type="http://schemas.openxmlformats.org/officeDocument/2006/relationships/slide" Target="slides/slide12.xml"/>
  
  <Relationship Id="rId20" Type="http://schemas.openxmlformats.org/officeDocument/2006/relationships/slide" Target="slides/slide14.xml"/>
  <Relationship Id="rId21" Type="http://schemas.openxmlformats.org/officeDocument/2006/relationships/slide" Target="slides/slide15.xml"/>
  <Relationship Id="rId22" Type="http://schemas.openxmlformats.org/officeDocument/2006/relationships/slide" Target="slides/slide16.xml"/>
  <Relationship Id="rId23" Type="http://schemas.openxmlformats.org/officeDocument/2006/relationships/slide" Target="slides/slide17.xml"/>
  <Relationship Id="rId24" Type="http://schemas.openxmlformats.org/officeDocument/2006/relationships/slide" Target="slides/slide18.xml"/>
  <Relationship Id="rId25" Type="http://schemas.openxmlformats.org/officeDocument/2006/relationships/slide" Target="slides/slide19.xml"/>
  <Relationship Id="rId26" Type="http://schemas.openxmlformats.org/officeDocument/2006/relationships/slide" Target="slides/slide20.xml"/>
  <Relationship Id="rId27" Type="http://schemas.openxmlformats.org/officeDocument/2006/relationships/slide" Target="slides/slide21.xml"/>
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image" Target="../media/image-4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image" Target="../media/image-6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
<Relationships xmlns="http://schemas.openxmlformats.org/package/2006/relationships"><Relationship Id="rId5" Type="http://schemas.openxmlformats.org/officeDocument/2006/relationships/slideLayout" Target="../slideLayouts/slideLayout1.xml"/></Relationships>

</file>

<file path=ppt/slides/_rels/slide14.xml.rels><?xml version="1.0" encoding="UTF-8" standalone="yes"?>
<Relationships xmlns="http://schemas.openxmlformats.org/package/2006/relationships"><Relationship Id="rId5" Type="http://schemas.openxmlformats.org/officeDocument/2006/relationships/slideLayout" Target="../slideLayouts/slideLayout1.xml"/></Relationships>

</file>

<file path=ppt/slides/_rels/slide15.xml.rels><?xml version="1.0" encoding="UTF-8" standalone="yes"?>
<Relationships xmlns="http://schemas.openxmlformats.org/package/2006/relationships"><Relationship Id="rId5" Type="http://schemas.openxmlformats.org/officeDocument/2006/relationships/slideLayout" Target="../slideLayouts/slideLayout1.xml"/></Relationships>

</file>

<file path=ppt/slides/_rels/slide16.xml.rels><?xml version="1.0" encoding="UTF-8" standalone="yes"?>
<Relationships xmlns="http://schemas.openxmlformats.org/package/2006/relationships"><Relationship Id="rId5" Type="http://schemas.openxmlformats.org/officeDocument/2006/relationships/slideLayout" Target="../slideLayouts/slideLayout1.xml"/></Relationships>

</file>

<file path=ppt/slides/_rels/slide17.xml.rels><?xml version="1.0" encoding="UTF-8" standalone="yes"?>
<Relationships xmlns="http://schemas.openxmlformats.org/package/2006/relationships"><Relationship Id="rId5" Type="http://schemas.openxmlformats.org/officeDocument/2006/relationships/slideLayout" Target="../slideLayouts/slideLayout1.xml"/></Relationships>

</file>

<file path=ppt/slides/_rels/slide18.xml.rels><?xml version="1.0" encoding="UTF-8" standalone="yes"?>
<Relationships xmlns="http://schemas.openxmlformats.org/package/2006/relationships"><Relationship Id="rId5" Type="http://schemas.openxmlformats.org/officeDocument/2006/relationships/slideLayout" Target="../slideLayouts/slideLayout1.xml"/></Relationships>

</file>

<file path=ppt/slides/_rels/slide19.xml.rels><?xml version="1.0" encoding="UTF-8" standalone="yes"?>
<Relationships xmlns="http://schemas.openxmlformats.org/package/2006/relationships"><Relationship Id="rId5" Type="http://schemas.openxmlformats.org/officeDocument/2006/relationships/slideLayout" Target="../slideLayouts/slideLayout1.xml"/></Relationships>

</file>

<file path=ppt/slides/_rels/slide20.xml.rels><?xml version="1.0" encoding="UTF-8" standalone="yes"?>
<Relationships xmlns="http://schemas.openxmlformats.org/package/2006/relationships"><Relationship Id="rId5" Type="http://schemas.openxmlformats.org/officeDocument/2006/relationships/slideLayout" Target="../slideLayouts/slideLayout1.xml"/></Relationships>

</file>

<file path=ppt/slides/_rels/slide21.xml.rels><?xml version="1.0" encoding="UTF-8" standalone="yes"?>
<Relationships xmlns="http://schemas.openxmlformats.org/package/2006/relationships"><Relationship Id="rId5" Type="http://schemas.openxmlformats.org/officeDocument/2006/relationships/slideLayout" Target="../slideLayouts/slideLayout1.xml"/></Relationships>

</file>

<file path=ppt/slides/_rels/slide2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129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0" y="-2011680"/>
            <a:ext cx="5486400" cy="5486400"/>
          </a:xfrm>
          <a:prstGeom prst="ellipse">
            <a:avLst/>
          </a:prstGeom>
          <a:solidFill>
            <a:srgbClr val="065A82">
              <a:alpha val="4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2286000" y="4389120"/>
            <a:ext cx="4572000" cy="4572000"/>
          </a:xfrm>
          <a:prstGeom prst="ellipse">
            <a:avLst/>
          </a:prstGeom>
          <a:solidFill>
            <a:srgbClr val="1C7293">
              <a:alpha val="35000"/>
            </a:srgbClr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777240"/>
            <a:ext cx="502920" cy="5029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417320" y="749808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SGQR-STYLE DEEP LINKING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822960" y="1463040"/>
            <a:ext cx="96012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the QR-to-bank-app</a:t>
            </a:r>
            <a:endParaRPr lang="en-US" sz="44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payment flow works</a:t>
            </a:r>
            <a:endParaRPr lang="en-US" sz="4400" dirty="0"/>
          </a:p>
        </p:txBody>
      </p:sp>
      <p:sp>
        <p:nvSpPr>
          <p:cNvPr id="7" name="Text 4"/>
          <p:cNvSpPr/>
          <p:nvPr/>
        </p:nvSpPr>
        <p:spPr>
          <a:xfrm>
            <a:off x="822960" y="3429000"/>
            <a:ext cx="7863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QR code, one link. Android and iOS end up in different places because of how each phone's operating system — not our server — decides what to do with an unverified link.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822960" y="4572000"/>
            <a:ext cx="1920240" cy="594360"/>
          </a:xfrm>
          <a:prstGeom prst="roundRect">
            <a:avLst>
              <a:gd name="adj" fmla="val 15385"/>
            </a:avLst>
          </a:prstGeom>
          <a:solidFill>
            <a:srgbClr val="065A82">
              <a:alpha val="70000"/>
            </a:srgbClr>
          </a:solidFill>
          <a:ln/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" y="4709160"/>
            <a:ext cx="320040" cy="32004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325880" y="4572000"/>
            <a:ext cx="1371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</a:t>
            </a:r>
            <a:endParaRPr lang="en-US" sz="1250" dirty="0"/>
          </a:p>
        </p:txBody>
      </p:sp>
      <p:sp>
        <p:nvSpPr>
          <p:cNvPr id="11" name="Shape 7"/>
          <p:cNvSpPr/>
          <p:nvPr/>
        </p:nvSpPr>
        <p:spPr>
          <a:xfrm>
            <a:off x="2880360" y="4572000"/>
            <a:ext cx="1920240" cy="594360"/>
          </a:xfrm>
          <a:prstGeom prst="roundRect">
            <a:avLst>
              <a:gd name="adj" fmla="val 15385"/>
            </a:avLst>
          </a:prstGeom>
          <a:solidFill>
            <a:srgbClr val="065A82">
              <a:alpha val="70000"/>
            </a:srgbClr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17520" y="470916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3383280" y="4572000"/>
            <a:ext cx="1371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Android</a:t>
            </a:r>
            <a:endParaRPr lang="en-US" sz="1250" dirty="0"/>
          </a:p>
        </p:txBody>
      </p:sp>
      <p:sp>
        <p:nvSpPr>
          <p:cNvPr id="14" name="Shape 9"/>
          <p:cNvSpPr/>
          <p:nvPr/>
        </p:nvSpPr>
        <p:spPr>
          <a:xfrm>
            <a:off x="4937760" y="4572000"/>
            <a:ext cx="1920240" cy="594360"/>
          </a:xfrm>
          <a:prstGeom prst="roundRect">
            <a:avLst>
              <a:gd name="adj" fmla="val 15385"/>
            </a:avLst>
          </a:prstGeom>
          <a:solidFill>
            <a:srgbClr val="065A82">
              <a:alpha val="70000"/>
            </a:srgbClr>
          </a:solidFill>
          <a:ln/>
        </p:spPr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74920" y="4709160"/>
            <a:ext cx="320040" cy="320040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5440680" y="4572000"/>
            <a:ext cx="1371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iOS</a:t>
            </a:r>
            <a:endParaRPr lang="en-US" sz="1250" dirty="0"/>
          </a:p>
        </p:txBody>
      </p:sp>
      <p:sp>
        <p:nvSpPr>
          <p:cNvPr id="17" name="Shape 11"/>
          <p:cNvSpPr/>
          <p:nvPr/>
        </p:nvSpPr>
        <p:spPr>
          <a:xfrm>
            <a:off x="6995160" y="4572000"/>
            <a:ext cx="1920240" cy="594360"/>
          </a:xfrm>
          <a:prstGeom prst="roundRect">
            <a:avLst>
              <a:gd name="adj" fmla="val 15385"/>
            </a:avLst>
          </a:prstGeom>
          <a:solidFill>
            <a:srgbClr val="065A82">
              <a:alpha val="70000"/>
            </a:srgbClr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32320" y="4709160"/>
            <a:ext cx="320040" cy="320040"/>
          </a:xfrm>
          <a:prstGeom prst="rect">
            <a:avLst/>
          </a:prstGeom>
        </p:spPr>
      </p:pic>
      <p:sp>
        <p:nvSpPr>
          <p:cNvPr id="19" name="Text 12"/>
          <p:cNvSpPr/>
          <p:nvPr/>
        </p:nvSpPr>
        <p:spPr>
          <a:xfrm>
            <a:off x="7498080" y="4572000"/>
            <a:ext cx="1371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Bank Apps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pieces, one shared URL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32688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hinges on one link: https://.../pay/:token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965960"/>
            <a:ext cx="3520440" cy="3566160"/>
          </a:xfrm>
          <a:prstGeom prst="roundRect">
            <a:avLst>
              <a:gd name="adj" fmla="val 207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22960" y="2240280"/>
            <a:ext cx="685800" cy="685800"/>
          </a:xfrm>
          <a:prstGeom prst="roundRect">
            <a:avLst>
              <a:gd name="adj" fmla="val 21333"/>
            </a:avLst>
          </a:prstGeom>
          <a:solidFill>
            <a:srgbClr val="21295C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2423160"/>
            <a:ext cx="320040" cy="32004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22960" y="3063240"/>
            <a:ext cx="2971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Backend</a:t>
            </a:r>
            <a:endParaRPr lang="en-US" sz="1900" dirty="0"/>
          </a:p>
        </p:txBody>
      </p:sp>
      <p:sp>
        <p:nvSpPr>
          <p:cNvPr id="8" name="Text 5"/>
          <p:cNvSpPr/>
          <p:nvPr/>
        </p:nvSpPr>
        <p:spPr>
          <a:xfrm>
            <a:off x="822960" y="3456432"/>
            <a:ext cx="2971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Node.js server, hosted on Render</a:t>
            </a:r>
            <a:endParaRPr lang="en-US" sz="1150" dirty="0"/>
          </a:p>
        </p:txBody>
      </p:sp>
      <p:sp>
        <p:nvSpPr>
          <p:cNvPr id="9" name="Text 6"/>
          <p:cNvSpPr/>
          <p:nvPr/>
        </p:nvSpPr>
        <p:spPr>
          <a:xfrm>
            <a:off x="822960" y="3931920"/>
            <a:ext cx="29718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Creates a payment record and gives it a token</a:t>
            </a:r>
            <a:endParaRPr lang="en-US" sz="1300" dirty="0"/>
          </a:p>
          <a:p>
            <a:pPr marL="342900" indent="-3429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Generates the QR code image</a:t>
            </a:r>
            <a:endParaRPr lang="en-US" sz="1300" dirty="0"/>
          </a:p>
          <a:p>
            <a:pPr marL="342900" indent="-3429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Marks a payment as paid — once, only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389120" y="1965960"/>
            <a:ext cx="3520440" cy="3566160"/>
          </a:xfrm>
          <a:prstGeom prst="roundRect">
            <a:avLst>
              <a:gd name="adj" fmla="val 207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663440" y="2240280"/>
            <a:ext cx="685800" cy="685800"/>
          </a:xfrm>
          <a:prstGeom prst="roundRect">
            <a:avLst>
              <a:gd name="adj" fmla="val 21333"/>
            </a:avLst>
          </a:prstGeom>
          <a:solidFill>
            <a:srgbClr val="065A82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6320" y="2423160"/>
            <a:ext cx="320040" cy="32004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663440" y="3063240"/>
            <a:ext cx="2971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Picker Page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4663440" y="3456432"/>
            <a:ext cx="2971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web page, served by the backend</a:t>
            </a:r>
            <a:endParaRPr lang="en-US" sz="1150" dirty="0"/>
          </a:p>
        </p:txBody>
      </p:sp>
      <p:sp>
        <p:nvSpPr>
          <p:cNvPr id="15" name="Text 11"/>
          <p:cNvSpPr/>
          <p:nvPr/>
        </p:nvSpPr>
        <p:spPr>
          <a:xfrm>
            <a:off x="4663440" y="3931920"/>
            <a:ext cx="29718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Loads the merchant name and amount</a:t>
            </a:r>
            <a:endParaRPr lang="en-US" sz="1300" dirty="0"/>
          </a:p>
          <a:p>
            <a:pPr marL="342900" indent="-3429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Shows a 4-per-row grid of bank tiles</a:t>
            </a:r>
            <a:endParaRPr lang="en-US" sz="1300" dirty="0"/>
          </a:p>
          <a:p>
            <a:pPr marL="342900" indent="-3429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the page Safari actually reaches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8229600" y="1965960"/>
            <a:ext cx="3520440" cy="3566160"/>
          </a:xfrm>
          <a:prstGeom prst="roundRect">
            <a:avLst>
              <a:gd name="adj" fmla="val 207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8503920" y="2240280"/>
            <a:ext cx="685800" cy="685800"/>
          </a:xfrm>
          <a:prstGeom prst="roundRect">
            <a:avLst>
              <a:gd name="adj" fmla="val 21333"/>
            </a:avLst>
          </a:prstGeom>
          <a:solidFill>
            <a:srgbClr val="1C7293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0" y="2423160"/>
            <a:ext cx="320040" cy="320040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503920" y="3063240"/>
            <a:ext cx="2971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 Bank Apps</a:t>
            </a:r>
            <a:endParaRPr lang="en-US" sz="1900" dirty="0"/>
          </a:p>
        </p:txBody>
      </p:sp>
      <p:sp>
        <p:nvSpPr>
          <p:cNvPr id="20" name="Text 15"/>
          <p:cNvSpPr/>
          <p:nvPr/>
        </p:nvSpPr>
        <p:spPr>
          <a:xfrm>
            <a:off x="8503920" y="3456432"/>
            <a:ext cx="2971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Flutter apps for Android + iOS</a:t>
            </a:r>
            <a:endParaRPr lang="en-US" sz="1150" dirty="0"/>
          </a:p>
        </p:txBody>
      </p:sp>
      <p:sp>
        <p:nvSpPr>
          <p:cNvPr id="21" name="Text 16"/>
          <p:cNvSpPr/>
          <p:nvPr/>
        </p:nvSpPr>
        <p:spPr>
          <a:xfrm>
            <a:off x="8503920" y="3931920"/>
            <a:ext cx="29718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separate apps, not 1 app with settings</a:t>
            </a:r>
            <a:endParaRPr lang="en-US" sz="1300" dirty="0"/>
          </a:p>
          <a:p>
            <a:pPr marL="342900" indent="-3429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has its own name and app ID</a:t>
            </a:r>
            <a:endParaRPr lang="en-US" sz="1300" dirty="0"/>
          </a:p>
          <a:p>
            <a:pPr marL="342900" indent="-3429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listens for its own kind of link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2129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Same link, two different endings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896112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EEA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https://sgqr-deep-link-demo.onrender.com/pay/:token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5637276" y="1828800"/>
            <a:ext cx="914400" cy="914400"/>
          </a:xfrm>
          <a:prstGeom prst="ellipse">
            <a:avLst/>
          </a:prstGeom>
          <a:solidFill>
            <a:srgbClr val="1C7293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38444" y="2029968"/>
            <a:ext cx="512064" cy="51206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640080" y="3017520"/>
            <a:ext cx="4937760" cy="2651760"/>
          </a:xfrm>
          <a:prstGeom prst="roundRect">
            <a:avLst>
              <a:gd name="adj" fmla="val 2759"/>
            </a:avLst>
          </a:prstGeom>
          <a:solidFill>
            <a:srgbClr val="065A82">
              <a:alpha val="80000"/>
            </a:srgbClr>
          </a:solidFill>
          <a:ln/>
        </p:spPr>
      </p:sp>
      <p:sp>
        <p:nvSpPr>
          <p:cNvPr id="7" name="Shape 4"/>
          <p:cNvSpPr/>
          <p:nvPr/>
        </p:nvSpPr>
        <p:spPr>
          <a:xfrm>
            <a:off x="914400" y="3291840"/>
            <a:ext cx="548640" cy="548640"/>
          </a:xfrm>
          <a:prstGeom prst="ellipse">
            <a:avLst/>
          </a:prstGeom>
          <a:solidFill>
            <a:srgbClr val="F96167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" y="3429000"/>
            <a:ext cx="274320" cy="27432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600200" y="3273552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Android</a:t>
            </a:r>
            <a:endParaRPr lang="en-US" sz="1900" dirty="0"/>
          </a:p>
        </p:txBody>
      </p:sp>
      <p:sp>
        <p:nvSpPr>
          <p:cNvPr id="10" name="Text 6"/>
          <p:cNvSpPr/>
          <p:nvPr/>
        </p:nvSpPr>
        <p:spPr>
          <a:xfrm>
            <a:off x="1600200" y="361188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Why: the link is deliberately left unverified</a:t>
            </a:r>
            <a:endParaRPr lang="en-US" sz="1150" dirty="0"/>
          </a:p>
        </p:txBody>
      </p:sp>
      <p:sp>
        <p:nvSpPr>
          <p:cNvPr id="11" name="Text 7"/>
          <p:cNvSpPr/>
          <p:nvPr/>
        </p:nvSpPr>
        <p:spPr>
          <a:xfrm>
            <a:off x="914400" y="4069080"/>
            <a:ext cx="43891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20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E4EC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app claims cryptographic ownership, so Android can't skip asking</a:t>
            </a:r>
            <a:endParaRPr lang="en-US" sz="1250" dirty="0"/>
          </a:p>
          <a:p>
            <a:pPr marL="342900" indent="-342900">
              <a:lnSpc>
                <a:spcPct val="120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E4EC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opens in the default browser first, like any normal web page</a:t>
            </a:r>
            <a:endParaRPr lang="en-US" sz="1250" dirty="0"/>
          </a:p>
          <a:p>
            <a:pPr marL="342900" indent="-342900">
              <a:lnSpc>
                <a:spcPct val="120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E4EC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page shows one button: "Continue to pay" (next slide)</a:t>
            </a:r>
            <a:endParaRPr lang="en-US" sz="1250" dirty="0"/>
          </a:p>
        </p:txBody>
      </p:sp>
      <p:sp>
        <p:nvSpPr>
          <p:cNvPr id="12" name="Shape 8"/>
          <p:cNvSpPr/>
          <p:nvPr/>
        </p:nvSpPr>
        <p:spPr>
          <a:xfrm>
            <a:off x="6611112" y="3017520"/>
            <a:ext cx="4937760" cy="2651760"/>
          </a:xfrm>
          <a:prstGeom prst="roundRect">
            <a:avLst>
              <a:gd name="adj" fmla="val 2759"/>
            </a:avLst>
          </a:prstGeom>
          <a:solidFill>
            <a:srgbClr val="065A82">
              <a:alpha val="80000"/>
            </a:srgbClr>
          </a:solidFill>
          <a:ln/>
        </p:spPr>
      </p:sp>
      <p:sp>
        <p:nvSpPr>
          <p:cNvPr id="13" name="Shape 9"/>
          <p:cNvSpPr/>
          <p:nvPr/>
        </p:nvSpPr>
        <p:spPr>
          <a:xfrm>
            <a:off x="6885432" y="3291840"/>
            <a:ext cx="548640" cy="548640"/>
          </a:xfrm>
          <a:prstGeom prst="ellipse">
            <a:avLst/>
          </a:prstGeom>
          <a:solidFill>
            <a:srgbClr val="5EEAD4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22592" y="3429000"/>
            <a:ext cx="274320" cy="27432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7571232" y="3273552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iOS</a:t>
            </a:r>
            <a:endParaRPr lang="en-US" sz="1900" dirty="0"/>
          </a:p>
        </p:txBody>
      </p:sp>
      <p:sp>
        <p:nvSpPr>
          <p:cNvPr id="16" name="Text 11"/>
          <p:cNvSpPr/>
          <p:nvPr/>
        </p:nvSpPr>
        <p:spPr>
          <a:xfrm>
            <a:off x="7571232" y="361188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Why: no Universal Link record is hosted for this domain</a:t>
            </a:r>
            <a:endParaRPr lang="en-US" sz="1150" dirty="0"/>
          </a:p>
        </p:txBody>
      </p:sp>
      <p:sp>
        <p:nvSpPr>
          <p:cNvPr id="17" name="Text 12"/>
          <p:cNvSpPr/>
          <p:nvPr/>
        </p:nvSpPr>
        <p:spPr>
          <a:xfrm>
            <a:off x="6885432" y="4069080"/>
            <a:ext cx="43891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20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E4EC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Apple requires a hosted association file to open an app directly</a:t>
            </a:r>
            <a:endParaRPr lang="en-US" sz="1250" dirty="0"/>
          </a:p>
          <a:p>
            <a:pPr marL="342900" indent="-342900">
              <a:lnSpc>
                <a:spcPct val="120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E4EC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don't host one, so iOS treats it as an ordinary link</a:t>
            </a:r>
            <a:endParaRPr lang="en-US" sz="1250" dirty="0"/>
          </a:p>
          <a:p>
            <a:pPr marL="342900" indent="-342900">
              <a:lnSpc>
                <a:spcPct val="120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E4EC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Safari opens normally and shows the picker page: a grid of bank tiles, 4 per row</a:t>
            </a:r>
            <a:endParaRPr lang="en-US" sz="12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Android: from browser tab to app chooser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91440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Getting the native "Open with…" dialog to appear takes 3 extra steps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2514600" cy="3291840"/>
          </a:xfrm>
          <a:prstGeom prst="roundRect">
            <a:avLst>
              <a:gd name="adj" fmla="val 290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485900" y="1874520"/>
            <a:ext cx="640080" cy="640080"/>
          </a:xfrm>
          <a:prstGeom prst="ellipse">
            <a:avLst/>
          </a:prstGeom>
          <a:solidFill>
            <a:srgbClr val="065A82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41348" y="2029968"/>
            <a:ext cx="329184" cy="32918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85800" y="1737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731520" y="2651760"/>
            <a:ext cx="2148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Page opens normally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777240" y="3291840"/>
            <a:ext cx="20574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Chrome (or whichever browser is default) opens the payment page, same as any website.</a:t>
            </a:r>
            <a:endParaRPr lang="en-US" sz="115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81528" y="3136392"/>
            <a:ext cx="219456" cy="219456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3291840" y="1600200"/>
            <a:ext cx="2514600" cy="3291840"/>
          </a:xfrm>
          <a:prstGeom prst="roundRect">
            <a:avLst>
              <a:gd name="adj" fmla="val 290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229100" y="1874520"/>
            <a:ext cx="640080" cy="640080"/>
          </a:xfrm>
          <a:prstGeom prst="ellipse">
            <a:avLst/>
          </a:prstGeom>
          <a:solidFill>
            <a:srgbClr val="065A82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4548" y="2029968"/>
            <a:ext cx="329184" cy="329184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3429000" y="1737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5" name="Text 10"/>
          <p:cNvSpPr/>
          <p:nvPr/>
        </p:nvSpPr>
        <p:spPr>
          <a:xfrm>
            <a:off x="3474720" y="2651760"/>
            <a:ext cx="2148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 tap "Continue"</a:t>
            </a:r>
            <a:endParaRPr lang="en-US" sz="1500" dirty="0"/>
          </a:p>
        </p:txBody>
      </p:sp>
      <p:sp>
        <p:nvSpPr>
          <p:cNvPr id="16" name="Text 11"/>
          <p:cNvSpPr/>
          <p:nvPr/>
        </p:nvSpPr>
        <p:spPr>
          <a:xfrm>
            <a:off x="3520440" y="3291840"/>
            <a:ext cx="20574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real tap, not an automatic redirect — browsers block silent app-switching for security.</a:t>
            </a:r>
            <a:endParaRPr lang="en-US" sz="1150" dirty="0"/>
          </a:p>
        </p:txBody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24728" y="3136392"/>
            <a:ext cx="219456" cy="219456"/>
          </a:xfrm>
          <a:prstGeom prst="rect">
            <a:avLst/>
          </a:prstGeom>
        </p:spPr>
      </p:pic>
      <p:sp>
        <p:nvSpPr>
          <p:cNvPr id="18" name="Shape 12"/>
          <p:cNvSpPr/>
          <p:nvPr/>
        </p:nvSpPr>
        <p:spPr>
          <a:xfrm>
            <a:off x="6035040" y="1600200"/>
            <a:ext cx="2514600" cy="3291840"/>
          </a:xfrm>
          <a:prstGeom prst="roundRect">
            <a:avLst>
              <a:gd name="adj" fmla="val 290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972300" y="1874520"/>
            <a:ext cx="640080" cy="640080"/>
          </a:xfrm>
          <a:prstGeom prst="ellipse">
            <a:avLst/>
          </a:prstGeom>
          <a:solidFill>
            <a:srgbClr val="065A82"/>
          </a:solidFill>
          <a:ln/>
        </p:spPr>
      </p:sp>
      <p:pic>
        <p:nvPicPr>
          <p:cNvPr id="2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27748" y="2029968"/>
            <a:ext cx="329184" cy="329184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6172200" y="1737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6217920" y="2651760"/>
            <a:ext cx="2148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tap opens a special link</a:t>
            </a:r>
            <a:endParaRPr lang="en-US" sz="1500" dirty="0"/>
          </a:p>
        </p:txBody>
      </p:sp>
      <p:sp>
        <p:nvSpPr>
          <p:cNvPr id="23" name="Text 16"/>
          <p:cNvSpPr/>
          <p:nvPr/>
        </p:nvSpPr>
        <p:spPr>
          <a:xfrm>
            <a:off x="6263640" y="3291840"/>
            <a:ext cx="20574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link starting with intent:// instead of https:// — only apps can open this, not browsers.</a:t>
            </a:r>
            <a:endParaRPr lang="en-US" sz="1150" dirty="0"/>
          </a:p>
        </p:txBody>
      </p:sp>
      <p:pic>
        <p:nvPicPr>
          <p:cNvPr id="24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67928" y="3136392"/>
            <a:ext cx="219456" cy="219456"/>
          </a:xfrm>
          <a:prstGeom prst="rect">
            <a:avLst/>
          </a:prstGeom>
        </p:spPr>
      </p:pic>
      <p:sp>
        <p:nvSpPr>
          <p:cNvPr id="25" name="Shape 17"/>
          <p:cNvSpPr/>
          <p:nvPr/>
        </p:nvSpPr>
        <p:spPr>
          <a:xfrm>
            <a:off x="8778240" y="1600200"/>
            <a:ext cx="2514600" cy="3291840"/>
          </a:xfrm>
          <a:prstGeom prst="roundRect">
            <a:avLst>
              <a:gd name="adj" fmla="val 290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26" name="Shape 18"/>
          <p:cNvSpPr/>
          <p:nvPr/>
        </p:nvSpPr>
        <p:spPr>
          <a:xfrm>
            <a:off x="9715500" y="1874520"/>
            <a:ext cx="640080" cy="640080"/>
          </a:xfrm>
          <a:prstGeom prst="ellipse">
            <a:avLst/>
          </a:prstGeom>
          <a:solidFill>
            <a:srgbClr val="1C7293"/>
          </a:solidFill>
          <a:ln/>
        </p:spPr>
      </p:sp>
      <p:pic>
        <p:nvPicPr>
          <p:cNvPr id="27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870948" y="2029968"/>
            <a:ext cx="329184" cy="329184"/>
          </a:xfrm>
          <a:prstGeom prst="rect">
            <a:avLst/>
          </a:prstGeom>
        </p:spPr>
      </p:pic>
      <p:sp>
        <p:nvSpPr>
          <p:cNvPr id="28" name="Text 19"/>
          <p:cNvSpPr/>
          <p:nvPr/>
        </p:nvSpPr>
        <p:spPr>
          <a:xfrm>
            <a:off x="8915400" y="1737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29" name="Text 20"/>
          <p:cNvSpPr/>
          <p:nvPr/>
        </p:nvSpPr>
        <p:spPr>
          <a:xfrm>
            <a:off x="8961120" y="2651760"/>
            <a:ext cx="2148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Android shows the chooser</a:t>
            </a:r>
            <a:endParaRPr lang="en-US" sz="1500" dirty="0"/>
          </a:p>
        </p:txBody>
      </p:sp>
      <p:sp>
        <p:nvSpPr>
          <p:cNvPr id="30" name="Text 21"/>
          <p:cNvSpPr/>
          <p:nvPr/>
        </p:nvSpPr>
        <p:spPr>
          <a:xfrm>
            <a:off x="9006840" y="3291840"/>
            <a:ext cx="20574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bank apps can all open that link, so Android asks: which one?</a:t>
            </a:r>
            <a:endParaRPr lang="en-US" sz="1150" dirty="0"/>
          </a:p>
        </p:txBody>
      </p:sp>
      <p:sp>
        <p:nvSpPr>
          <p:cNvPr id="31" name="Shape 22"/>
          <p:cNvSpPr/>
          <p:nvPr/>
        </p:nvSpPr>
        <p:spPr>
          <a:xfrm>
            <a:off x="548640" y="5212080"/>
            <a:ext cx="11091672" cy="960120"/>
          </a:xfrm>
          <a:prstGeom prst="roundRect">
            <a:avLst>
              <a:gd name="adj" fmla="val 7619"/>
            </a:avLst>
          </a:prstGeom>
          <a:solidFill>
            <a:srgbClr val="F96167">
              <a:alpha val="85000"/>
            </a:srgbClr>
          </a:solidFill>
          <a:ln/>
        </p:spPr>
      </p:sp>
      <p:sp>
        <p:nvSpPr>
          <p:cNvPr id="32" name="Text 23"/>
          <p:cNvSpPr/>
          <p:nvPr/>
        </p:nvSpPr>
        <p:spPr>
          <a:xfrm>
            <a:off x="822960" y="5212080"/>
            <a:ext cx="1054303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6B2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intent:// and not https:// again? Chrome won't hand a link back to a browser (even itself) through this mechanism — it has to be a link only apps can claim.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2129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not just verify the Android App Link?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91440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tested it directly on a device. Here's what actually happens.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5349240" cy="3291840"/>
          </a:xfrm>
          <a:prstGeom prst="roundRect">
            <a:avLst>
              <a:gd name="adj" fmla="val 2222"/>
            </a:avLst>
          </a:prstGeom>
          <a:solidFill>
            <a:srgbClr val="065A82">
              <a:alpha val="80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828800"/>
            <a:ext cx="4800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idea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822960" y="2377440"/>
            <a:ext cx="48006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25000"/>
              </a:lnSpc>
              <a:spcAft>
                <a:spcPts val="1200"/>
              </a:spcAft>
              <a:buSzPct val="100000"/>
              <a:buChar char="•"/>
            </a:pPr>
            <a:r>
              <a:rPr lang="en-US" sz="1250" dirty="0">
                <a:solidFill>
                  <a:srgbClr val="E4EC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android:autoVerify="true" to each app's intent-filter</a:t>
            </a:r>
            <a:endParaRPr lang="en-US" sz="1250" dirty="0"/>
          </a:p>
          <a:p>
            <a:pPr marL="342900" indent="-342900">
              <a:lnSpc>
                <a:spcPct val="125000"/>
              </a:lnSpc>
              <a:spcAft>
                <a:spcPts val="1200"/>
              </a:spcAft>
              <a:buSzPct val="100000"/>
              <a:buChar char="•"/>
            </a:pPr>
            <a:r>
              <a:rPr lang="en-US" sz="1250" dirty="0">
                <a:solidFill>
                  <a:srgbClr val="E4EC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Host /.well-known/assetlinks.json listing all 3 apps' real package names and signing certificate SHA-256 fingerprints</a:t>
            </a:r>
            <a:endParaRPr lang="en-US" sz="1250" dirty="0"/>
          </a:p>
          <a:p>
            <a:pPr marL="342900" indent="-342900">
              <a:lnSpc>
                <a:spcPct val="125000"/>
              </a:lnSpc>
              <a:spcAft>
                <a:spcPts val="1200"/>
              </a:spcAft>
              <a:buSzPct val="100000"/>
              <a:buChar char="•"/>
            </a:pPr>
            <a:r>
              <a:rPr lang="en-US" sz="1250" dirty="0">
                <a:solidFill>
                  <a:srgbClr val="E4EC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Android checks this file at install time — if it matches, the app is a verified owner of the link</a:t>
            </a:r>
            <a:endParaRPr lang="en-US" sz="1250" dirty="0"/>
          </a:p>
          <a:p>
            <a:pPr marL="342900" indent="-342900">
              <a:lnSpc>
                <a:spcPct val="125000"/>
              </a:lnSpc>
              <a:spcAft>
                <a:spcPts val="1200"/>
              </a:spcAft>
              <a:buSzPct val="100000"/>
              <a:buChar char="•"/>
            </a:pPr>
            <a:r>
              <a:rPr lang="en-US" sz="1250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Goal: skip the browser and the "Continue" tap entirely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217920" y="1600200"/>
            <a:ext cx="5349240" cy="3291840"/>
          </a:xfrm>
          <a:prstGeom prst="roundRect">
            <a:avLst>
              <a:gd name="adj" fmla="val 2222"/>
            </a:avLst>
          </a:prstGeom>
          <a:solidFill>
            <a:srgbClr val="F96167">
              <a:alpha val="85000"/>
            </a:srgbClr>
          </a:solidFill>
          <a:ln/>
        </p:spPr>
      </p:sp>
      <p:sp>
        <p:nvSpPr>
          <p:cNvPr id="8" name="Text 6"/>
          <p:cNvSpPr/>
          <p:nvPr/>
        </p:nvSpPr>
        <p:spPr>
          <a:xfrm>
            <a:off x="6492240" y="1828800"/>
            <a:ext cx="4800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we found on-device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6492240" y="2377440"/>
            <a:ext cx="48006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25000"/>
              </a:lnSpc>
              <a:spcAft>
                <a:spcPts val="1200"/>
              </a:spcAft>
              <a:buSzPct val="100000"/>
              <a:buChar char="•"/>
            </a:pPr>
            <a:r>
              <a:rPr lang="en-US" sz="1250" dirty="0">
                <a:solidFill>
                  <a:srgbClr val="FDEC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3 apps verified successfully (adb confirmed "verified" for each)</a:t>
            </a:r>
            <a:endParaRPr lang="en-US" sz="1250" dirty="0"/>
          </a:p>
          <a:p>
            <a:pPr marL="342900" indent="-342900">
              <a:lnSpc>
                <a:spcPct val="125000"/>
              </a:lnSpc>
              <a:spcAft>
                <a:spcPts val="1200"/>
              </a:spcAft>
              <a:buSzPct val="100000"/>
              <a:buChar char="•"/>
            </a:pPr>
            <a:r>
              <a:rPr lang="en-US" sz="1250" dirty="0">
                <a:solidFill>
                  <a:srgbClr val="FDEC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But no chooser ever appeared — the link opened one app directly, instantly</a:t>
            </a:r>
            <a:endParaRPr lang="en-US" sz="1250" dirty="0"/>
          </a:p>
          <a:p>
            <a:pPr marL="342900" indent="-342900">
              <a:lnSpc>
                <a:spcPct val="125000"/>
              </a:lnSpc>
              <a:spcAft>
                <a:spcPts val="1200"/>
              </a:spcAft>
              <a:buSzPct val="100000"/>
              <a:buChar char="•"/>
            </a:pPr>
            <a:r>
              <a:rPr lang="en-US" sz="1250" dirty="0">
                <a:solidFill>
                  <a:srgbClr val="FDEC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Reinstalling a different bank last changed which app opened — Android was picking the most-recently-installed verified app, silently</a:t>
            </a:r>
            <a:endParaRPr lang="en-US" sz="1250" dirty="0"/>
          </a:p>
          <a:p>
            <a:pPr marL="342900" indent="-342900">
              <a:lnSpc>
                <a:spcPct val="125000"/>
              </a:lnSpc>
              <a:spcAft>
                <a:spcPts val="1200"/>
              </a:spcAft>
              <a:buSzPct val="100000"/>
              <a:buChar char="•"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 App Links and the disambiguation dialog are mutually exclusive by design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iOS: Safari hands off to the app you pick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91440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flow: no Universal Link is registered for this domain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2514600" cy="3291840"/>
          </a:xfrm>
          <a:prstGeom prst="roundRect">
            <a:avLst>
              <a:gd name="adj" fmla="val 290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485900" y="2103120"/>
            <a:ext cx="640080" cy="640080"/>
          </a:xfrm>
          <a:prstGeom prst="ellipse">
            <a:avLst/>
          </a:prstGeom>
          <a:solidFill>
            <a:srgbClr val="065A82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41348" y="2258568"/>
            <a:ext cx="329184" cy="32918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85800" y="19659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731520" y="2880360"/>
            <a:ext cx="2148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Safari opens the picker page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777240" y="3520440"/>
            <a:ext cx="20574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app is registered for this link, so iOS treats it as an ordinary web address.</a:t>
            </a:r>
            <a:endParaRPr lang="en-US" sz="115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81528" y="3364992"/>
            <a:ext cx="219456" cy="219456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3291840" y="1828800"/>
            <a:ext cx="2514600" cy="3291840"/>
          </a:xfrm>
          <a:prstGeom prst="roundRect">
            <a:avLst>
              <a:gd name="adj" fmla="val 290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229100" y="2103120"/>
            <a:ext cx="640080" cy="640080"/>
          </a:xfrm>
          <a:prstGeom prst="ellipse">
            <a:avLst/>
          </a:prstGeom>
          <a:solidFill>
            <a:srgbClr val="065A82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4548" y="2258568"/>
            <a:ext cx="329184" cy="329184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3429000" y="19659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5" name="Text 10"/>
          <p:cNvSpPr/>
          <p:nvPr/>
        </p:nvSpPr>
        <p:spPr>
          <a:xfrm>
            <a:off x="3474720" y="2880360"/>
            <a:ext cx="2148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page loads payment details</a:t>
            </a:r>
            <a:endParaRPr lang="en-US" sz="1500" dirty="0"/>
          </a:p>
        </p:txBody>
      </p:sp>
      <p:sp>
        <p:nvSpPr>
          <p:cNvPr id="16" name="Text 11"/>
          <p:cNvSpPr/>
          <p:nvPr/>
        </p:nvSpPr>
        <p:spPr>
          <a:xfrm>
            <a:off x="3520440" y="3520440"/>
            <a:ext cx="20574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fetches the merchant name and amount, and shows a grid of bank tiles, 4 per row.</a:t>
            </a:r>
            <a:endParaRPr lang="en-US" sz="1150" dirty="0"/>
          </a:p>
        </p:txBody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24728" y="3364992"/>
            <a:ext cx="219456" cy="219456"/>
          </a:xfrm>
          <a:prstGeom prst="rect">
            <a:avLst/>
          </a:prstGeom>
        </p:spPr>
      </p:pic>
      <p:sp>
        <p:nvSpPr>
          <p:cNvPr id="18" name="Shape 12"/>
          <p:cNvSpPr/>
          <p:nvPr/>
        </p:nvSpPr>
        <p:spPr>
          <a:xfrm>
            <a:off x="6035040" y="1828800"/>
            <a:ext cx="2514600" cy="3291840"/>
          </a:xfrm>
          <a:prstGeom prst="roundRect">
            <a:avLst>
              <a:gd name="adj" fmla="val 290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972300" y="2103120"/>
            <a:ext cx="640080" cy="640080"/>
          </a:xfrm>
          <a:prstGeom prst="ellipse">
            <a:avLst/>
          </a:prstGeom>
          <a:solidFill>
            <a:srgbClr val="065A82"/>
          </a:solidFill>
          <a:ln/>
        </p:spPr>
      </p:sp>
      <p:pic>
        <p:nvPicPr>
          <p:cNvPr id="2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27748" y="2258568"/>
            <a:ext cx="329184" cy="329184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6172200" y="19659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6217920" y="2880360"/>
            <a:ext cx="2148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 tap a bank</a:t>
            </a:r>
            <a:endParaRPr lang="en-US" sz="1500" dirty="0"/>
          </a:p>
        </p:txBody>
      </p:sp>
      <p:sp>
        <p:nvSpPr>
          <p:cNvPr id="23" name="Text 16"/>
          <p:cNvSpPr/>
          <p:nvPr/>
        </p:nvSpPr>
        <p:spPr>
          <a:xfrm>
            <a:off x="6263640" y="3520440"/>
            <a:ext cx="20574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button opens a link like bankademo://pay — each bank app has its own.</a:t>
            </a:r>
            <a:endParaRPr lang="en-US" sz="1150" dirty="0"/>
          </a:p>
        </p:txBody>
      </p:sp>
      <p:pic>
        <p:nvPicPr>
          <p:cNvPr id="24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67928" y="3364992"/>
            <a:ext cx="219456" cy="219456"/>
          </a:xfrm>
          <a:prstGeom prst="rect">
            <a:avLst/>
          </a:prstGeom>
        </p:spPr>
      </p:pic>
      <p:sp>
        <p:nvSpPr>
          <p:cNvPr id="25" name="Shape 17"/>
          <p:cNvSpPr/>
          <p:nvPr/>
        </p:nvSpPr>
        <p:spPr>
          <a:xfrm>
            <a:off x="8778240" y="1828800"/>
            <a:ext cx="2514600" cy="3291840"/>
          </a:xfrm>
          <a:prstGeom prst="roundRect">
            <a:avLst>
              <a:gd name="adj" fmla="val 290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26" name="Shape 18"/>
          <p:cNvSpPr/>
          <p:nvPr/>
        </p:nvSpPr>
        <p:spPr>
          <a:xfrm>
            <a:off x="9715500" y="2103120"/>
            <a:ext cx="640080" cy="640080"/>
          </a:xfrm>
          <a:prstGeom prst="ellipse">
            <a:avLst/>
          </a:prstGeom>
          <a:solidFill>
            <a:srgbClr val="1C7293"/>
          </a:solidFill>
          <a:ln/>
        </p:spPr>
      </p:sp>
      <p:pic>
        <p:nvPicPr>
          <p:cNvPr id="27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870948" y="2258568"/>
            <a:ext cx="329184" cy="329184"/>
          </a:xfrm>
          <a:prstGeom prst="rect">
            <a:avLst/>
          </a:prstGeom>
        </p:spPr>
      </p:pic>
      <p:sp>
        <p:nvSpPr>
          <p:cNvPr id="28" name="Text 19"/>
          <p:cNvSpPr/>
          <p:nvPr/>
        </p:nvSpPr>
        <p:spPr>
          <a:xfrm>
            <a:off x="8915400" y="19659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29" name="Text 20"/>
          <p:cNvSpPr/>
          <p:nvPr/>
        </p:nvSpPr>
        <p:spPr>
          <a:xfrm>
            <a:off x="8961120" y="2880360"/>
            <a:ext cx="2148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That bank app opens</a:t>
            </a:r>
            <a:endParaRPr lang="en-US" sz="1500" dirty="0"/>
          </a:p>
        </p:txBody>
      </p:sp>
      <p:sp>
        <p:nvSpPr>
          <p:cNvPr id="30" name="Text 21"/>
          <p:cNvSpPr/>
          <p:nvPr/>
        </p:nvSpPr>
        <p:spPr>
          <a:xfrm>
            <a:off x="9006840" y="3520440"/>
            <a:ext cx="20574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iOS recognizes the link belongs to that app and switches straight to it.</a:t>
            </a:r>
            <a:endParaRPr lang="en-US" sz="1150" dirty="0"/>
          </a:p>
        </p:txBody>
      </p:sp>
      <p:sp>
        <p:nvSpPr>
          <p:cNvPr id="31" name="Shape 22"/>
          <p:cNvSpPr/>
          <p:nvPr/>
        </p:nvSpPr>
        <p:spPr>
          <a:xfrm>
            <a:off x="548640" y="5440680"/>
            <a:ext cx="11091672" cy="960120"/>
          </a:xfrm>
          <a:prstGeom prst="roundRect">
            <a:avLst>
              <a:gd name="adj" fmla="val 7619"/>
            </a:avLst>
          </a:prstGeom>
          <a:solidFill>
            <a:srgbClr val="1C7293">
              <a:alpha val="85000"/>
            </a:srgbClr>
          </a:solidFill>
          <a:ln/>
        </p:spPr>
      </p:sp>
      <p:sp>
        <p:nvSpPr>
          <p:cNvPr id="32" name="Text 23"/>
          <p:cNvSpPr/>
          <p:nvPr/>
        </p:nvSpPr>
        <p:spPr>
          <a:xfrm>
            <a:off x="822960" y="5440680"/>
            <a:ext cx="1054303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0B3B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would skip this page? A hosted apple-app-site-association file plus each app's Associated Domains entitlement — Apple's equivalent of Android's assetlinks.json. We don't host one on purpose, so Safari always gets a chance to show the picker.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2129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Inside each app: catching the incoming link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91440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app has to notice the link in two different situations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7863840" cy="1051560"/>
          </a:xfrm>
          <a:prstGeom prst="roundRect">
            <a:avLst>
              <a:gd name="adj" fmla="val 6957"/>
            </a:avLst>
          </a:prstGeom>
          <a:solidFill>
            <a:srgbClr val="065A82">
              <a:alpha val="75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777240" y="1851660"/>
            <a:ext cx="548640" cy="548640"/>
          </a:xfrm>
          <a:prstGeom prst="ellipse">
            <a:avLst/>
          </a:prstGeom>
          <a:solidFill>
            <a:srgbClr val="1C729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1988820"/>
            <a:ext cx="274320" cy="27432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6812280" y="1764792"/>
            <a:ext cx="1371600" cy="365760"/>
          </a:xfrm>
          <a:prstGeom prst="roundRect">
            <a:avLst>
              <a:gd name="adj" fmla="val 50000"/>
            </a:avLst>
          </a:prstGeom>
          <a:solidFill>
            <a:srgbClr val="5EEAD4"/>
          </a:solidFill>
          <a:ln/>
        </p:spPr>
      </p:sp>
      <p:sp>
        <p:nvSpPr>
          <p:cNvPr id="8" name="Text 5"/>
          <p:cNvSpPr/>
          <p:nvPr/>
        </p:nvSpPr>
        <p:spPr>
          <a:xfrm>
            <a:off x="6812280" y="1764792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COLD START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1508760" y="1709928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Checked once, on startup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1508760" y="2075688"/>
            <a:ext cx="6629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E4EC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app wasn't running — the link is what launched it. Checked a single time when the app starts.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548640" y="2880360"/>
            <a:ext cx="7863840" cy="1051560"/>
          </a:xfrm>
          <a:prstGeom prst="roundRect">
            <a:avLst>
              <a:gd name="adj" fmla="val 6957"/>
            </a:avLst>
          </a:prstGeom>
          <a:solidFill>
            <a:srgbClr val="065A82">
              <a:alpha val="75000"/>
            </a:srgbClr>
          </a:solidFill>
          <a:ln/>
        </p:spPr>
      </p:sp>
      <p:sp>
        <p:nvSpPr>
          <p:cNvPr id="12" name="Shape 9"/>
          <p:cNvSpPr/>
          <p:nvPr/>
        </p:nvSpPr>
        <p:spPr>
          <a:xfrm>
            <a:off x="777240" y="3131820"/>
            <a:ext cx="548640" cy="548640"/>
          </a:xfrm>
          <a:prstGeom prst="ellipse">
            <a:avLst/>
          </a:prstGeom>
          <a:solidFill>
            <a:srgbClr val="1C7293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3268980"/>
            <a:ext cx="274320" cy="274320"/>
          </a:xfrm>
          <a:prstGeom prst="rect">
            <a:avLst/>
          </a:prstGeom>
        </p:spPr>
      </p:pic>
      <p:sp>
        <p:nvSpPr>
          <p:cNvPr id="14" name="Shape 10"/>
          <p:cNvSpPr/>
          <p:nvPr/>
        </p:nvSpPr>
        <p:spPr>
          <a:xfrm>
            <a:off x="6812280" y="3044952"/>
            <a:ext cx="1371600" cy="365760"/>
          </a:xfrm>
          <a:prstGeom prst="roundRect">
            <a:avLst>
              <a:gd name="adj" fmla="val 50000"/>
            </a:avLst>
          </a:prstGeom>
          <a:solidFill>
            <a:srgbClr val="5EEAD4"/>
          </a:solidFill>
          <a:ln/>
        </p:spPr>
      </p:sp>
      <p:sp>
        <p:nvSpPr>
          <p:cNvPr id="15" name="Text 11"/>
          <p:cNvSpPr/>
          <p:nvPr/>
        </p:nvSpPr>
        <p:spPr>
          <a:xfrm>
            <a:off x="6812280" y="3044952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ALREADY OPEN</a:t>
            </a:r>
            <a:endParaRPr lang="en-US" sz="1050" dirty="0"/>
          </a:p>
        </p:txBody>
      </p:sp>
      <p:sp>
        <p:nvSpPr>
          <p:cNvPr id="16" name="Text 12"/>
          <p:cNvSpPr/>
          <p:nvPr/>
        </p:nvSpPr>
        <p:spPr>
          <a:xfrm>
            <a:off x="1508760" y="2990088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Listened for, the whole time</a:t>
            </a:r>
            <a:endParaRPr lang="en-US" sz="1600" dirty="0"/>
          </a:p>
        </p:txBody>
      </p:sp>
      <p:sp>
        <p:nvSpPr>
          <p:cNvPr id="17" name="Text 13"/>
          <p:cNvSpPr/>
          <p:nvPr/>
        </p:nvSpPr>
        <p:spPr>
          <a:xfrm>
            <a:off x="1508760" y="3355848"/>
            <a:ext cx="6629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E4EC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app was already open or in the background. A live subscription catches the link as it arrives.</a:t>
            </a:r>
            <a:endParaRPr lang="en-US" sz="1200" dirty="0"/>
          </a:p>
        </p:txBody>
      </p:sp>
      <p:sp>
        <p:nvSpPr>
          <p:cNvPr id="18" name="Shape 14"/>
          <p:cNvSpPr/>
          <p:nvPr/>
        </p:nvSpPr>
        <p:spPr>
          <a:xfrm>
            <a:off x="548640" y="4114800"/>
            <a:ext cx="7863840" cy="1417320"/>
          </a:xfrm>
          <a:prstGeom prst="roundRect">
            <a:avLst>
              <a:gd name="adj" fmla="val 5161"/>
            </a:avLst>
          </a:prstGeom>
          <a:solidFill>
            <a:srgbClr val="F96167">
              <a:alpha val="85000"/>
            </a:srgbClr>
          </a:solidFill>
          <a:ln/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4480560"/>
            <a:ext cx="502920" cy="502920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1554480" y="4343400"/>
            <a:ext cx="6492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bugs found here, both fixed</a:t>
            </a:r>
            <a:endParaRPr lang="en-US" sz="1500" dirty="0"/>
          </a:p>
        </p:txBody>
      </p:sp>
      <p:sp>
        <p:nvSpPr>
          <p:cNvPr id="21" name="Text 16"/>
          <p:cNvSpPr/>
          <p:nvPr/>
        </p:nvSpPr>
        <p:spPr>
          <a:xfrm>
            <a:off x="1554480" y="4736592"/>
            <a:ext cx="6492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FDEC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 On startup, both checks can report the same link, opening the payment screen twice. ② A permanent “ignore repeats” guard then blocked re-opening that link later (e.g. after cancelling). Fixed: only ignore a repeat within 2 seconds of the last one.</a:t>
            </a:r>
            <a:endParaRPr lang="en-US" sz="1150" dirty="0"/>
          </a:p>
        </p:txBody>
      </p:sp>
      <p:sp>
        <p:nvSpPr>
          <p:cNvPr id="22" name="Shape 17"/>
          <p:cNvSpPr/>
          <p:nvPr/>
        </p:nvSpPr>
        <p:spPr>
          <a:xfrm>
            <a:off x="8686800" y="1600200"/>
            <a:ext cx="2953512" cy="3931920"/>
          </a:xfrm>
          <a:prstGeom prst="roundRect">
            <a:avLst>
              <a:gd name="adj" fmla="val 2477"/>
            </a:avLst>
          </a:prstGeom>
          <a:solidFill>
            <a:srgbClr val="1C7293">
              <a:alpha val="85000"/>
            </a:srgbClr>
          </a:solidFill>
          <a:ln/>
        </p:spPr>
      </p:sp>
      <p:sp>
        <p:nvSpPr>
          <p:cNvPr id="23" name="Text 18"/>
          <p:cNvSpPr/>
          <p:nvPr/>
        </p:nvSpPr>
        <p:spPr>
          <a:xfrm>
            <a:off x="8915400" y="1783080"/>
            <a:ext cx="24963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Reading the token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8915400" y="2194560"/>
            <a:ext cx="2496312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a bank's own link:</a:t>
            </a:r>
            <a:endParaRPr lang="en-US" sz="1150" dirty="0"/>
          </a:p>
          <a:p>
            <a:pPr indent="0" marL="0">
              <a:lnSpc>
                <a:spcPct val="125000"/>
              </a:lnSpc>
              <a:spcAft>
                <a:spcPts val="400"/>
              </a:spcAft>
              <a:buNone/>
            </a:pPr>
            <a:r>
              <a:rPr lang="en-US" sz="1150" dirty="0">
                <a:solidFill>
                  <a:srgbClr val="E4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bankademo://pay?token=xyz</a:t>
            </a:r>
            <a:endParaRPr lang="en-US" sz="1150" dirty="0"/>
          </a:p>
          <a:p>
            <a:pPr indent="0" marL="0">
              <a:lnSpc>
                <a:spcPct val="125000"/>
              </a:lnSpc>
              <a:spcAft>
                <a:spcPts val="400"/>
              </a:spcAft>
              <a:buNone/>
            </a:pPr>
            <a:r>
              <a:rPr lang="en-US" sz="1150" dirty="0">
                <a:solidFill>
                  <a:srgbClr val="E4EC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token is right there in the link</a:t>
            </a:r>
            <a:endParaRPr lang="en-US" sz="1150" dirty="0"/>
          </a:p>
          <a:p>
            <a:pPr indent="0" marL="0">
              <a:lnSpc>
                <a:spcPct val="125000"/>
              </a:lnSpc>
              <a:spcAft>
                <a:spcPts val="400"/>
              </a:spcAft>
              <a:buNone/>
            </a:pPr>
            <a:r>
              <a:rPr lang="en-US" sz="11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150" dirty="0"/>
          </a:p>
          <a:p>
            <a:pPr indent="0" marL="0">
              <a:lnSpc>
                <a:spcPct val="125000"/>
              </a:lnSpc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the shared web link:</a:t>
            </a:r>
            <a:endParaRPr lang="en-US" sz="1150" dirty="0"/>
          </a:p>
          <a:p>
            <a:pPr indent="0" marL="0">
              <a:lnSpc>
                <a:spcPct val="125000"/>
              </a:lnSpc>
              <a:spcAft>
                <a:spcPts val="400"/>
              </a:spcAft>
              <a:buNone/>
            </a:pPr>
            <a:r>
              <a:rPr lang="en-US" sz="1150" dirty="0">
                <a:solidFill>
                  <a:srgbClr val="E4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https://host/pay/xyz</a:t>
            </a:r>
            <a:endParaRPr lang="en-US" sz="1150" dirty="0"/>
          </a:p>
          <a:p>
            <a:pPr indent="0" marL="0">
              <a:lnSpc>
                <a:spcPct val="125000"/>
              </a:lnSpc>
              <a:spcAft>
                <a:spcPts val="400"/>
              </a:spcAft>
              <a:buNone/>
            </a:pPr>
            <a:r>
              <a:rPr lang="en-US" sz="1150" dirty="0">
                <a:solidFill>
                  <a:srgbClr val="E4EC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token is the last part of the address</a:t>
            </a:r>
            <a:endParaRPr lang="en-US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Only one bank app can complete the payment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932688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server marks a payment "paid" the moment one bank confirms it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630936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77240" y="1828800"/>
            <a:ext cx="822960" cy="822960"/>
          </a:xfrm>
          <a:prstGeom prst="roundRect">
            <a:avLst>
              <a:gd name="adj" fmla="val 17778"/>
            </a:avLst>
          </a:prstGeom>
          <a:solidFill>
            <a:srgbClr val="1C729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8408" y="2029968"/>
            <a:ext cx="420624" cy="42062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783080" y="175564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Bank A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1783080" y="2148840"/>
            <a:ext cx="1417320" cy="365760"/>
          </a:xfrm>
          <a:prstGeom prst="roundRect">
            <a:avLst>
              <a:gd name="adj" fmla="val 50000"/>
            </a:avLst>
          </a:prstGeom>
          <a:solidFill>
            <a:srgbClr val="1C7293"/>
          </a:solidFill>
          <a:ln/>
        </p:spPr>
      </p:sp>
      <p:sp>
        <p:nvSpPr>
          <p:cNvPr id="9" name="Text 6"/>
          <p:cNvSpPr/>
          <p:nvPr/>
        </p:nvSpPr>
        <p:spPr>
          <a:xfrm>
            <a:off x="1783080" y="2148840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APPROVED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3383280" y="1783080"/>
            <a:ext cx="3246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Taps Approve first. The server marks the payment as paid and confirms.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548640" y="3200400"/>
            <a:ext cx="630936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777240" y="3474720"/>
            <a:ext cx="822960" cy="822960"/>
          </a:xfrm>
          <a:prstGeom prst="roundRect">
            <a:avLst>
              <a:gd name="adj" fmla="val 17778"/>
            </a:avLst>
          </a:prstGeom>
          <a:solidFill>
            <a:srgbClr val="F96167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408" y="3675888"/>
            <a:ext cx="420624" cy="420624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1783080" y="340156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Bank B</a:t>
            </a:r>
            <a:endParaRPr lang="en-US" sz="1700" dirty="0"/>
          </a:p>
        </p:txBody>
      </p:sp>
      <p:sp>
        <p:nvSpPr>
          <p:cNvPr id="15" name="Shape 11"/>
          <p:cNvSpPr/>
          <p:nvPr/>
        </p:nvSpPr>
        <p:spPr>
          <a:xfrm>
            <a:off x="1783080" y="3794760"/>
            <a:ext cx="1417320" cy="365760"/>
          </a:xfrm>
          <a:prstGeom prst="roundRect">
            <a:avLst>
              <a:gd name="adj" fmla="val 50000"/>
            </a:avLst>
          </a:prstGeom>
          <a:solidFill>
            <a:srgbClr val="F96167"/>
          </a:solidFill>
          <a:ln/>
        </p:spPr>
      </p:sp>
      <p:sp>
        <p:nvSpPr>
          <p:cNvPr id="16" name="Text 12"/>
          <p:cNvSpPr/>
          <p:nvPr/>
        </p:nvSpPr>
        <p:spPr>
          <a:xfrm>
            <a:off x="1783080" y="3794760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 LATE</a:t>
            </a:r>
            <a:endParaRPr lang="en-US" sz="1100" dirty="0"/>
          </a:p>
        </p:txBody>
      </p:sp>
      <p:sp>
        <p:nvSpPr>
          <p:cNvPr id="17" name="Text 13"/>
          <p:cNvSpPr/>
          <p:nvPr/>
        </p:nvSpPr>
        <p:spPr>
          <a:xfrm>
            <a:off x="3383280" y="3429000"/>
            <a:ext cx="3246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Taps Approve a moment later. The server says it's already paid, so it's rejected.</a:t>
            </a:r>
            <a:endParaRPr lang="en-US" sz="1200" dirty="0"/>
          </a:p>
        </p:txBody>
      </p:sp>
      <p:sp>
        <p:nvSpPr>
          <p:cNvPr id="18" name="Shape 14"/>
          <p:cNvSpPr/>
          <p:nvPr/>
        </p:nvSpPr>
        <p:spPr>
          <a:xfrm>
            <a:off x="7178040" y="1554480"/>
            <a:ext cx="4462272" cy="2834640"/>
          </a:xfrm>
          <a:prstGeom prst="roundRect">
            <a:avLst>
              <a:gd name="adj" fmla="val 2581"/>
            </a:avLst>
          </a:prstGeom>
          <a:solidFill>
            <a:srgbClr val="21295C"/>
          </a:solidFill>
          <a:ln/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52360" y="1828800"/>
            <a:ext cx="457200" cy="457200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8092440" y="1828800"/>
            <a:ext cx="3273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happens for Bank A</a:t>
            </a:r>
            <a:endParaRPr lang="en-US" sz="1500" dirty="0"/>
          </a:p>
        </p:txBody>
      </p:sp>
      <p:sp>
        <p:nvSpPr>
          <p:cNvPr id="21" name="Text 16"/>
          <p:cNvSpPr/>
          <p:nvPr/>
        </p:nvSpPr>
        <p:spPr>
          <a:xfrm>
            <a:off x="7452360" y="2468880"/>
            <a:ext cx="3913632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E4EC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paid amount is taken off its balance</a:t>
            </a:r>
            <a:endParaRPr lang="en-US" sz="1250" dirty="0"/>
          </a:p>
          <a:p>
            <a:pPr marL="342900" indent="-3429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E4EC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home screen balance updates instantly</a:t>
            </a:r>
            <a:endParaRPr lang="en-US" sz="1250" dirty="0"/>
          </a:p>
          <a:p>
            <a:pPr marL="342900" indent="-3429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E4EC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app shows the success screen</a:t>
            </a:r>
            <a:endParaRPr lang="en-US" sz="1250" dirty="0"/>
          </a:p>
          <a:p>
            <a:pPr marL="342900" indent="-3429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open picker webpage flips to “completed” within ~2s (polling)</a:t>
            </a:r>
            <a:endParaRPr lang="en-US" sz="1250" dirty="0"/>
          </a:p>
        </p:txBody>
      </p:sp>
      <p:sp>
        <p:nvSpPr>
          <p:cNvPr id="22" name="Shape 17"/>
          <p:cNvSpPr/>
          <p:nvPr/>
        </p:nvSpPr>
        <p:spPr>
          <a:xfrm>
            <a:off x="548640" y="4892040"/>
            <a:ext cx="11091672" cy="1417320"/>
          </a:xfrm>
          <a:prstGeom prst="roundRect">
            <a:avLst>
              <a:gd name="adj" fmla="val 5161"/>
            </a:avLst>
          </a:prstGeom>
          <a:solidFill>
            <a:srgbClr val="1C7293">
              <a:alpha val="85000"/>
            </a:srgbClr>
          </a:solidFill>
          <a:ln/>
        </p:spPr>
      </p:sp>
      <p:pic>
        <p:nvPicPr>
          <p:cNvPr id="2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960" y="5276088"/>
            <a:ext cx="502920" cy="502920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1463040" y="5093208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app never assumes — it always asks</a:t>
            </a:r>
            <a:endParaRPr lang="en-US" sz="1500" dirty="0"/>
          </a:p>
        </p:txBody>
      </p:sp>
      <p:sp>
        <p:nvSpPr>
          <p:cNvPr id="25" name="Text 19"/>
          <p:cNvSpPr/>
          <p:nvPr/>
        </p:nvSpPr>
        <p:spPr>
          <a:xfrm>
            <a:off x="1463040" y="5458968"/>
            <a:ext cx="100858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0B3B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showing the payment, every bank app asks the server for the merchant name and amount again. The link itself only ever carries one thing — a token, not the actual payment details.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2129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3 separate apps, not 1 app with settings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91440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chooser needs 3 apps installed at once — one app can't appear 3 times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822960" y="1691640"/>
            <a:ext cx="3383280" cy="2743200"/>
          </a:xfrm>
          <a:prstGeom prst="roundRect">
            <a:avLst>
              <a:gd name="adj" fmla="val 3333"/>
            </a:avLst>
          </a:prstGeom>
          <a:solidFill>
            <a:srgbClr val="E63946"/>
          </a:solidFill>
          <a:ln/>
        </p:spPr>
      </p:sp>
      <p:sp>
        <p:nvSpPr>
          <p:cNvPr id="5" name="Shape 3"/>
          <p:cNvSpPr/>
          <p:nvPr/>
        </p:nvSpPr>
        <p:spPr>
          <a:xfrm>
            <a:off x="2148840" y="1965960"/>
            <a:ext cx="731520" cy="73152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13432" y="2130552"/>
            <a:ext cx="402336" cy="40233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22960" y="283464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Bank A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1097280" y="3291840"/>
            <a:ext cx="2834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 ID</a:t>
            </a:r>
            <a:endParaRPr lang="en-US" sz="1200" dirty="0"/>
          </a:p>
          <a:p>
            <a:pPr algn="ctr" indent="0" marL="0">
              <a:lnSpc>
                <a:spcPct val="125000"/>
              </a:lnSpc>
              <a:spcAft>
                <a:spcPts val="600"/>
              </a:spcAft>
              <a:buNone/>
            </a:pPr>
            <a:r>
              <a:rPr lang="en-US" sz="105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com.sgqrdemo.bankaapp</a:t>
            </a:r>
            <a:endParaRPr lang="en-US" sz="1200" dirty="0"/>
          </a:p>
          <a:p>
            <a:pPr algn="ctr" indent="0" marL="0">
              <a:lnSpc>
                <a:spcPct val="125000"/>
              </a:lnSpc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URL Scheme</a:t>
            </a:r>
            <a:endParaRPr lang="en-US" sz="1200" dirty="0"/>
          </a:p>
          <a:p>
            <a:pPr algn="ctr" indent="0" marL="0">
              <a:lnSpc>
                <a:spcPct val="125000"/>
              </a:lnSpc>
              <a:spcAft>
                <a:spcPts val="600"/>
              </a:spcAft>
              <a:buNone/>
            </a:pPr>
            <a:r>
              <a:rPr lang="en-US" sz="105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bankademo://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4526280" y="1691640"/>
            <a:ext cx="3383280" cy="2743200"/>
          </a:xfrm>
          <a:prstGeom prst="roundRect">
            <a:avLst>
              <a:gd name="adj" fmla="val 3333"/>
            </a:avLst>
          </a:prstGeom>
          <a:solidFill>
            <a:srgbClr val="1D3557"/>
          </a:solidFill>
          <a:ln/>
        </p:spPr>
      </p:sp>
      <p:sp>
        <p:nvSpPr>
          <p:cNvPr id="10" name="Shape 7"/>
          <p:cNvSpPr/>
          <p:nvPr/>
        </p:nvSpPr>
        <p:spPr>
          <a:xfrm>
            <a:off x="5852160" y="1965960"/>
            <a:ext cx="731520" cy="73152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16752" y="2130552"/>
            <a:ext cx="402336" cy="402336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526280" y="283464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Bank B</a:t>
            </a:r>
            <a:endParaRPr lang="en-US" sz="2200" dirty="0"/>
          </a:p>
        </p:txBody>
      </p:sp>
      <p:sp>
        <p:nvSpPr>
          <p:cNvPr id="13" name="Text 9"/>
          <p:cNvSpPr/>
          <p:nvPr/>
        </p:nvSpPr>
        <p:spPr>
          <a:xfrm>
            <a:off x="4800600" y="3291840"/>
            <a:ext cx="2834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 ID</a:t>
            </a:r>
            <a:endParaRPr lang="en-US" sz="1200" dirty="0"/>
          </a:p>
          <a:p>
            <a:pPr algn="ctr" indent="0" marL="0">
              <a:lnSpc>
                <a:spcPct val="125000"/>
              </a:lnSpc>
              <a:spcAft>
                <a:spcPts val="600"/>
              </a:spcAft>
              <a:buNone/>
            </a:pPr>
            <a:r>
              <a:rPr lang="en-US" sz="105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com.sgqrdemo.bankbapp</a:t>
            </a:r>
            <a:endParaRPr lang="en-US" sz="1200" dirty="0"/>
          </a:p>
          <a:p>
            <a:pPr algn="ctr" indent="0" marL="0">
              <a:lnSpc>
                <a:spcPct val="125000"/>
              </a:lnSpc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URL Scheme</a:t>
            </a:r>
            <a:endParaRPr lang="en-US" sz="1200" dirty="0"/>
          </a:p>
          <a:p>
            <a:pPr algn="ctr" indent="0" marL="0">
              <a:lnSpc>
                <a:spcPct val="125000"/>
              </a:lnSpc>
              <a:spcAft>
                <a:spcPts val="600"/>
              </a:spcAft>
              <a:buNone/>
            </a:pPr>
            <a:r>
              <a:rPr lang="en-US" sz="105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bankbdemo://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8229600" y="1691640"/>
            <a:ext cx="3383280" cy="2743200"/>
          </a:xfrm>
          <a:prstGeom prst="roundRect">
            <a:avLst>
              <a:gd name="adj" fmla="val 3333"/>
            </a:avLst>
          </a:prstGeom>
          <a:solidFill>
            <a:srgbClr val="2A9D8F"/>
          </a:solidFill>
          <a:ln/>
        </p:spPr>
      </p:sp>
      <p:sp>
        <p:nvSpPr>
          <p:cNvPr id="15" name="Shape 11"/>
          <p:cNvSpPr/>
          <p:nvPr/>
        </p:nvSpPr>
        <p:spPr>
          <a:xfrm>
            <a:off x="9555480" y="1965960"/>
            <a:ext cx="731520" cy="73152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20072" y="2130552"/>
            <a:ext cx="402336" cy="402336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229600" y="283464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Bank C</a:t>
            </a:r>
            <a:endParaRPr lang="en-US" sz="2200" dirty="0"/>
          </a:p>
        </p:txBody>
      </p:sp>
      <p:sp>
        <p:nvSpPr>
          <p:cNvPr id="18" name="Text 13"/>
          <p:cNvSpPr/>
          <p:nvPr/>
        </p:nvSpPr>
        <p:spPr>
          <a:xfrm>
            <a:off x="8503920" y="3291840"/>
            <a:ext cx="2834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 ID</a:t>
            </a:r>
            <a:endParaRPr lang="en-US" sz="1200" dirty="0"/>
          </a:p>
          <a:p>
            <a:pPr algn="ctr" indent="0" marL="0">
              <a:lnSpc>
                <a:spcPct val="125000"/>
              </a:lnSpc>
              <a:spcAft>
                <a:spcPts val="600"/>
              </a:spcAft>
              <a:buNone/>
            </a:pPr>
            <a:r>
              <a:rPr lang="en-US" sz="105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com.sgqrdemo.bankcapp</a:t>
            </a:r>
            <a:endParaRPr lang="en-US" sz="1200" dirty="0"/>
          </a:p>
          <a:p>
            <a:pPr algn="ctr" indent="0" marL="0">
              <a:lnSpc>
                <a:spcPct val="125000"/>
              </a:lnSpc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URL Scheme</a:t>
            </a:r>
            <a:endParaRPr lang="en-US" sz="1200" dirty="0"/>
          </a:p>
          <a:p>
            <a:pPr algn="ctr" indent="0" marL="0">
              <a:lnSpc>
                <a:spcPct val="125000"/>
              </a:lnSpc>
              <a:spcAft>
                <a:spcPts val="600"/>
              </a:spcAft>
              <a:buNone/>
            </a:pPr>
            <a:r>
              <a:rPr lang="en-US" sz="105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bankcdemo://</a:t>
            </a:r>
            <a:endParaRPr lang="en-US" sz="1200" dirty="0"/>
          </a:p>
        </p:txBody>
      </p:sp>
      <p:sp>
        <p:nvSpPr>
          <p:cNvPr id="19" name="Shape 14"/>
          <p:cNvSpPr/>
          <p:nvPr/>
        </p:nvSpPr>
        <p:spPr>
          <a:xfrm>
            <a:off x="822960" y="4754880"/>
            <a:ext cx="10543032" cy="1234440"/>
          </a:xfrm>
          <a:prstGeom prst="roundRect">
            <a:avLst>
              <a:gd name="adj" fmla="val 5926"/>
            </a:avLst>
          </a:prstGeom>
          <a:solidFill>
            <a:srgbClr val="065A82">
              <a:alpha val="75000"/>
            </a:srgbClr>
          </a:solidFill>
          <a:ln/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7280" y="5074920"/>
            <a:ext cx="502920" cy="502920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1737360" y="491947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Copied, not shared</a:t>
            </a:r>
            <a:endParaRPr lang="en-US" sz="1400" dirty="0"/>
          </a:p>
        </p:txBody>
      </p:sp>
      <p:sp>
        <p:nvSpPr>
          <p:cNvPr id="22" name="Text 16"/>
          <p:cNvSpPr/>
          <p:nvPr/>
        </p:nvSpPr>
        <p:spPr>
          <a:xfrm>
            <a:off x="1737360" y="5266944"/>
            <a:ext cx="92628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E4EC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3 apps' code started as one copy, duplicated 3 times — it isn't shared behind the scenes. Fixing a bug in one app means copying that fix into the other two by hand.</a:t>
            </a:r>
            <a:endParaRPr lang="en-US" sz="11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What's real, what's simulated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5349240" cy="4206240"/>
          </a:xfrm>
          <a:prstGeom prst="roundRect">
            <a:avLst>
              <a:gd name="adj" fmla="val 173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822960" y="1737360"/>
            <a:ext cx="594360" cy="594360"/>
          </a:xfrm>
          <a:prstGeom prst="ellipse">
            <a:avLst/>
          </a:prstGeom>
          <a:solidFill>
            <a:srgbClr val="1C7293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8408" y="1892808"/>
            <a:ext cx="283464" cy="283464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554480" y="1828800"/>
            <a:ext cx="4069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Real</a:t>
            </a:r>
            <a:endParaRPr lang="en-US" sz="1900" dirty="0"/>
          </a:p>
        </p:txBody>
      </p:sp>
      <p:sp>
        <p:nvSpPr>
          <p:cNvPr id="7" name="Text 4"/>
          <p:cNvSpPr/>
          <p:nvPr/>
        </p:nvSpPr>
        <p:spPr>
          <a:xfrm>
            <a:off x="868680" y="2606040"/>
            <a:ext cx="470916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25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network request (create, fetch, and pay)</a:t>
            </a:r>
            <a:endParaRPr lang="en-US" sz="1300" dirty="0"/>
          </a:p>
          <a:p>
            <a:pPr marL="342900" indent="-342900">
              <a:lnSpc>
                <a:spcPct val="125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QR code and the actual link resolution on each phone</a:t>
            </a:r>
            <a:endParaRPr lang="en-US" sz="1300" dirty="0"/>
          </a:p>
          <a:p>
            <a:pPr marL="342900" indent="-342900">
              <a:lnSpc>
                <a:spcPct val="125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Android's chooser and iOS's Safari fallback, both genuinely triggered</a:t>
            </a:r>
            <a:endParaRPr lang="en-US" sz="1300" dirty="0"/>
          </a:p>
          <a:p>
            <a:pPr marL="342900" indent="-342900">
              <a:lnSpc>
                <a:spcPct val="125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Handling the link whether the app is closed, open, or in the background</a:t>
            </a:r>
            <a:endParaRPr lang="en-US" sz="1300" dirty="0"/>
          </a:p>
          <a:p>
            <a:pPr marL="342900" indent="-342900">
              <a:lnSpc>
                <a:spcPct val="125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payment can only be completed once, even with 2 taps at once</a:t>
            </a:r>
            <a:endParaRPr lang="en-US" sz="1300" dirty="0"/>
          </a:p>
          <a:p>
            <a:pPr marL="342900" indent="-342900">
              <a:lnSpc>
                <a:spcPct val="125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Basic protection against the page being embedded on another site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6263640" y="1463040"/>
            <a:ext cx="5349240" cy="4206240"/>
          </a:xfrm>
          <a:prstGeom prst="roundRect">
            <a:avLst>
              <a:gd name="adj" fmla="val 173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6537960" y="1737360"/>
            <a:ext cx="594360" cy="594360"/>
          </a:xfrm>
          <a:prstGeom prst="ellipse">
            <a:avLst/>
          </a:prstGeom>
          <a:solidFill>
            <a:srgbClr val="F96167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3408" y="1892808"/>
            <a:ext cx="283464" cy="283464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7269480" y="1828800"/>
            <a:ext cx="4069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Simulated</a:t>
            </a:r>
            <a:endParaRPr lang="en-US" sz="1900" dirty="0"/>
          </a:p>
        </p:txBody>
      </p:sp>
      <p:sp>
        <p:nvSpPr>
          <p:cNvPr id="12" name="Text 8"/>
          <p:cNvSpPr/>
          <p:nvPr/>
        </p:nvSpPr>
        <p:spPr>
          <a:xfrm>
            <a:off x="6583680" y="2606040"/>
            <a:ext cx="470916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25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bank balance — just a number in the app, resets on relaunch</a:t>
            </a:r>
            <a:endParaRPr lang="en-US" sz="1300" dirty="0"/>
          </a:p>
          <a:p>
            <a:pPr marL="342900" indent="-342900">
              <a:lnSpc>
                <a:spcPct val="125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payment — no real money moves, no real bank is involved</a:t>
            </a:r>
            <a:endParaRPr lang="en-US" sz="1300" dirty="0"/>
          </a:p>
          <a:p>
            <a:pPr marL="342900" indent="-342900">
              <a:lnSpc>
                <a:spcPct val="125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bank "paid" is just a label the server stores, not a settlement</a:t>
            </a:r>
            <a:endParaRPr lang="en-US" sz="1300" dirty="0"/>
          </a:p>
          <a:p>
            <a:pPr marL="342900" indent="-342900">
              <a:lnSpc>
                <a:spcPct val="125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real single-bank app would verify its Android App Link and register its iOS Universal Link — we tested that, and it's what removes the chooser, so we skip it on purpose here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2129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86800" y="-1828800"/>
            <a:ext cx="5486400" cy="5486400"/>
          </a:xfrm>
          <a:prstGeom prst="ellipse">
            <a:avLst/>
          </a:prstGeom>
          <a:solidFill>
            <a:srgbClr val="065A82">
              <a:alpha val="4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1828800" y="4572000"/>
            <a:ext cx="4572000" cy="4572000"/>
          </a:xfrm>
          <a:prstGeom prst="ellipse">
            <a:avLst/>
          </a:prstGeom>
          <a:solidFill>
            <a:srgbClr val="1C7293">
              <a:alpha val="35000"/>
            </a:srgbClr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280160"/>
            <a:ext cx="640080" cy="64008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22960" y="2103120"/>
            <a:ext cx="98755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link. Two different endings.</a:t>
            </a:r>
            <a:endParaRPr lang="en-US" sz="34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independent bank apps.</a:t>
            </a:r>
            <a:endParaRPr lang="en-US" sz="3400" dirty="0"/>
          </a:p>
        </p:txBody>
      </p:sp>
      <p:sp>
        <p:nvSpPr>
          <p:cNvPr id="6" name="Text 3"/>
          <p:cNvSpPr/>
          <p:nvPr/>
        </p:nvSpPr>
        <p:spPr>
          <a:xfrm>
            <a:off x="822960" y="3657600"/>
            <a:ext cx="8961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of the split comes from what each phone's OS does by default with an unregistered link. We even tested making Android's link official — it removed the tap, but it removed the choice too, so we kept things unregistered on purpose.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2129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548640" y="330000"/>
            <a:ext cx="1109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Methods Were Correct but Blocked</a:t>
            </a:r>
          </a:p>
        </p:txBody>
      </p:sp>
      <p:sp>
        <p:nvSpPr>
          <p:cNvPr id="3" name="Subtitle"/>
          <p:cNvSpPr/>
          <p:nvPr/>
        </p:nvSpPr>
        <p:spPr>
          <a:xfrm>
            <a:off x="548640" y="980000"/>
            <a:ext cx="11094720" cy="4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F4A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and hosting checked out — a real external requirement stopped them short</a:t>
            </a:r>
          </a:p>
        </p:txBody>
      </p:sp>
      <p:sp>
        <p:nvSpPr>
          <p:cNvPr id="31" name="ColHeader"/>
          <p:cNvSpPr/>
          <p:nvPr/>
        </p:nvSpPr>
        <p:spPr>
          <a:xfrm>
            <a:off x="548640" y="1600000"/>
            <a:ext cx="5347240" cy="500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8FD6E8"/>
                </a:solidFill>
                <a:latin typeface="Cambria" pitchFamily="34" charset="0"/>
              </a:rPr>
              <a:t>Bank 2 — Verified iOS Universal Links</a:t>
            </a:r>
          </a:p>
        </p:txBody>
      </p:sp>
      <p:sp>
        <p:nvSpPr>
          <p:cNvPr id="32" name="ColHeader"/>
          <p:cNvSpPr/>
          <p:nvPr/>
        </p:nvSpPr>
        <p:spPr>
          <a:xfrm>
            <a:off x="6295880" y="1600000"/>
            <a:ext cx="5347240" cy="500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8FD6E8"/>
                </a:solidFill>
                <a:latin typeface="Cambria" pitchFamily="34" charset="0"/>
              </a:rPr>
              <a:t>Bank 3 — iOS Smart App Banner</a:t>
            </a:r>
          </a:p>
        </p:txBody>
      </p:sp>
      <p:sp>
        <p:nvSpPr>
          <p:cNvPr id="33" name="Panel"/>
          <p:cNvSpPr/>
          <p:nvPr/>
        </p:nvSpPr>
        <p:spPr>
          <a:xfrm>
            <a:off x="548640" y="2200000"/>
            <a:ext cx="5347240" cy="420000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4" name="PanelTitle"/>
          <p:cNvSpPr/>
          <p:nvPr/>
        </p:nvSpPr>
        <p:spPr>
          <a:xfrm>
            <a:off x="768640" y="2380000"/>
            <a:ext cx="4907240" cy="42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18AB2"/>
                </a:solidFill>
                <a:latin typeface="Calibri" pitchFamily="34" charset="0"/>
              </a:rPr>
              <a:t>What we built</a:t>
            </a:r>
          </a:p>
        </p:txBody>
      </p:sp>
      <p:sp>
        <p:nvSpPr>
          <p:cNvPr id="35" name="PanelBody"/>
          <p:cNvSpPr/>
          <p:nvPr/>
        </p:nvSpPr>
        <p:spPr>
          <a:xfrm>
            <a:off x="768640" y="2850000"/>
            <a:ext cx="4907240" cy="335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indent="0" marL="228600">
              <a:lnSpc>
                <a:spcPct val="115000"/>
              </a:lnSpc>
              <a:spcAft>
                <a:spcPts val="900"/>
              </a:spcAft>
              <a:buFont typeface="Arial"/>
              <a:buChar char="•"/>
            </a:pPr>
            <a:r>
              <a:rPr lang="en-US" sz="1250" b="1" dirty="0">
                <a:solidFill>
                  <a:srgbClr val="1A2233"/>
                </a:solidFill>
                <a:latin typeface="Calibri" pitchFamily="34" charset="0"/>
              </a:rPr>
              <a:t>Entitlement: </a:t>
            </a:r>
            <a:r>
              <a:rPr lang="en-US" sz="1250" dirty="0">
                <a:solidFill>
                  <a:srgbClr val="333333"/>
                </a:solidFill>
                <a:latin typeface="Calibri" pitchFamily="34" charset="0"/>
              </a:rPr>
              <a:t>Associated Domains, confirmed present in the signed binary via codesign.</a:t>
            </a:r>
          </a:p>
          <a:p>
            <a:pPr indent="0" marL="228600">
              <a:lnSpc>
                <a:spcPct val="115000"/>
              </a:lnSpc>
              <a:spcAft>
                <a:spcPts val="900"/>
              </a:spcAft>
              <a:buFont typeface="Arial"/>
              <a:buChar char="•"/>
            </a:pPr>
            <a:r>
              <a:rPr lang="en-US" sz="1250" b="1" dirty="0">
                <a:solidFill>
                  <a:srgbClr val="1A2233"/>
                </a:solidFill>
                <a:latin typeface="Calibri" pitchFamily="34" charset="0"/>
              </a:rPr>
              <a:t>Hosting: </a:t>
            </a:r>
            <a:r>
              <a:rPr lang="en-US" sz="1250" dirty="0">
                <a:solidFill>
                  <a:srgbClr val="333333"/>
                </a:solidFill>
                <a:latin typeface="Calibri" pitchFamily="34" charset="0"/>
              </a:rPr>
              <a:t>apple-app-site-association served correctly at /.well-known/.</a:t>
            </a:r>
          </a:p>
          <a:p>
            <a:pPr indent="0" marL="228600">
              <a:lnSpc>
                <a:spcPct val="115000"/>
              </a:lnSpc>
              <a:spcAft>
                <a:spcPts val="900"/>
              </a:spcAft>
              <a:buFont typeface="Arial"/>
              <a:buChar char="•"/>
            </a:pPr>
            <a:r>
              <a:rPr lang="en-US" sz="1250" b="1" dirty="0">
                <a:solidFill>
                  <a:srgbClr val="1A2233"/>
                </a:solidFill>
                <a:latin typeface="Calibri" pitchFamily="34" charset="0"/>
              </a:rPr>
              <a:t>Blocker: </a:t>
            </a:r>
            <a:r>
              <a:rPr lang="en-US" sz="1250" dirty="0">
                <a:solidFill>
                  <a:srgbClr val="333333"/>
                </a:solidFill>
                <a:latin typeface="Calibri" pitchFamily="34" charset="0"/>
              </a:rPr>
              <a:t>Full verification requires a paid Apple Developer Program membership.</a:t>
            </a:r>
          </a:p>
          <a:p>
            <a:pPr indent="0" marL="228600">
              <a:lnSpc>
                <a:spcPct val="115000"/>
              </a:lnSpc>
              <a:spcAft>
                <a:spcPts val="900"/>
              </a:spcAft>
              <a:buFont typeface="Arial"/>
              <a:buChar char="•"/>
            </a:pPr>
            <a:r>
              <a:rPr lang="en-US" sz="1250" b="1" dirty="0">
                <a:solidFill>
                  <a:srgbClr val="1A2233"/>
                </a:solidFill>
                <a:latin typeface="Calibri" pitchFamily="34" charset="0"/>
              </a:rPr>
              <a:t>Observed: </a:t>
            </a:r>
            <a:r>
              <a:rPr lang="en-US" sz="1250" dirty="0">
                <a:solidFill>
                  <a:srgbClr val="333333"/>
                </a:solidFill>
                <a:latin typeface="Calibri" pitchFamily="34" charset="0"/>
              </a:rPr>
              <a:t>iOS never created the per-app "Open Links" Settings entry — every test fell through to Safari with a manual banner, never a silent handoff.</a:t>
            </a:r>
          </a:p>
        </p:txBody>
      </p:sp>
      <p:sp>
        <p:nvSpPr>
          <p:cNvPr id="36" name="Panel"/>
          <p:cNvSpPr/>
          <p:nvPr/>
        </p:nvSpPr>
        <p:spPr>
          <a:xfrm>
            <a:off x="6295880" y="2200000"/>
            <a:ext cx="5347240" cy="420000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7" name="PanelTitle"/>
          <p:cNvSpPr/>
          <p:nvPr/>
        </p:nvSpPr>
        <p:spPr>
          <a:xfrm>
            <a:off x="6515880" y="2380000"/>
            <a:ext cx="4907240" cy="42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B5651D"/>
                </a:solidFill>
                <a:latin typeface="Calibri" pitchFamily="34" charset="0"/>
              </a:rPr>
              <a:t>What we built</a:t>
            </a:r>
          </a:p>
        </p:txBody>
      </p:sp>
      <p:sp>
        <p:nvSpPr>
          <p:cNvPr id="38" name="PanelBody"/>
          <p:cNvSpPr/>
          <p:nvPr/>
        </p:nvSpPr>
        <p:spPr>
          <a:xfrm>
            <a:off x="6515880" y="2850000"/>
            <a:ext cx="4907240" cy="335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indent="0" marL="228600">
              <a:lnSpc>
                <a:spcPct val="115000"/>
              </a:lnSpc>
              <a:spcAft>
                <a:spcPts val="900"/>
              </a:spcAft>
              <a:buFont typeface="Arial"/>
              <a:buChar char="•"/>
            </a:pPr>
            <a:r>
              <a:rPr lang="en-US" sz="1250" b="1" dirty="0">
                <a:solidFill>
                  <a:srgbClr val="1A2233"/>
                </a:solidFill>
                <a:latin typeface="Calibri" pitchFamily="34" charset="0"/>
              </a:rPr>
              <a:t>Tag: </a:t>
            </a:r>
            <a:r>
              <a:rPr lang="en-US" sz="1250" dirty="0">
                <a:solidFill>
                  <a:srgbClr val="333333"/>
                </a:solidFill>
                <a:latin typeface="Calibri" pitchFamily="34" charset="0"/>
              </a:rPr>
              <a:t>A correct &lt;meta name="apple-itunes-app"&gt; with app-id and app-argument.</a:t>
            </a:r>
          </a:p>
          <a:p>
            <a:pPr indent="0" marL="228600">
              <a:lnSpc>
                <a:spcPct val="115000"/>
              </a:lnSpc>
              <a:spcAft>
                <a:spcPts val="900"/>
              </a:spcAft>
              <a:buFont typeface="Arial"/>
              <a:buChar char="•"/>
            </a:pPr>
            <a:r>
              <a:rPr lang="en-US" sz="1250" b="1" dirty="0">
                <a:solidFill>
                  <a:srgbClr val="1A2233"/>
                </a:solidFill>
                <a:latin typeface="Calibri" pitchFamily="34" charset="0"/>
              </a:rPr>
              <a:t>Hosting: </a:t>
            </a:r>
            <a:r>
              <a:rPr lang="en-US" sz="1250" dirty="0">
                <a:solidFill>
                  <a:srgbClr val="333333"/>
                </a:solidFill>
                <a:latin typeface="Calibri" pitchFamily="34" charset="0"/>
              </a:rPr>
              <a:t>Deployed and reachable — page loads fine in Safari.</a:t>
            </a:r>
          </a:p>
          <a:p>
            <a:pPr indent="0" marL="228600">
              <a:lnSpc>
                <a:spcPct val="115000"/>
              </a:lnSpc>
              <a:spcAft>
                <a:spcPts val="900"/>
              </a:spcAft>
              <a:buFont typeface="Arial"/>
              <a:buChar char="•"/>
            </a:pPr>
            <a:r>
              <a:rPr lang="en-US" sz="1250" b="1" dirty="0">
                <a:solidFill>
                  <a:srgbClr val="1A2233"/>
                </a:solidFill>
                <a:latin typeface="Calibri" pitchFamily="34" charset="0"/>
              </a:rPr>
              <a:t>Blocker: </a:t>
            </a:r>
            <a:r>
              <a:rPr lang="en-US" sz="1250" dirty="0">
                <a:solidFill>
                  <a:srgbClr val="333333"/>
                </a:solidFill>
                <a:latin typeface="Calibri" pitchFamily="34" charset="0"/>
              </a:rPr>
              <a:t>The app-id must match a real, published App Store listing.</a:t>
            </a:r>
          </a:p>
          <a:p>
            <a:pPr indent="0" marL="228600">
              <a:lnSpc>
                <a:spcPct val="115000"/>
              </a:lnSpc>
              <a:spcAft>
                <a:spcPts val="900"/>
              </a:spcAft>
              <a:buFont typeface="Arial"/>
              <a:buChar char="•"/>
            </a:pPr>
            <a:r>
              <a:rPr lang="en-US" sz="1250" b="1" dirty="0">
                <a:solidFill>
                  <a:srgbClr val="1A2233"/>
                </a:solidFill>
                <a:latin typeface="Calibri" pitchFamily="34" charset="0"/>
              </a:rPr>
              <a:t>Observed: </a:t>
            </a:r>
            <a:r>
              <a:rPr lang="en-US" sz="1250" dirty="0">
                <a:solidFill>
                  <a:srgbClr val="333333"/>
                </a:solidFill>
                <a:latin typeface="Calibri" pitchFamily="34" charset="0"/>
              </a:rPr>
              <a:t>Apple validates the app-id server-side, not just tag presence — a sideloaded, unpublished app can never trigger the banner, no matter how correct the tag is.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2129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548640" y="330000"/>
            <a:ext cx="1109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</a:rPr>
              <a:t>Cross-Platform Verification: Confirmed Live</a:t>
            </a:r>
          </a:p>
        </p:txBody>
      </p:sp>
      <p:sp>
        <p:nvSpPr>
          <p:cNvPr id="3" name="Subtitle"/>
          <p:cNvSpPr/>
          <p:nvPr/>
        </p:nvSpPr>
        <p:spPr>
          <a:xfrm>
            <a:off x="548640" y="980000"/>
            <a:ext cx="11094720" cy="4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CADCFC"/>
                </a:solidFill>
                <a:latin typeface="Calibri" pitchFamily="34" charset="0"/>
              </a:rPr>
              <a:t>Every app was also installed on the "wrong" platform to confirm the negative case</a:t>
            </a:r>
          </a:p>
        </p:txBody>
      </p:sp>
      <p:sp>
        <p:nvSpPr>
          <p:cNvPr id="1001" name="THead"/>
          <p:cNvSpPr/>
          <p:nvPr/>
        </p:nvSpPr>
        <p:spPr>
          <a:xfrm>
            <a:off x="548640" y="1650000"/>
            <a:ext cx="2600000" cy="480000"/>
          </a:xfrm>
          <a:prstGeom prst="rect">
            <a:avLst/>
          </a:prstGeom>
          <a:solidFill>
            <a:srgbClr val="21295C"/>
          </a:solidFill>
          <a:ln>
            <a:noFill/>
          </a:ln>
        </p:spPr>
        <p:txBody>
          <a:bodyPr wrap="square" lIns="90000" tIns="45000" rIns="90000" bIns="4500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</a:rPr>
              <a:t>App</a:t>
            </a:r>
          </a:p>
        </p:txBody>
      </p:sp>
      <p:sp>
        <p:nvSpPr>
          <p:cNvPr id="1002" name="THead"/>
          <p:cNvSpPr/>
          <p:nvPr/>
        </p:nvSpPr>
        <p:spPr>
          <a:xfrm>
            <a:off x="3148640" y="1650000"/>
            <a:ext cx="4700000" cy="480000"/>
          </a:xfrm>
          <a:prstGeom prst="rect">
            <a:avLst/>
          </a:prstGeom>
          <a:solidFill>
            <a:srgbClr val="21295C"/>
          </a:solidFill>
          <a:ln>
            <a:noFill/>
          </a:ln>
        </p:spPr>
        <p:txBody>
          <a:bodyPr wrap="square" lIns="90000" tIns="45000" rIns="90000" bIns="4500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</a:rPr>
              <a:t>On Android</a:t>
            </a:r>
          </a:p>
        </p:txBody>
      </p:sp>
      <p:sp>
        <p:nvSpPr>
          <p:cNvPr id="1003" name="THead"/>
          <p:cNvSpPr/>
          <p:nvPr/>
        </p:nvSpPr>
        <p:spPr>
          <a:xfrm>
            <a:off x="7848640" y="1650000"/>
            <a:ext cx="4700000" cy="480000"/>
          </a:xfrm>
          <a:prstGeom prst="rect">
            <a:avLst/>
          </a:prstGeom>
          <a:solidFill>
            <a:srgbClr val="21295C"/>
          </a:solidFill>
          <a:ln>
            <a:noFill/>
          </a:ln>
        </p:spPr>
        <p:txBody>
          <a:bodyPr wrap="square" lIns="90000" tIns="45000" rIns="90000" bIns="4500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</a:rPr>
              <a:t>On iOS</a:t>
            </a:r>
          </a:p>
        </p:txBody>
      </p:sp>
      <p:sp>
        <p:nvSpPr>
          <p:cNvPr id="1004" name="TCell"/>
          <p:cNvSpPr/>
          <p:nvPr/>
        </p:nvSpPr>
        <p:spPr>
          <a:xfrm>
            <a:off x="548640" y="2130000"/>
            <a:ext cx="2600000" cy="7000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</p:spPr>
        <p:txBody>
          <a:bodyPr wrap="square" lIns="90000" tIns="40000" rIns="90000" bIns="4000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2233"/>
                </a:solidFill>
                <a:latin typeface="Calibri" pitchFamily="34" charset="0"/>
              </a:rPr>
              <a:t>Bank 1 — App Links</a:t>
            </a:r>
          </a:p>
        </p:txBody>
      </p:sp>
      <p:sp>
        <p:nvSpPr>
          <p:cNvPr id="1005" name="TCell"/>
          <p:cNvSpPr/>
          <p:nvPr/>
        </p:nvSpPr>
        <p:spPr>
          <a:xfrm>
            <a:off x="3148640" y="2130000"/>
            <a:ext cx="4700000" cy="700000"/>
          </a:xfrm>
          <a:prstGeom prst="rect">
            <a:avLst/>
          </a:prstGeom>
          <a:solidFill>
            <a:srgbClr val="8CFFC1"/>
          </a:solidFill>
          <a:ln w="6350">
            <a:solidFill>
              <a:srgbClr val="D9D9D9"/>
            </a:solidFill>
          </a:ln>
        </p:spPr>
        <p:txBody>
          <a:bodyPr wrap="square" lIns="90000" tIns="40000" rIns="90000" bIns="4000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233"/>
                </a:solidFill>
                <a:latin typeface="Calibri" pitchFamily="34" charset="0"/>
              </a:rPr>
              <a:t>Opens directly, zero prompt</a:t>
            </a:r>
          </a:p>
        </p:txBody>
      </p:sp>
      <p:sp>
        <p:nvSpPr>
          <p:cNvPr id="1006" name="TCell"/>
          <p:cNvSpPr/>
          <p:nvPr/>
        </p:nvSpPr>
        <p:spPr>
          <a:xfrm>
            <a:off x="7848640" y="2130000"/>
            <a:ext cx="4700000" cy="700000"/>
          </a:xfrm>
          <a:prstGeom prst="rect">
            <a:avLst/>
          </a:prstGeom>
          <a:solidFill>
            <a:srgbClr val="FBEAEA"/>
          </a:solidFill>
          <a:ln w="6350">
            <a:solidFill>
              <a:srgbClr val="D9D9D9"/>
            </a:solidFill>
          </a:ln>
        </p:spPr>
        <p:txBody>
          <a:bodyPr wrap="square" lIns="90000" tIns="40000" rIns="90000" bIns="4000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233"/>
                </a:solidFill>
                <a:latin typeface="Calibri" pitchFamily="34" charset="0"/>
              </a:rPr>
              <a:t>Just a webpage — the app is never involved</a:t>
            </a:r>
          </a:p>
        </p:txBody>
      </p:sp>
      <p:sp>
        <p:nvSpPr>
          <p:cNvPr id="1007" name="TCell"/>
          <p:cNvSpPr/>
          <p:nvPr/>
        </p:nvSpPr>
        <p:spPr>
          <a:xfrm>
            <a:off x="548640" y="2830000"/>
            <a:ext cx="2600000" cy="7000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</p:spPr>
        <p:txBody>
          <a:bodyPr wrap="square" lIns="90000" tIns="40000" rIns="90000" bIns="4000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2233"/>
                </a:solidFill>
                <a:latin typeface="Calibri" pitchFamily="34" charset="0"/>
              </a:rPr>
              <a:t>Bank 2 — Universal Links</a:t>
            </a:r>
          </a:p>
        </p:txBody>
      </p:sp>
      <p:sp>
        <p:nvSpPr>
          <p:cNvPr id="1008" name="TCell"/>
          <p:cNvSpPr/>
          <p:nvPr/>
        </p:nvSpPr>
        <p:spPr>
          <a:xfrm>
            <a:off x="3148640" y="2830000"/>
            <a:ext cx="4700000" cy="700000"/>
          </a:xfrm>
          <a:prstGeom prst="rect">
            <a:avLst/>
          </a:prstGeom>
          <a:solidFill>
            <a:srgbClr val="FBEAEA"/>
          </a:solidFill>
          <a:ln w="6350">
            <a:solidFill>
              <a:srgbClr val="D9D9D9"/>
            </a:solidFill>
          </a:ln>
        </p:spPr>
        <p:txBody>
          <a:bodyPr wrap="square" lIns="90000" tIns="40000" rIns="90000" bIns="4000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233"/>
                </a:solidFill>
                <a:latin typeface="Calibri" pitchFamily="34" charset="0"/>
              </a:rPr>
              <a:t>Just opens Chrome — the app is never involved</a:t>
            </a:r>
          </a:p>
        </p:txBody>
      </p:sp>
      <p:sp>
        <p:nvSpPr>
          <p:cNvPr id="1009" name="TCell"/>
          <p:cNvSpPr/>
          <p:nvPr/>
        </p:nvSpPr>
        <p:spPr>
          <a:xfrm>
            <a:off x="7848640" y="2830000"/>
            <a:ext cx="4700000" cy="700000"/>
          </a:xfrm>
          <a:prstGeom prst="rect">
            <a:avLst/>
          </a:prstGeom>
          <a:solidFill>
            <a:srgbClr val="FFE9B3"/>
          </a:solidFill>
          <a:ln w="6350">
            <a:solidFill>
              <a:srgbClr val="D9D9D9"/>
            </a:solidFill>
          </a:ln>
        </p:spPr>
        <p:txBody>
          <a:bodyPr wrap="square" lIns="90000" tIns="40000" rIns="90000" bIns="4000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233"/>
                </a:solidFill>
                <a:latin typeface="Calibri" pitchFamily="34" charset="0"/>
              </a:rPr>
              <a:t>Safari + manual banner (free-account limit)</a:t>
            </a:r>
          </a:p>
        </p:txBody>
      </p:sp>
      <p:sp>
        <p:nvSpPr>
          <p:cNvPr id="1010" name="TCell"/>
          <p:cNvSpPr/>
          <p:nvPr/>
        </p:nvSpPr>
        <p:spPr>
          <a:xfrm>
            <a:off x="548640" y="3530000"/>
            <a:ext cx="2600000" cy="7000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</p:spPr>
        <p:txBody>
          <a:bodyPr wrap="square" lIns="90000" tIns="40000" rIns="90000" bIns="4000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2233"/>
                </a:solidFill>
                <a:latin typeface="Calibri" pitchFamily="34" charset="0"/>
              </a:rPr>
              <a:t>Bank 3 — Smart Banner</a:t>
            </a:r>
          </a:p>
        </p:txBody>
      </p:sp>
      <p:sp>
        <p:nvSpPr>
          <p:cNvPr id="1011" name="TCell"/>
          <p:cNvSpPr/>
          <p:nvPr/>
        </p:nvSpPr>
        <p:spPr>
          <a:xfrm>
            <a:off x="3148640" y="3530000"/>
            <a:ext cx="4700000" cy="700000"/>
          </a:xfrm>
          <a:prstGeom prst="rect">
            <a:avLst/>
          </a:prstGeom>
          <a:solidFill>
            <a:srgbClr val="FBEAEA"/>
          </a:solidFill>
          <a:ln w="6350">
            <a:solidFill>
              <a:srgbClr val="D9D9D9"/>
            </a:solidFill>
          </a:ln>
        </p:spPr>
        <p:txBody>
          <a:bodyPr wrap="square" lIns="90000" tIns="40000" rIns="90000" bIns="4000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233"/>
                </a:solidFill>
                <a:latin typeface="Calibri" pitchFamily="34" charset="0"/>
              </a:rPr>
              <a:t>Just opens Chrome — the app is never involved</a:t>
            </a:r>
          </a:p>
        </p:txBody>
      </p:sp>
      <p:sp>
        <p:nvSpPr>
          <p:cNvPr id="1012" name="TCell"/>
          <p:cNvSpPr/>
          <p:nvPr/>
        </p:nvSpPr>
        <p:spPr>
          <a:xfrm>
            <a:off x="7848640" y="3530000"/>
            <a:ext cx="4700000" cy="700000"/>
          </a:xfrm>
          <a:prstGeom prst="rect">
            <a:avLst/>
          </a:prstGeom>
          <a:solidFill>
            <a:srgbClr val="FFE9B3"/>
          </a:solidFill>
          <a:ln w="6350">
            <a:solidFill>
              <a:srgbClr val="D9D9D9"/>
            </a:solidFill>
          </a:ln>
        </p:spPr>
        <p:txBody>
          <a:bodyPr wrap="square" lIns="90000" tIns="40000" rIns="90000" bIns="4000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233"/>
                </a:solidFill>
                <a:latin typeface="Calibri" pitchFamily="34" charset="0"/>
              </a:rPr>
              <a:t>Banner can't render (needs App Store listing)</a:t>
            </a:r>
          </a:p>
        </p:txBody>
      </p:sp>
      <p:sp>
        <p:nvSpPr>
          <p:cNvPr id="1013" name="TCell"/>
          <p:cNvSpPr/>
          <p:nvPr/>
        </p:nvSpPr>
        <p:spPr>
          <a:xfrm>
            <a:off x="548640" y="4230000"/>
            <a:ext cx="2600000" cy="7000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</p:spPr>
        <p:txBody>
          <a:bodyPr wrap="square" lIns="90000" tIns="40000" rIns="90000" bIns="4000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2233"/>
                </a:solidFill>
                <a:latin typeface="Calibri" pitchFamily="34" charset="0"/>
              </a:rPr>
              <a:t>Bank 4 — Explicit Intent</a:t>
            </a:r>
          </a:p>
        </p:txBody>
      </p:sp>
      <p:sp>
        <p:nvSpPr>
          <p:cNvPr id="1014" name="TCell"/>
          <p:cNvSpPr/>
          <p:nvPr/>
        </p:nvSpPr>
        <p:spPr>
          <a:xfrm>
            <a:off x="3148640" y="4230000"/>
            <a:ext cx="4700000" cy="700000"/>
          </a:xfrm>
          <a:prstGeom prst="rect">
            <a:avLst/>
          </a:prstGeom>
          <a:solidFill>
            <a:srgbClr val="8CFFC1"/>
          </a:solidFill>
          <a:ln w="6350">
            <a:solidFill>
              <a:srgbClr val="D9D9D9"/>
            </a:solidFill>
          </a:ln>
        </p:spPr>
        <p:txBody>
          <a:bodyPr wrap="square" lIns="90000" tIns="40000" rIns="90000" bIns="4000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233"/>
                </a:solidFill>
                <a:latin typeface="Calibri" pitchFamily="34" charset="0"/>
              </a:rPr>
              <a:t>Opens directly, zero prompt</a:t>
            </a:r>
          </a:p>
        </p:txBody>
      </p:sp>
      <p:sp>
        <p:nvSpPr>
          <p:cNvPr id="1015" name="TCell"/>
          <p:cNvSpPr/>
          <p:nvPr/>
        </p:nvSpPr>
        <p:spPr>
          <a:xfrm>
            <a:off x="7848640" y="4230000"/>
            <a:ext cx="4700000" cy="700000"/>
          </a:xfrm>
          <a:prstGeom prst="rect">
            <a:avLst/>
          </a:prstGeom>
          <a:solidFill>
            <a:srgbClr val="FBEAEA"/>
          </a:solidFill>
          <a:ln w="6350">
            <a:solidFill>
              <a:srgbClr val="D9D9D9"/>
            </a:solidFill>
          </a:ln>
        </p:spPr>
        <p:txBody>
          <a:bodyPr wrap="square" lIns="90000" tIns="40000" rIns="90000" bIns="4000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233"/>
                </a:solidFill>
                <a:latin typeface="Calibri" pitchFamily="34" charset="0"/>
              </a:rPr>
              <a:t>Just a webpage — the app is never involved</a:t>
            </a:r>
          </a:p>
        </p:txBody>
      </p:sp>
      <p:sp>
        <p:nvSpPr>
          <p:cNvPr id="1016" name="TCell"/>
          <p:cNvSpPr/>
          <p:nvPr/>
        </p:nvSpPr>
        <p:spPr>
          <a:xfrm>
            <a:off x="548640" y="4930000"/>
            <a:ext cx="2600000" cy="7000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</p:spPr>
        <p:txBody>
          <a:bodyPr wrap="square" lIns="90000" tIns="40000" rIns="90000" bIns="4000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2233"/>
                </a:solidFill>
                <a:latin typeface="Calibri" pitchFamily="34" charset="0"/>
              </a:rPr>
              <a:t>Bank 5 — Deferred Linking</a:t>
            </a:r>
          </a:p>
        </p:txBody>
      </p:sp>
      <p:sp>
        <p:nvSpPr>
          <p:cNvPr id="1017" name="TCell"/>
          <p:cNvSpPr/>
          <p:nvPr/>
        </p:nvSpPr>
        <p:spPr>
          <a:xfrm>
            <a:off x="3148640" y="4930000"/>
            <a:ext cx="4700000" cy="700000"/>
          </a:xfrm>
          <a:prstGeom prst="rect">
            <a:avLst/>
          </a:prstGeom>
          <a:solidFill>
            <a:srgbClr val="8CFFC1"/>
          </a:solidFill>
          <a:ln w="6350">
            <a:solidFill>
              <a:srgbClr val="D9D9D9"/>
            </a:solidFill>
          </a:ln>
        </p:spPr>
        <p:txBody>
          <a:bodyPr wrap="square" lIns="90000" tIns="40000" rIns="90000" bIns="4000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233"/>
                </a:solidFill>
                <a:latin typeface="Calibri" pitchFamily="34" charset="0"/>
              </a:rPr>
              <a:t>Correct token recovered</a:t>
            </a:r>
          </a:p>
        </p:txBody>
      </p:sp>
      <p:sp>
        <p:nvSpPr>
          <p:cNvPr id="1018" name="TCell"/>
          <p:cNvSpPr/>
          <p:nvPr/>
        </p:nvSpPr>
        <p:spPr>
          <a:xfrm>
            <a:off x="7848640" y="4930000"/>
            <a:ext cx="4700000" cy="700000"/>
          </a:xfrm>
          <a:prstGeom prst="rect">
            <a:avLst/>
          </a:prstGeom>
          <a:solidFill>
            <a:srgbClr val="8CFFC1"/>
          </a:solidFill>
          <a:ln w="6350">
            <a:solidFill>
              <a:srgbClr val="D9D9D9"/>
            </a:solidFill>
          </a:ln>
        </p:spPr>
        <p:txBody>
          <a:bodyPr wrap="square" lIns="90000" tIns="40000" rIns="90000" bIns="4000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233"/>
                </a:solidFill>
                <a:latin typeface="Calibri" pitchFamily="34" charset="0"/>
              </a:rPr>
              <a:t>Correct token recovered — identical to Android</a:t>
            </a:r>
          </a:p>
        </p:txBody>
      </p:sp>
      <p:sp>
        <p:nvSpPr>
          <p:cNvPr id="1019" name="TCell"/>
          <p:cNvSpPr/>
          <p:nvPr/>
        </p:nvSpPr>
        <p:spPr>
          <a:xfrm>
            <a:off x="548640" y="5630000"/>
            <a:ext cx="2600000" cy="7000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</p:spPr>
        <p:txBody>
          <a:bodyPr wrap="square" lIns="90000" tIns="40000" rIns="90000" bIns="4000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2233"/>
                </a:solidFill>
                <a:latin typeface="Calibri" pitchFamily="34" charset="0"/>
              </a:rPr>
              <a:t>Unregistered link (Bank A/B/C)</a:t>
            </a:r>
          </a:p>
        </p:txBody>
      </p:sp>
      <p:sp>
        <p:nvSpPr>
          <p:cNvPr id="1020" name="TCell"/>
          <p:cNvSpPr/>
          <p:nvPr/>
        </p:nvSpPr>
        <p:spPr>
          <a:xfrm>
            <a:off x="3148640" y="5630000"/>
            <a:ext cx="4700000" cy="700000"/>
          </a:xfrm>
          <a:prstGeom prst="rect">
            <a:avLst/>
          </a:prstGeom>
          <a:solidFill>
            <a:srgbClr val="E8F5F0"/>
          </a:solidFill>
          <a:ln w="6350">
            <a:solidFill>
              <a:srgbClr val="D9D9D9"/>
            </a:solidFill>
          </a:ln>
        </p:spPr>
        <p:txBody>
          <a:bodyPr wrap="square" lIns="90000" tIns="40000" rIns="90000" bIns="4000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233"/>
                </a:solidFill>
                <a:latin typeface="Calibri" pitchFamily="34" charset="0"/>
              </a:rPr>
              <a:t>Native chooser — the real, working point of this project, not a fallback.</a:t>
            </a:r>
          </a:p>
        </p:txBody>
      </p:sp>
      <p:sp>
        <p:nvSpPr>
          <p:cNvPr id="1021" name="TCell"/>
          <p:cNvSpPr/>
          <p:nvPr/>
        </p:nvSpPr>
        <p:spPr>
          <a:xfrm>
            <a:off x="7848640" y="5630000"/>
            <a:ext cx="4700000" cy="700000"/>
          </a:xfrm>
          <a:prstGeom prst="rect">
            <a:avLst/>
          </a:prstGeom>
          <a:solidFill>
            <a:srgbClr val="E8F5F0"/>
          </a:solidFill>
          <a:ln w="6350">
            <a:solidFill>
              <a:srgbClr val="D9D9D9"/>
            </a:solidFill>
          </a:ln>
        </p:spPr>
        <p:txBody>
          <a:bodyPr wrap="square" lIns="90000" tIns="40000" rIns="90000" bIns="4000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233"/>
                </a:solidFill>
                <a:latin typeface="Calibri" pitchFamily="34" charset="0"/>
              </a:rPr>
              <a:t>Web picker grid — the real, working point of this project, not a fallback.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WhyUnregisteredConclus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TB"/>
          <p:cNvSpPr/>
          <p:nvPr/>
        </p:nvSpPr>
        <p:spPr>
          <a:xfrm>
            <a:off x="548640" y="330000"/>
            <a:ext cx="11094720" cy="60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1295C"/>
                </a:solidFill>
                <a:latin typeface="Cambria" pitchFamily="34" charset="0"/>
              </a:rPr>
              <a:t>Why Unregistered Link Still Wins</a:t>
            </a:r>
          </a:p>
        </p:txBody>
      </p:sp>
      <p:sp>
        <p:nvSpPr>
          <p:cNvPr id="123" name="TB"/>
          <p:cNvSpPr/>
          <p:nvPr/>
        </p:nvSpPr>
        <p:spPr>
          <a:xfrm>
            <a:off x="548640" y="980000"/>
            <a:ext cx="11094720" cy="40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5B6B79"/>
                </a:solidFill>
                <a:latin typeface="Calibri" pitchFamily="34" charset="0"/>
              </a:rPr>
              <a:t>Having built and tested all 5 alternatives, this is the conclusion they point to</a:t>
            </a:r>
          </a:p>
        </p:txBody>
      </p:sp>
      <p:sp>
        <p:nvSpPr>
          <p:cNvPr id="124" name="Box"/>
          <p:cNvSpPr/>
          <p:nvPr/>
        </p:nvSpPr>
        <p:spPr>
          <a:xfrm>
            <a:off x="548640" y="1650000"/>
            <a:ext cx="5450000" cy="2100000"/>
          </a:xfrm>
          <a:prstGeom prst="roundRect">
            <a:avLst>
              <a:gd name="adj" fmla="val 3000"/>
            </a:avLst>
          </a:prstGeom>
          <a:solidFill>
            <a:srgbClr val="E8F5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25" name="TB"/>
          <p:cNvSpPr/>
          <p:nvPr/>
        </p:nvSpPr>
        <p:spPr>
          <a:xfrm>
            <a:off x="748640" y="1780000"/>
            <a:ext cx="5050000" cy="32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B5D3B"/>
                </a:solidFill>
                <a:latin typeface="Calibri" pitchFamily="34" charset="0"/>
              </a:rPr>
              <a:t>Android</a:t>
            </a:r>
          </a:p>
        </p:txBody>
      </p:sp>
      <p:sp>
        <p:nvSpPr>
          <p:cNvPr id="126" name="TB"/>
          <p:cNvSpPr/>
          <p:nvPr/>
        </p:nvSpPr>
        <p:spPr>
          <a:xfrm>
            <a:off x="748640" y="2110000"/>
            <a:ext cx="5050000" cy="152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A2233"/>
                </a:solidFill>
                <a:latin typeface="Calibri" pitchFamily="34" charset="0"/>
              </a:rPr>
              <a:t>A normal https:// link.</a:t>
            </a:r>
          </a:p>
          <a:p>
            <a:pPr indent="0" marL="0">
              <a:buNone/>
            </a:pPr>
            <a:r>
              <a:rPr lang="en-US" sz="1250" dirty="0">
                <a:solidFill>
                  <a:srgbClr val="1A2233"/>
                </a:solidFill>
                <a:latin typeface="Calibri" pitchFamily="34" charset="0"/>
              </a:rPr>
              <a:t>Plus one shared custom scheme</a:t>
            </a:r>
          </a:p>
          <a:p>
            <a:pPr indent="0" marL="0">
              <a:buNone/>
            </a:pPr>
            <a:r>
              <a:rPr lang="en-US" sz="1250" dirty="0">
                <a:solidFill>
                  <a:srgbClr val="1A2233"/>
                </a:solidFill>
                <a:latin typeface="Calibri" pitchFamily="34" charset="0"/>
              </a:rPr>
              <a:t>(sgqrpay://) all 3 bank apps</a:t>
            </a:r>
          </a:p>
          <a:p>
            <a:pPr indent="0" marL="0">
              <a:buNone/>
            </a:pPr>
            <a:r>
              <a:rPr lang="en-US" sz="1250" dirty="0">
                <a:solidFill>
                  <a:srgbClr val="1A2233"/>
                </a:solidFill>
                <a:latin typeface="Calibri" pitchFamily="34" charset="0"/>
              </a:rPr>
              <a:t>register — no browser can claim it.</a:t>
            </a:r>
          </a:p>
        </p:txBody>
      </p:sp>
      <p:sp>
        <p:nvSpPr>
          <p:cNvPr id="127" name="Box"/>
          <p:cNvSpPr/>
          <p:nvPr/>
        </p:nvSpPr>
        <p:spPr>
          <a:xfrm>
            <a:off x="6193360" y="1650000"/>
            <a:ext cx="5450000" cy="2100000"/>
          </a:xfrm>
          <a:prstGeom prst="roundRect">
            <a:avLst>
              <a:gd name="adj" fmla="val 3000"/>
            </a:avLst>
          </a:prstGeom>
          <a:solidFill>
            <a:srgbClr val="E8F5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28" name="TB"/>
          <p:cNvSpPr/>
          <p:nvPr/>
        </p:nvSpPr>
        <p:spPr>
          <a:xfrm>
            <a:off x="6393360" y="1780000"/>
            <a:ext cx="5050000" cy="32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B5D3B"/>
                </a:solidFill>
                <a:latin typeface="Calibri" pitchFamily="34" charset="0"/>
              </a:rPr>
              <a:t>iOS</a:t>
            </a:r>
          </a:p>
        </p:txBody>
      </p:sp>
      <p:sp>
        <p:nvSpPr>
          <p:cNvPr id="129" name="TB"/>
          <p:cNvSpPr/>
          <p:nvPr/>
        </p:nvSpPr>
        <p:spPr>
          <a:xfrm>
            <a:off x="6393360" y="2110000"/>
            <a:ext cx="5050000" cy="152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A2233"/>
                </a:solidFill>
                <a:latin typeface="Calibri" pitchFamily="34" charset="0"/>
              </a:rPr>
              <a:t>The same normal https:// link.</a:t>
            </a:r>
          </a:p>
          <a:p>
            <a:pPr indent="0" marL="0">
              <a:buNone/>
            </a:pPr>
            <a:r>
              <a:rPr lang="en-US" sz="1250" dirty="0">
                <a:solidFill>
                  <a:srgbClr val="1A2233"/>
                </a:solidFill>
                <a:latin typeface="Calibri" pitchFamily="34" charset="0"/>
              </a:rPr>
              <a:t>Plus each bank's own individual</a:t>
            </a:r>
          </a:p>
          <a:p>
            <a:pPr indent="0" marL="0">
              <a:buNone/>
            </a:pPr>
            <a:r>
              <a:rPr lang="en-US" sz="1250" dirty="0">
                <a:solidFill>
                  <a:srgbClr val="1A2233"/>
                </a:solidFill>
                <a:latin typeface="Calibri" pitchFamily="34" charset="0"/>
              </a:rPr>
              <a:t>custom scheme (bankademo://,</a:t>
            </a:r>
          </a:p>
          <a:p>
            <a:pPr indent="0" marL="0">
              <a:buNone/>
            </a:pPr>
            <a:r>
              <a:rPr lang="en-US" sz="1250" dirty="0">
                <a:solidFill>
                  <a:srgbClr val="1A2233"/>
                </a:solidFill>
                <a:latin typeface="Calibri" pitchFamily="34" charset="0"/>
              </a:rPr>
              <a:t>bankbdemo://, bankcdemo://).</a:t>
            </a:r>
          </a:p>
        </p:txBody>
      </p:sp>
      <p:sp>
        <p:nvSpPr>
          <p:cNvPr id="130" name="Box"/>
          <p:cNvSpPr/>
          <p:nvPr/>
        </p:nvSpPr>
        <p:spPr>
          <a:xfrm>
            <a:off x="548640" y="3950000"/>
            <a:ext cx="11094720" cy="1350000"/>
          </a:xfrm>
          <a:prstGeom prst="roundRect">
            <a:avLst>
              <a:gd name="adj" fmla="val 3000"/>
            </a:avLst>
          </a:prstGeom>
          <a:solidFill>
            <a:srgbClr val="FFF3E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31" name="TB"/>
          <p:cNvSpPr/>
          <p:nvPr/>
        </p:nvSpPr>
        <p:spPr>
          <a:xfrm>
            <a:off x="748640" y="4080000"/>
            <a:ext cx="10694720" cy="32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8A5A00"/>
                </a:solidFill>
                <a:latin typeface="Calibri" pitchFamily="34" charset="0"/>
              </a:rPr>
              <a:t>What the 5 alternatives actually proved</a:t>
            </a:r>
          </a:p>
        </p:txBody>
      </p:sp>
      <p:sp>
        <p:nvSpPr>
          <p:cNvPr id="132" name="TB"/>
          <p:cNvSpPr/>
          <p:nvPr/>
        </p:nvSpPr>
        <p:spPr>
          <a:xfrm>
            <a:off x="748640" y="4410000"/>
            <a:ext cx="10694720" cy="77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A2233"/>
                </a:solidFill>
                <a:latin typeface="Calibri" pitchFamily="34" charset="0"/>
              </a:rPr>
              <a:t>Bank 1 and Bank 4 show verification/naming CAN remove the chooser — but only by picking one app in</a:t>
            </a:r>
          </a:p>
          <a:p>
            <a:pPr indent="0" marL="0">
              <a:buNone/>
            </a:pPr>
            <a:r>
              <a:rPr lang="en-US" sz="1150" dirty="0">
                <a:solidFill>
                  <a:srgbClr val="1A2233"/>
                </a:solidFill>
                <a:latin typeface="Calibri" pitchFamily="34" charset="0"/>
              </a:rPr>
              <a:t>advance, defeating the "any of 3 banks" requirement. Bank 2 and Bank 3 show iOS verification is real but</a:t>
            </a:r>
          </a:p>
          <a:p>
            <a:pPr indent="0" marL="0">
              <a:buNone/>
            </a:pPr>
            <a:r>
              <a:rPr lang="en-US" sz="1150" dirty="0">
                <a:solidFill>
                  <a:srgbClr val="1A2233"/>
                </a:solidFill>
                <a:latin typeface="Calibri" pitchFamily="34" charset="0"/>
              </a:rPr>
              <a:t>gated behind external requirements this project can't meet. Bank 5 shows a different problem entirely.</a:t>
            </a:r>
          </a:p>
        </p:txBody>
      </p:sp>
      <p:sp>
        <p:nvSpPr>
          <p:cNvPr id="133" name="Box"/>
          <p:cNvSpPr/>
          <p:nvPr/>
        </p:nvSpPr>
        <p:spPr>
          <a:xfrm>
            <a:off x="548640" y="5500000"/>
            <a:ext cx="11094720" cy="1150000"/>
          </a:xfrm>
          <a:prstGeom prst="roundRect">
            <a:avLst>
              <a:gd name="adj" fmla="val 3000"/>
            </a:avLst>
          </a:prstGeom>
          <a:solidFill>
            <a:srgbClr val="FBEAEA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34" name="TB"/>
          <p:cNvSpPr/>
          <p:nvPr/>
        </p:nvSpPr>
        <p:spPr>
          <a:xfrm>
            <a:off x="748640" y="5630000"/>
            <a:ext cx="10694720" cy="32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7A1F1F"/>
                </a:solidFill>
                <a:latin typeface="Calibri" pitchFamily="34" charset="0"/>
              </a:rPr>
              <a:t>The conclusion</a:t>
            </a:r>
          </a:p>
        </p:txBody>
      </p:sp>
      <p:sp>
        <p:nvSpPr>
          <p:cNvPr id="135" name="TB"/>
          <p:cNvSpPr/>
          <p:nvPr/>
        </p:nvSpPr>
        <p:spPr>
          <a:xfrm>
            <a:off x="748640" y="5960000"/>
            <a:ext cx="10694720" cy="57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A2233"/>
                </a:solidFill>
                <a:latin typeface="Calibri" pitchFamily="34" charset="0"/>
              </a:rPr>
              <a:t>None of the 5 alternatives were ever going to solve "same user flow, both platforms, any of 3 banks" —</a:t>
            </a:r>
          </a:p>
          <a:p>
            <a:pPr indent="0" marL="0">
              <a:buNone/>
            </a:pPr>
            <a:r>
              <a:rPr lang="en-US" sz="1150" dirty="0">
                <a:solidFill>
                  <a:srgbClr val="1A2233"/>
                </a:solidFill>
                <a:latin typeface="Calibri" pitchFamily="34" charset="0"/>
              </a:rPr>
              <a:t>each solves a narrower problem instead. Unregistered link is not the leftover option; it is the only one of</a:t>
            </a:r>
          </a:p>
          <a:p>
            <a:pPr indent="0" marL="0">
              <a:buNone/>
            </a:pPr>
            <a:r>
              <a:rPr lang="en-US" sz="1150" dirty="0">
                <a:solidFill>
                  <a:srgbClr val="1A2233"/>
                </a:solidFill>
                <a:latin typeface="Calibri" pitchFamily="34" charset="0"/>
              </a:rPr>
              <a:t>these 6 approaches actually shaped around this project's specific requirement.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Overview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"/>
          <p:cNvSpPr/>
          <p:nvPr/>
        </p:nvSpPr>
        <p:spPr>
          <a:xfrm>
            <a:off x="548640" y="330000"/>
            <a:ext cx="11094720" cy="600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1295C"/>
                </a:solidFill>
                <a:latin typeface="Cambria" pitchFamily="34" charset="0"/>
              </a:rPr>
              <a:t>Six Ways to Resolve a Deep Link</a:t>
            </a:r>
          </a:p>
        </p:txBody>
      </p:sp>
      <p:sp>
        <p:nvSpPr>
          <p:cNvPr id="12" name="Subtitle"/>
          <p:cNvSpPr/>
          <p:nvPr/>
        </p:nvSpPr>
        <p:spPr>
          <a:xfrm>
            <a:off x="548640" y="980000"/>
            <a:ext cx="11094720" cy="40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5B6B79"/>
                </a:solidFill>
                <a:latin typeface="Calibri" pitchFamily="34" charset="0"/>
              </a:rPr>
              <a:t>Five alternatives explored first, concluding with the approach this project actually uses</a:t>
            </a:r>
          </a:p>
        </p:txBody>
      </p:sp>
      <p:sp>
        <p:nvSpPr>
          <p:cNvPr id="13" name="H"/>
          <p:cNvSpPr/>
          <p:nvPr/>
        </p:nvSpPr>
        <p:spPr>
          <a:xfrm>
            <a:off x="548640" y="1650000"/>
            <a:ext cx="900000" cy="480000"/>
          </a:xfrm>
          <a:prstGeom prst="rect">
            <a:avLst/>
          </a:prstGeom>
          <a:solidFill>
            <a:srgbClr val="21295C"/>
          </a:solidFill>
          <a:ln>
            <a:noFill/>
          </a:ln>
        </p:spPr>
        <p:txBody>
          <a:bodyPr wrap="square" lIns="90000" tIns="45000" rIns="90000" bIns="4500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</a:rPr>
              <a:t>#</a:t>
            </a:r>
          </a:p>
        </p:txBody>
      </p:sp>
      <p:sp>
        <p:nvSpPr>
          <p:cNvPr id="14" name="H"/>
          <p:cNvSpPr/>
          <p:nvPr/>
        </p:nvSpPr>
        <p:spPr>
          <a:xfrm>
            <a:off x="1448640" y="1650000"/>
            <a:ext cx="4200000" cy="480000"/>
          </a:xfrm>
          <a:prstGeom prst="rect">
            <a:avLst/>
          </a:prstGeom>
          <a:solidFill>
            <a:srgbClr val="21295C"/>
          </a:solidFill>
          <a:ln>
            <a:noFill/>
          </a:ln>
        </p:spPr>
        <p:txBody>
          <a:bodyPr wrap="square" lIns="90000" tIns="45000" rIns="90000" bIns="4500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</a:rPr>
              <a:t>Method</a:t>
            </a:r>
          </a:p>
        </p:txBody>
      </p:sp>
      <p:sp>
        <p:nvSpPr>
          <p:cNvPr id="15" name="H"/>
          <p:cNvSpPr/>
          <p:nvPr/>
        </p:nvSpPr>
        <p:spPr>
          <a:xfrm>
            <a:off x="5648640" y="1650000"/>
            <a:ext cx="2000000" cy="480000"/>
          </a:xfrm>
          <a:prstGeom prst="rect">
            <a:avLst/>
          </a:prstGeom>
          <a:solidFill>
            <a:srgbClr val="21295C"/>
          </a:solidFill>
          <a:ln>
            <a:noFill/>
          </a:ln>
        </p:spPr>
        <p:txBody>
          <a:bodyPr wrap="square" lIns="90000" tIns="45000" rIns="90000" bIns="4500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</a:rPr>
              <a:t>Used by</a:t>
            </a:r>
          </a:p>
        </p:txBody>
      </p:sp>
      <p:sp>
        <p:nvSpPr>
          <p:cNvPr id="16" name="H"/>
          <p:cNvSpPr/>
          <p:nvPr/>
        </p:nvSpPr>
        <p:spPr>
          <a:xfrm>
            <a:off x="7648640" y="1650000"/>
            <a:ext cx="4000000" cy="480000"/>
          </a:xfrm>
          <a:prstGeom prst="rect">
            <a:avLst/>
          </a:prstGeom>
          <a:solidFill>
            <a:srgbClr val="21295C"/>
          </a:solidFill>
          <a:ln>
            <a:noFill/>
          </a:ln>
        </p:spPr>
        <p:txBody>
          <a:bodyPr wrap="square" lIns="90000" tIns="45000" rIns="90000" bIns="4500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</a:rPr>
              <a:t>In one line</a:t>
            </a:r>
          </a:p>
        </p:txBody>
      </p:sp>
      <p:sp>
        <p:nvSpPr>
          <p:cNvPr id="17" name="C"/>
          <p:cNvSpPr/>
          <p:nvPr/>
        </p:nvSpPr>
        <p:spPr>
          <a:xfrm>
            <a:off x="548640" y="2130000"/>
            <a:ext cx="900000" cy="7000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</p:spPr>
        <p:txBody>
          <a:bodyPr wrap="square" lIns="90000" tIns="40000" rIns="90000" bIns="4000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2233"/>
                </a:solidFill>
                <a:latin typeface="Calibri" pitchFamily="34" charset="0"/>
              </a:rPr>
              <a:t>1</a:t>
            </a:r>
          </a:p>
        </p:txBody>
      </p:sp>
      <p:sp>
        <p:nvSpPr>
          <p:cNvPr id="18" name="C"/>
          <p:cNvSpPr/>
          <p:nvPr/>
        </p:nvSpPr>
        <p:spPr>
          <a:xfrm>
            <a:off x="1448640" y="2130000"/>
            <a:ext cx="4200000" cy="7000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</p:spPr>
        <p:txBody>
          <a:bodyPr wrap="square" lIns="90000" tIns="40000" rIns="90000" bIns="4000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2233"/>
                </a:solidFill>
                <a:latin typeface="Calibri" pitchFamily="34" charset="0"/>
              </a:rPr>
              <a:t>Verified Android App Links</a:t>
            </a:r>
          </a:p>
        </p:txBody>
      </p:sp>
      <p:sp>
        <p:nvSpPr>
          <p:cNvPr id="19" name="C"/>
          <p:cNvSpPr/>
          <p:nvPr/>
        </p:nvSpPr>
        <p:spPr>
          <a:xfrm>
            <a:off x="5648640" y="2130000"/>
            <a:ext cx="2000000" cy="7000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</p:spPr>
        <p:txBody>
          <a:bodyPr wrap="square" lIns="90000" tIns="40000" rIns="90000" bIns="4000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2233"/>
                </a:solidFill>
                <a:latin typeface="Calibri" pitchFamily="34" charset="0"/>
              </a:rPr>
              <a:t>Bank 1</a:t>
            </a:r>
          </a:p>
        </p:txBody>
      </p:sp>
      <p:sp>
        <p:nvSpPr>
          <p:cNvPr id="20" name="C"/>
          <p:cNvSpPr/>
          <p:nvPr/>
        </p:nvSpPr>
        <p:spPr>
          <a:xfrm>
            <a:off x="7648640" y="2130000"/>
            <a:ext cx="4000000" cy="7000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</p:spPr>
        <p:txBody>
          <a:bodyPr wrap="square" lIns="90000" tIns="40000" rIns="90000" bIns="4000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2233"/>
                </a:solidFill>
                <a:latin typeface="Calibri" pitchFamily="34" charset="0"/>
              </a:rPr>
              <a:t>OS proves domain ownership — chooser disappears</a:t>
            </a:r>
          </a:p>
        </p:txBody>
      </p:sp>
      <p:sp>
        <p:nvSpPr>
          <p:cNvPr id="21" name="C"/>
          <p:cNvSpPr/>
          <p:nvPr/>
        </p:nvSpPr>
        <p:spPr>
          <a:xfrm>
            <a:off x="548640" y="2830000"/>
            <a:ext cx="900000" cy="700000"/>
          </a:xfrm>
          <a:prstGeom prst="rect">
            <a:avLst/>
          </a:prstGeom>
          <a:solidFill>
            <a:srgbClr val="F5F8FA"/>
          </a:solidFill>
          <a:ln w="6350">
            <a:solidFill>
              <a:srgbClr val="D9D9D9"/>
            </a:solidFill>
          </a:ln>
        </p:spPr>
        <p:txBody>
          <a:bodyPr wrap="square" lIns="90000" tIns="40000" rIns="90000" bIns="4000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2233"/>
                </a:solidFill>
                <a:latin typeface="Calibri" pitchFamily="34" charset="0"/>
              </a:rPr>
              <a:t>2</a:t>
            </a:r>
          </a:p>
        </p:txBody>
      </p:sp>
      <p:sp>
        <p:nvSpPr>
          <p:cNvPr id="22" name="C"/>
          <p:cNvSpPr/>
          <p:nvPr/>
        </p:nvSpPr>
        <p:spPr>
          <a:xfrm>
            <a:off x="1448640" y="2830000"/>
            <a:ext cx="4200000" cy="700000"/>
          </a:xfrm>
          <a:prstGeom prst="rect">
            <a:avLst/>
          </a:prstGeom>
          <a:solidFill>
            <a:srgbClr val="F5F8FA"/>
          </a:solidFill>
          <a:ln w="6350">
            <a:solidFill>
              <a:srgbClr val="D9D9D9"/>
            </a:solidFill>
          </a:ln>
        </p:spPr>
        <p:txBody>
          <a:bodyPr wrap="square" lIns="90000" tIns="40000" rIns="90000" bIns="4000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2233"/>
                </a:solidFill>
                <a:latin typeface="Calibri" pitchFamily="34" charset="0"/>
              </a:rPr>
              <a:t>Verified iOS Universal Links</a:t>
            </a:r>
          </a:p>
        </p:txBody>
      </p:sp>
      <p:sp>
        <p:nvSpPr>
          <p:cNvPr id="23" name="C"/>
          <p:cNvSpPr/>
          <p:nvPr/>
        </p:nvSpPr>
        <p:spPr>
          <a:xfrm>
            <a:off x="5648640" y="2830000"/>
            <a:ext cx="2000000" cy="700000"/>
          </a:xfrm>
          <a:prstGeom prst="rect">
            <a:avLst/>
          </a:prstGeom>
          <a:solidFill>
            <a:srgbClr val="F5F8FA"/>
          </a:solidFill>
          <a:ln w="6350">
            <a:solidFill>
              <a:srgbClr val="D9D9D9"/>
            </a:solidFill>
          </a:ln>
        </p:spPr>
        <p:txBody>
          <a:bodyPr wrap="square" lIns="90000" tIns="40000" rIns="90000" bIns="4000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2233"/>
                </a:solidFill>
                <a:latin typeface="Calibri" pitchFamily="34" charset="0"/>
              </a:rPr>
              <a:t>Bank 2</a:t>
            </a:r>
          </a:p>
        </p:txBody>
      </p:sp>
      <p:sp>
        <p:nvSpPr>
          <p:cNvPr id="24" name="C"/>
          <p:cNvSpPr/>
          <p:nvPr/>
        </p:nvSpPr>
        <p:spPr>
          <a:xfrm>
            <a:off x="7648640" y="2830000"/>
            <a:ext cx="4000000" cy="700000"/>
          </a:xfrm>
          <a:prstGeom prst="rect">
            <a:avLst/>
          </a:prstGeom>
          <a:solidFill>
            <a:srgbClr val="F5F8FA"/>
          </a:solidFill>
          <a:ln w="6350">
            <a:solidFill>
              <a:srgbClr val="D9D9D9"/>
            </a:solidFill>
          </a:ln>
        </p:spPr>
        <p:txBody>
          <a:bodyPr wrap="square" lIns="90000" tIns="40000" rIns="90000" bIns="4000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2233"/>
                </a:solidFill>
                <a:latin typeface="Calibri" pitchFamily="34" charset="0"/>
              </a:rPr>
              <a:t>Same idea on iOS — blocked by a paid-account requirement</a:t>
            </a:r>
          </a:p>
        </p:txBody>
      </p:sp>
      <p:sp>
        <p:nvSpPr>
          <p:cNvPr id="25" name="C"/>
          <p:cNvSpPr/>
          <p:nvPr/>
        </p:nvSpPr>
        <p:spPr>
          <a:xfrm>
            <a:off x="548640" y="3530000"/>
            <a:ext cx="900000" cy="7000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</p:spPr>
        <p:txBody>
          <a:bodyPr wrap="square" lIns="90000" tIns="40000" rIns="90000" bIns="4000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2233"/>
                </a:solidFill>
                <a:latin typeface="Calibri" pitchFamily="34" charset="0"/>
              </a:rPr>
              <a:t>3</a:t>
            </a:r>
          </a:p>
        </p:txBody>
      </p:sp>
      <p:sp>
        <p:nvSpPr>
          <p:cNvPr id="26" name="C"/>
          <p:cNvSpPr/>
          <p:nvPr/>
        </p:nvSpPr>
        <p:spPr>
          <a:xfrm>
            <a:off x="1448640" y="3530000"/>
            <a:ext cx="4200000" cy="7000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</p:spPr>
        <p:txBody>
          <a:bodyPr wrap="square" lIns="90000" tIns="40000" rIns="90000" bIns="4000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2233"/>
                </a:solidFill>
                <a:latin typeface="Calibri" pitchFamily="34" charset="0"/>
              </a:rPr>
              <a:t>iOS Smart App Banner</a:t>
            </a:r>
          </a:p>
        </p:txBody>
      </p:sp>
      <p:sp>
        <p:nvSpPr>
          <p:cNvPr id="27" name="C"/>
          <p:cNvSpPr/>
          <p:nvPr/>
        </p:nvSpPr>
        <p:spPr>
          <a:xfrm>
            <a:off x="5648640" y="3530000"/>
            <a:ext cx="2000000" cy="7000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</p:spPr>
        <p:txBody>
          <a:bodyPr wrap="square" lIns="90000" tIns="40000" rIns="90000" bIns="4000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2233"/>
                </a:solidFill>
                <a:latin typeface="Calibri" pitchFamily="34" charset="0"/>
              </a:rPr>
              <a:t>Bank 3</a:t>
            </a:r>
          </a:p>
        </p:txBody>
      </p:sp>
      <p:sp>
        <p:nvSpPr>
          <p:cNvPr id="28" name="C"/>
          <p:cNvSpPr/>
          <p:nvPr/>
        </p:nvSpPr>
        <p:spPr>
          <a:xfrm>
            <a:off x="7648640" y="3530000"/>
            <a:ext cx="4000000" cy="7000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</p:spPr>
        <p:txBody>
          <a:bodyPr wrap="square" lIns="90000" tIns="40000" rIns="90000" bIns="4000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2233"/>
                </a:solidFill>
                <a:latin typeface="Calibri" pitchFamily="34" charset="0"/>
              </a:rPr>
              <a:t>A webpage hint, not a verified link — blocked by App Store listing</a:t>
            </a:r>
          </a:p>
        </p:txBody>
      </p:sp>
      <p:sp>
        <p:nvSpPr>
          <p:cNvPr id="29" name="C"/>
          <p:cNvSpPr/>
          <p:nvPr/>
        </p:nvSpPr>
        <p:spPr>
          <a:xfrm>
            <a:off x="548640" y="4230000"/>
            <a:ext cx="900000" cy="700000"/>
          </a:xfrm>
          <a:prstGeom prst="rect">
            <a:avLst/>
          </a:prstGeom>
          <a:solidFill>
            <a:srgbClr val="F5F8FA"/>
          </a:solidFill>
          <a:ln w="6350">
            <a:solidFill>
              <a:srgbClr val="D9D9D9"/>
            </a:solidFill>
          </a:ln>
        </p:spPr>
        <p:txBody>
          <a:bodyPr wrap="square" lIns="90000" tIns="40000" rIns="90000" bIns="4000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2233"/>
                </a:solidFill>
                <a:latin typeface="Calibri" pitchFamily="34" charset="0"/>
              </a:rPr>
              <a:t>4</a:t>
            </a:r>
          </a:p>
        </p:txBody>
      </p:sp>
      <p:sp>
        <p:nvSpPr>
          <p:cNvPr id="30" name="C"/>
          <p:cNvSpPr/>
          <p:nvPr/>
        </p:nvSpPr>
        <p:spPr>
          <a:xfrm>
            <a:off x="1448640" y="4230000"/>
            <a:ext cx="4200000" cy="700000"/>
          </a:xfrm>
          <a:prstGeom prst="rect">
            <a:avLst/>
          </a:prstGeom>
          <a:solidFill>
            <a:srgbClr val="F5F8FA"/>
          </a:solidFill>
          <a:ln w="6350">
            <a:solidFill>
              <a:srgbClr val="D9D9D9"/>
            </a:solidFill>
          </a:ln>
        </p:spPr>
        <p:txBody>
          <a:bodyPr wrap="square" lIns="90000" tIns="40000" rIns="90000" bIns="4000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2233"/>
                </a:solidFill>
                <a:latin typeface="Calibri" pitchFamily="34" charset="0"/>
              </a:rPr>
              <a:t>Android Explicit-Package Intent</a:t>
            </a:r>
          </a:p>
        </p:txBody>
      </p:sp>
      <p:sp>
        <p:nvSpPr>
          <p:cNvPr id="31" name="C"/>
          <p:cNvSpPr/>
          <p:nvPr/>
        </p:nvSpPr>
        <p:spPr>
          <a:xfrm>
            <a:off x="5648640" y="4230000"/>
            <a:ext cx="2000000" cy="700000"/>
          </a:xfrm>
          <a:prstGeom prst="rect">
            <a:avLst/>
          </a:prstGeom>
          <a:solidFill>
            <a:srgbClr val="F5F8FA"/>
          </a:solidFill>
          <a:ln w="6350">
            <a:solidFill>
              <a:srgbClr val="D9D9D9"/>
            </a:solidFill>
          </a:ln>
        </p:spPr>
        <p:txBody>
          <a:bodyPr wrap="square" lIns="90000" tIns="40000" rIns="90000" bIns="4000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2233"/>
                </a:solidFill>
                <a:latin typeface="Calibri" pitchFamily="34" charset="0"/>
              </a:rPr>
              <a:t>Bank 4</a:t>
            </a:r>
          </a:p>
        </p:txBody>
      </p:sp>
      <p:sp>
        <p:nvSpPr>
          <p:cNvPr id="32" name="C"/>
          <p:cNvSpPr/>
          <p:nvPr/>
        </p:nvSpPr>
        <p:spPr>
          <a:xfrm>
            <a:off x="7648640" y="4230000"/>
            <a:ext cx="4000000" cy="700000"/>
          </a:xfrm>
          <a:prstGeom prst="rect">
            <a:avLst/>
          </a:prstGeom>
          <a:solidFill>
            <a:srgbClr val="F5F8FA"/>
          </a:solidFill>
          <a:ln w="6350">
            <a:solidFill>
              <a:srgbClr val="D9D9D9"/>
            </a:solidFill>
          </a:ln>
        </p:spPr>
        <p:txBody>
          <a:bodyPr wrap="square" lIns="90000" tIns="40000" rIns="90000" bIns="4000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2233"/>
                </a:solidFill>
                <a:latin typeface="Calibri" pitchFamily="34" charset="0"/>
              </a:rPr>
              <a:t>The sender just states the answer — no verification needed</a:t>
            </a:r>
          </a:p>
        </p:txBody>
      </p:sp>
      <p:sp>
        <p:nvSpPr>
          <p:cNvPr id="33" name="C"/>
          <p:cNvSpPr/>
          <p:nvPr/>
        </p:nvSpPr>
        <p:spPr>
          <a:xfrm>
            <a:off x="548640" y="4930000"/>
            <a:ext cx="900000" cy="7000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</p:spPr>
        <p:txBody>
          <a:bodyPr wrap="square" lIns="90000" tIns="40000" rIns="90000" bIns="4000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2233"/>
                </a:solidFill>
                <a:latin typeface="Calibri" pitchFamily="34" charset="0"/>
              </a:rPr>
              <a:t>5</a:t>
            </a:r>
          </a:p>
        </p:txBody>
      </p:sp>
      <p:sp>
        <p:nvSpPr>
          <p:cNvPr id="34" name="C"/>
          <p:cNvSpPr/>
          <p:nvPr/>
        </p:nvSpPr>
        <p:spPr>
          <a:xfrm>
            <a:off x="1448640" y="4930000"/>
            <a:ext cx="4200000" cy="7000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</p:spPr>
        <p:txBody>
          <a:bodyPr wrap="square" lIns="90000" tIns="40000" rIns="90000" bIns="4000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2233"/>
                </a:solidFill>
                <a:latin typeface="Calibri" pitchFamily="34" charset="0"/>
              </a:rPr>
              <a:t>Deferred Deep Linking</a:t>
            </a:r>
          </a:p>
        </p:txBody>
      </p:sp>
      <p:sp>
        <p:nvSpPr>
          <p:cNvPr id="35" name="C"/>
          <p:cNvSpPr/>
          <p:nvPr/>
        </p:nvSpPr>
        <p:spPr>
          <a:xfrm>
            <a:off x="5648640" y="4930000"/>
            <a:ext cx="2000000" cy="7000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</p:spPr>
        <p:txBody>
          <a:bodyPr wrap="square" lIns="90000" tIns="40000" rIns="90000" bIns="4000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2233"/>
                </a:solidFill>
                <a:latin typeface="Calibri" pitchFamily="34" charset="0"/>
              </a:rPr>
              <a:t>Bank 5</a:t>
            </a:r>
          </a:p>
        </p:txBody>
      </p:sp>
      <p:sp>
        <p:nvSpPr>
          <p:cNvPr id="36" name="C"/>
          <p:cNvSpPr/>
          <p:nvPr/>
        </p:nvSpPr>
        <p:spPr>
          <a:xfrm>
            <a:off x="7648640" y="4930000"/>
            <a:ext cx="4000000" cy="7000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</p:spPr>
        <p:txBody>
          <a:bodyPr wrap="square" lIns="90000" tIns="40000" rIns="90000" bIns="4000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2233"/>
                </a:solidFill>
                <a:latin typeface="Calibri" pitchFamily="34" charset="0"/>
              </a:rPr>
              <a:t>Carries the destination across an app install, via clipboard</a:t>
            </a:r>
          </a:p>
        </p:txBody>
      </p:sp>
      <p:sp>
        <p:nvSpPr>
          <p:cNvPr id="37" name="C"/>
          <p:cNvSpPr/>
          <p:nvPr/>
        </p:nvSpPr>
        <p:spPr>
          <a:xfrm>
            <a:off x="548640" y="5630000"/>
            <a:ext cx="900000" cy="700000"/>
          </a:xfrm>
          <a:prstGeom prst="rect">
            <a:avLst/>
          </a:prstGeom>
          <a:solidFill>
            <a:srgbClr val="E8F5F0"/>
          </a:solidFill>
          <a:ln w="6350">
            <a:solidFill>
              <a:srgbClr val="D9D9D9"/>
            </a:solidFill>
          </a:ln>
        </p:spPr>
        <p:txBody>
          <a:bodyPr wrap="square" lIns="90000" tIns="40000" rIns="90000" bIns="4000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2233"/>
                </a:solidFill>
                <a:latin typeface="Calibri" pitchFamily="34" charset="0"/>
              </a:rPr>
              <a:t>6</a:t>
            </a:r>
          </a:p>
        </p:txBody>
      </p:sp>
      <p:sp>
        <p:nvSpPr>
          <p:cNvPr id="38" name="C"/>
          <p:cNvSpPr/>
          <p:nvPr/>
        </p:nvSpPr>
        <p:spPr>
          <a:xfrm>
            <a:off x="1448640" y="5630000"/>
            <a:ext cx="4200000" cy="700000"/>
          </a:xfrm>
          <a:prstGeom prst="rect">
            <a:avLst/>
          </a:prstGeom>
          <a:solidFill>
            <a:srgbClr val="E8F5F0"/>
          </a:solidFill>
          <a:ln w="6350">
            <a:solidFill>
              <a:srgbClr val="D9D9D9"/>
            </a:solidFill>
          </a:ln>
        </p:spPr>
        <p:txBody>
          <a:bodyPr wrap="square" lIns="90000" tIns="40000" rIns="90000" bIns="4000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2233"/>
                </a:solidFill>
                <a:latin typeface="Calibri" pitchFamily="34" charset="0"/>
              </a:rPr>
              <a:t>Unregistered link (the conclusion)</a:t>
            </a:r>
          </a:p>
        </p:txBody>
      </p:sp>
      <p:sp>
        <p:nvSpPr>
          <p:cNvPr id="39" name="C"/>
          <p:cNvSpPr/>
          <p:nvPr/>
        </p:nvSpPr>
        <p:spPr>
          <a:xfrm>
            <a:off x="5648640" y="5630000"/>
            <a:ext cx="2000000" cy="700000"/>
          </a:xfrm>
          <a:prstGeom prst="rect">
            <a:avLst/>
          </a:prstGeom>
          <a:solidFill>
            <a:srgbClr val="E8F5F0"/>
          </a:solidFill>
          <a:ln w="6350">
            <a:solidFill>
              <a:srgbClr val="D9D9D9"/>
            </a:solidFill>
          </a:ln>
        </p:spPr>
        <p:txBody>
          <a:bodyPr wrap="square" lIns="90000" tIns="40000" rIns="90000" bIns="4000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2233"/>
                </a:solidFill>
                <a:latin typeface="Calibri" pitchFamily="34" charset="0"/>
              </a:rPr>
              <a:t>Bank A / B / C</a:t>
            </a:r>
          </a:p>
        </p:txBody>
      </p:sp>
      <p:sp>
        <p:nvSpPr>
          <p:cNvPr id="40" name="C"/>
          <p:cNvSpPr/>
          <p:nvPr/>
        </p:nvSpPr>
        <p:spPr>
          <a:xfrm>
            <a:off x="7648640" y="5630000"/>
            <a:ext cx="4000000" cy="700000"/>
          </a:xfrm>
          <a:prstGeom prst="rect">
            <a:avLst/>
          </a:prstGeom>
          <a:solidFill>
            <a:srgbClr val="E8F5F0"/>
          </a:solidFill>
          <a:ln w="6350">
            <a:solidFill>
              <a:srgbClr val="D9D9D9"/>
            </a:solidFill>
          </a:ln>
        </p:spPr>
        <p:txBody>
          <a:bodyPr wrap="square" lIns="90000" tIns="40000" rIns="90000" bIns="4000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2233"/>
                </a:solidFill>
                <a:latin typeface="Calibri" pitchFamily="34" charset="0"/>
              </a:rPr>
              <a:t>No verification — the chooser/picker IS the point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Bank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TB"/>
          <p:cNvSpPr/>
          <p:nvPr/>
        </p:nvSpPr>
        <p:spPr>
          <a:xfrm>
            <a:off x="548640" y="330000"/>
            <a:ext cx="11094720" cy="60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1295C"/>
                </a:solidFill>
                <a:latin typeface="Cambria" pitchFamily="34" charset="0"/>
              </a:rPr>
              <a:t>Bank 1: Verified Android App Links</a:t>
            </a:r>
          </a:p>
        </p:txBody>
      </p:sp>
      <p:sp>
        <p:nvSpPr>
          <p:cNvPr id="56" name="TB"/>
          <p:cNvSpPr/>
          <p:nvPr/>
        </p:nvSpPr>
        <p:spPr>
          <a:xfrm>
            <a:off x="548640" y="980000"/>
            <a:ext cx="11094720" cy="40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5B6B79"/>
                </a:solidFill>
                <a:latin typeface="Calibri" pitchFamily="34" charset="0"/>
              </a:rPr>
              <a:t>Proving domain ownership at install time removes the chooser entirely</a:t>
            </a:r>
          </a:p>
        </p:txBody>
      </p:sp>
      <p:sp>
        <p:nvSpPr>
          <p:cNvPr id="57" name="Box"/>
          <p:cNvSpPr/>
          <p:nvPr/>
        </p:nvSpPr>
        <p:spPr>
          <a:xfrm>
            <a:off x="548640" y="1550000"/>
            <a:ext cx="2600000" cy="420000"/>
          </a:xfrm>
          <a:prstGeom prst="roundRect">
            <a:avLst>
              <a:gd name="adj" fmla="val 15000"/>
            </a:avLst>
          </a:prstGeom>
          <a:solidFill>
            <a:srgbClr val="E8F5E9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58" name="TB"/>
          <p:cNvSpPr/>
          <p:nvPr/>
        </p:nvSpPr>
        <p:spPr>
          <a:xfrm>
            <a:off x="548640" y="1550000"/>
            <a:ext cx="2600000" cy="420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100" b="1" dirty="0">
                <a:solidFill>
                  <a:srgbClr val="2E7D32"/>
                </a:solidFill>
                <a:latin typeface="Calibri" pitchFamily="34" charset="0"/>
              </a:rPr>
              <a:t>Android only</a:t>
            </a:r>
          </a:p>
        </p:txBody>
      </p:sp>
      <p:sp>
        <p:nvSpPr>
          <p:cNvPr id="59" name="Box"/>
          <p:cNvSpPr/>
          <p:nvPr/>
        </p:nvSpPr>
        <p:spPr>
          <a:xfrm>
            <a:off x="548640" y="2100000"/>
            <a:ext cx="5450000" cy="3900000"/>
          </a:xfrm>
          <a:prstGeom prst="roundRect">
            <a:avLst>
              <a:gd name="adj" fmla="val 3500"/>
            </a:avLst>
          </a:prstGeom>
          <a:solidFill>
            <a:srgbClr val="21295C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" name="TB"/>
          <p:cNvSpPr/>
          <p:nvPr/>
        </p:nvSpPr>
        <p:spPr>
          <a:xfrm>
            <a:off x="768640" y="2250000"/>
            <a:ext cx="5010000" cy="35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5EEAD4"/>
                </a:solidFill>
                <a:latin typeface="Calibri" pitchFamily="34" charset="0"/>
              </a:rPr>
              <a:t>AndroidManifest.xml</a:t>
            </a:r>
          </a:p>
        </p:txBody>
      </p:sp>
      <p:sp>
        <p:nvSpPr>
          <p:cNvPr id="61" name="TB"/>
          <p:cNvSpPr/>
          <p:nvPr/>
        </p:nvSpPr>
        <p:spPr>
          <a:xfrm>
            <a:off x="768640" y="2620000"/>
            <a:ext cx="5010000" cy="325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</a:rPr>
              <a:t>&lt;intent-filter android:autoVerify="true"&gt;</a:t>
            </a:r>
          </a:p>
          <a:p>
            <a:pPr indent="0" marL="0"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</a:rPr>
              <a:t>  &lt;action android:name=</a:t>
            </a:r>
          </a:p>
          <a:p>
            <a:pPr indent="0" marL="0"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</a:rPr>
              <a:t>    "android.intent.action.VIEW"/&gt;</a:t>
            </a:r>
          </a:p>
          <a:p>
            <a:pPr indent="0" marL="0"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</a:rPr>
              <a:t>  &lt;data android:scheme="https"</a:t>
            </a:r>
          </a:p>
          <a:p>
            <a:pPr indent="0" marL="0"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</a:rPr>
              <a:t>    android:host="...onrender.com"</a:t>
            </a:r>
          </a:p>
          <a:p>
            <a:pPr indent="0" marL="0"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</a:rPr>
              <a:t>    android:pathPrefix="/methods/applinks"/&gt;</a:t>
            </a:r>
          </a:p>
          <a:p>
            <a:pPr indent="0" marL="0"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</a:rPr>
              <a:t>&lt;/intent-filter&gt;</a:t>
            </a:r>
          </a:p>
          <a:p>
            <a:pPr indent="0" marL="0"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</a:rPr>
              <a:t/>
            </a:r>
          </a:p>
          <a:p>
            <a:pPr indent="0" marL="0"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</a:rPr>
              <a:t># Hosted at /.well-known/assetlinks.json</a:t>
            </a:r>
          </a:p>
          <a:p>
            <a:pPr indent="0" marL="0"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</a:rPr>
              <a:t>"package_name": "com.sgqrdemo.methodapplinks"</a:t>
            </a:r>
          </a:p>
          <a:p>
            <a:pPr indent="0" marL="0"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</a:rPr>
              <a:t>"sha256_cert_fingerprints": ["D7:87:...:1E"]</a:t>
            </a:r>
          </a:p>
        </p:txBody>
      </p:sp>
      <p:sp>
        <p:nvSpPr>
          <p:cNvPr id="62" name="Box"/>
          <p:cNvSpPr/>
          <p:nvPr/>
        </p:nvSpPr>
        <p:spPr>
          <a:xfrm>
            <a:off x="6193360" y="2100000"/>
            <a:ext cx="5450000" cy="3900000"/>
          </a:xfrm>
          <a:prstGeom prst="roundRect">
            <a:avLst>
              <a:gd name="adj" fmla="val 3000"/>
            </a:avLst>
          </a:prstGeom>
          <a:solidFill>
            <a:srgbClr val="F5F8FA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3" name="TB"/>
          <p:cNvSpPr/>
          <p:nvPr/>
        </p:nvSpPr>
        <p:spPr>
          <a:xfrm>
            <a:off x="6393360" y="2230000"/>
            <a:ext cx="5050000" cy="32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65A82"/>
                </a:solidFill>
                <a:latin typeface="Calibri" pitchFamily="34" charset="0"/>
              </a:rPr>
              <a:t>What this means</a:t>
            </a:r>
          </a:p>
        </p:txBody>
      </p:sp>
      <p:sp>
        <p:nvSpPr>
          <p:cNvPr id="64" name="TB"/>
          <p:cNvSpPr/>
          <p:nvPr/>
        </p:nvSpPr>
        <p:spPr>
          <a:xfrm>
            <a:off x="6393360" y="2560000"/>
            <a:ext cx="5050000" cy="332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A2233"/>
                </a:solidFill>
                <a:latin typeface="Calibri" pitchFamily="34" charset="0"/>
              </a:rPr>
              <a:t>Android checks this file against the app's real signing certificate at install time.</a:t>
            </a:r>
          </a:p>
          <a:p>
            <a:pPr indent="0" marL="0">
              <a:buNone/>
            </a:pPr>
            <a:r>
              <a:rPr lang="en-US" sz="1150" dirty="0">
                <a:solidFill>
                  <a:srgbClr val="1A2233"/>
                </a:solidFill>
                <a:latin typeface="Calibri" pitchFamily="34" charset="0"/>
              </a:rPr>
              <a:t>If it matches, Android treats Bank 1 as the sole proven owner of this path.</a:t>
            </a:r>
          </a:p>
          <a:p>
            <a:pPr indent="0" marL="0">
              <a:buNone/>
            </a:pPr>
            <a:r>
              <a:rPr lang="en-US" sz="1150" dirty="0">
                <a:solidFill>
                  <a:srgbClr val="1A2233"/>
                </a:solidFill>
                <a:latin typeface="Calibri" pitchFamily="34" charset="0"/>
              </a:rPr>
              <a:t>The link then opens Bank 1 directly — no browser interstitial, no chooser —</a:t>
            </a:r>
          </a:p>
          <a:p>
            <a:pPr indent="0" marL="0">
              <a:buNone/>
            </a:pPr>
            <a:r>
              <a:rPr lang="en-US" sz="1150" dirty="0">
                <a:solidFill>
                  <a:srgbClr val="1A2233"/>
                </a:solidFill>
                <a:latin typeface="Calibri" pitchFamily="34" charset="0"/>
              </a:rPr>
              <a:t>even with every other bank app installed on the same device.</a:t>
            </a:r>
          </a:p>
        </p:txBody>
      </p:sp>
      <p:sp>
        <p:nvSpPr>
          <p:cNvPr id="65" name="TB"/>
          <p:cNvSpPr/>
          <p:nvPr/>
        </p:nvSpPr>
        <p:spPr>
          <a:xfrm>
            <a:off x="548640" y="6150000"/>
            <a:ext cx="11094720" cy="32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indent="0" marL="0">
              <a:buNone/>
            </a:pPr>
            <a:r>
              <a:rPr lang="en-US" sz="1150" b="1" i="1" dirty="0">
                <a:solidFill>
                  <a:srgbClr val="0B5D3B"/>
                </a:solidFill>
                <a:latin typeface="Calibri" pitchFamily="34" charset="0"/>
              </a:rPr>
              <a:t>Tested live on a real Android device: opened directly, zero prompt, correct payload fetched.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Bank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TB"/>
          <p:cNvSpPr/>
          <p:nvPr/>
        </p:nvSpPr>
        <p:spPr>
          <a:xfrm>
            <a:off x="548640" y="330000"/>
            <a:ext cx="11094720" cy="60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1295C"/>
                </a:solidFill>
                <a:latin typeface="Cambria" pitchFamily="34" charset="0"/>
              </a:rPr>
              <a:t>Bank 2: Verified iOS Universal Links</a:t>
            </a:r>
          </a:p>
        </p:txBody>
      </p:sp>
      <p:sp>
        <p:nvSpPr>
          <p:cNvPr id="67" name="TB"/>
          <p:cNvSpPr/>
          <p:nvPr/>
        </p:nvSpPr>
        <p:spPr>
          <a:xfrm>
            <a:off x="548640" y="980000"/>
            <a:ext cx="11094720" cy="40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5B6B79"/>
                </a:solidFill>
                <a:latin typeface="Calibri" pitchFamily="34" charset="0"/>
              </a:rPr>
              <a:t>The iOS equivalent of Bank 1 — intended to work the same way, blocked by an account requirement</a:t>
            </a:r>
          </a:p>
        </p:txBody>
      </p:sp>
      <p:sp>
        <p:nvSpPr>
          <p:cNvPr id="68" name="Box"/>
          <p:cNvSpPr/>
          <p:nvPr/>
        </p:nvSpPr>
        <p:spPr>
          <a:xfrm>
            <a:off x="548640" y="1550000"/>
            <a:ext cx="2600000" cy="420000"/>
          </a:xfrm>
          <a:prstGeom prst="roundRect">
            <a:avLst>
              <a:gd name="adj" fmla="val 15000"/>
            </a:avLst>
          </a:prstGeom>
          <a:solidFill>
            <a:srgbClr val="E3F2FD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9" name="TB"/>
          <p:cNvSpPr/>
          <p:nvPr/>
        </p:nvSpPr>
        <p:spPr>
          <a:xfrm>
            <a:off x="548640" y="1550000"/>
            <a:ext cx="2600000" cy="420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100" b="1" dirty="0">
                <a:solidFill>
                  <a:srgbClr val="0D47A1"/>
                </a:solidFill>
                <a:latin typeface="Calibri" pitchFamily="34" charset="0"/>
              </a:rPr>
              <a:t>iOS only</a:t>
            </a:r>
          </a:p>
        </p:txBody>
      </p:sp>
      <p:sp>
        <p:nvSpPr>
          <p:cNvPr id="70" name="Box"/>
          <p:cNvSpPr/>
          <p:nvPr/>
        </p:nvSpPr>
        <p:spPr>
          <a:xfrm>
            <a:off x="548640" y="2100000"/>
            <a:ext cx="5450000" cy="2350000"/>
          </a:xfrm>
          <a:prstGeom prst="roundRect">
            <a:avLst>
              <a:gd name="adj" fmla="val 3500"/>
            </a:avLst>
          </a:prstGeom>
          <a:solidFill>
            <a:srgbClr val="21295C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71" name="TB"/>
          <p:cNvSpPr/>
          <p:nvPr/>
        </p:nvSpPr>
        <p:spPr>
          <a:xfrm>
            <a:off x="768640" y="2250000"/>
            <a:ext cx="5010000" cy="35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5EEAD4"/>
                </a:solidFill>
                <a:latin typeface="Calibri" pitchFamily="34" charset="0"/>
              </a:rPr>
              <a:t>Runner.entitlements</a:t>
            </a:r>
          </a:p>
        </p:txBody>
      </p:sp>
      <p:sp>
        <p:nvSpPr>
          <p:cNvPr id="72" name="TB"/>
          <p:cNvSpPr/>
          <p:nvPr/>
        </p:nvSpPr>
        <p:spPr>
          <a:xfrm>
            <a:off x="768640" y="2620000"/>
            <a:ext cx="5010000" cy="170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</a:rPr>
              <a:t>&lt;key&gt;com.apple.developer.associated-domains&lt;/key&gt;</a:t>
            </a:r>
          </a:p>
          <a:p>
            <a:pPr indent="0" marL="0"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</a:rPr>
              <a:t>&lt;array&gt;</a:t>
            </a:r>
          </a:p>
          <a:p>
            <a:pPr indent="0" marL="0"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</a:rPr>
              <a:t>  &lt;string&gt;applinks:...onrender.com&lt;/string&gt;</a:t>
            </a:r>
          </a:p>
          <a:p>
            <a:pPr indent="0" marL="0"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</a:rPr>
              <a:t>&lt;/array&gt;</a:t>
            </a:r>
          </a:p>
          <a:p>
            <a:pPr indent="0" marL="0"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</a:rPr>
              <a:t/>
            </a:r>
          </a:p>
          <a:p>
            <a:pPr indent="0" marL="0"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</a:rPr>
              <a:t># Hosted at /.well-known/</a:t>
            </a:r>
          </a:p>
          <a:p>
            <a:pPr indent="0" marL="0"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</a:rPr>
              <a:t>#   apple-app-site-association</a:t>
            </a:r>
          </a:p>
          <a:p>
            <a:pPr indent="0" marL="0"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</a:rPr>
              <a:t>"appID": "HBT73QTC22.com.sgqrdemo.</a:t>
            </a:r>
          </a:p>
          <a:p>
            <a:pPr indent="0" marL="0"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</a:rPr>
              <a:t>           methodUniversallinks"</a:t>
            </a:r>
          </a:p>
          <a:p>
            <a:pPr indent="0" marL="0"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</a:rPr>
              <a:t>"paths": ["/methods/universallinks/*"]</a:t>
            </a:r>
          </a:p>
        </p:txBody>
      </p:sp>
      <p:sp>
        <p:nvSpPr>
          <p:cNvPr id="73" name="Box"/>
          <p:cNvSpPr/>
          <p:nvPr/>
        </p:nvSpPr>
        <p:spPr>
          <a:xfrm>
            <a:off x="6193360" y="2100000"/>
            <a:ext cx="5450000" cy="2350000"/>
          </a:xfrm>
          <a:prstGeom prst="roundRect">
            <a:avLst>
              <a:gd name="adj" fmla="val 3000"/>
            </a:avLst>
          </a:prstGeom>
          <a:solidFill>
            <a:srgbClr val="F5F8FA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74" name="TB"/>
          <p:cNvSpPr/>
          <p:nvPr/>
        </p:nvSpPr>
        <p:spPr>
          <a:xfrm>
            <a:off x="6393360" y="2230000"/>
            <a:ext cx="5050000" cy="32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65A82"/>
                </a:solidFill>
                <a:latin typeface="Calibri" pitchFamily="34" charset="0"/>
              </a:rPr>
              <a:t>What this means</a:t>
            </a:r>
          </a:p>
        </p:txBody>
      </p:sp>
      <p:sp>
        <p:nvSpPr>
          <p:cNvPr id="75" name="TB"/>
          <p:cNvSpPr/>
          <p:nvPr/>
        </p:nvSpPr>
        <p:spPr>
          <a:xfrm>
            <a:off x="6393360" y="2560000"/>
            <a:ext cx="5050000" cy="177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A2233"/>
                </a:solidFill>
                <a:latin typeface="Calibri" pitchFamily="34" charset="0"/>
              </a:rPr>
              <a:t>iOS is meant to check this file the same way Android checks assetlinks.json,</a:t>
            </a:r>
          </a:p>
          <a:p>
            <a:pPr indent="0" marL="0">
              <a:buNone/>
            </a:pPr>
            <a:r>
              <a:rPr lang="en-US" sz="1150" dirty="0">
                <a:solidFill>
                  <a:srgbClr val="1A2233"/>
                </a:solidFill>
                <a:latin typeface="Calibri" pitchFamily="34" charset="0"/>
              </a:rPr>
              <a:t>then hand the link straight to Bank 2 with no Safari, no prompt at all.</a:t>
            </a:r>
          </a:p>
          <a:p>
            <a:pPr indent="0" marL="0">
              <a:buNone/>
            </a:pPr>
            <a:r>
              <a:rPr lang="en-US" sz="1150" dirty="0">
                <a:solidFill>
                  <a:srgbClr val="1A2233"/>
                </a:solidFill>
                <a:latin typeface="Calibri" pitchFamily="34" charset="0"/>
              </a:rPr>
              <a:t>Confirmed present in the signed binary via codesign — the configuration</a:t>
            </a:r>
          </a:p>
          <a:p>
            <a:pPr indent="0" marL="0">
              <a:buNone/>
            </a:pPr>
            <a:r>
              <a:rPr lang="en-US" sz="1150" dirty="0">
                <a:solidFill>
                  <a:srgbClr val="1A2233"/>
                </a:solidFill>
                <a:latin typeface="Calibri" pitchFamily="34" charset="0"/>
              </a:rPr>
              <a:t>itself is correct and deployed exactly as intended.</a:t>
            </a:r>
          </a:p>
        </p:txBody>
      </p:sp>
      <p:sp>
        <p:nvSpPr>
          <p:cNvPr id="76" name="TB"/>
          <p:cNvSpPr/>
          <p:nvPr/>
        </p:nvSpPr>
        <p:spPr>
          <a:xfrm>
            <a:off x="548640" y="4600000"/>
            <a:ext cx="11094720" cy="32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indent="0" marL="0">
              <a:buNone/>
            </a:pPr>
            <a:r>
              <a:rPr lang="en-US" sz="1150" b="1" i="1" dirty="0">
                <a:solidFill>
                  <a:srgbClr val="8A5A00"/>
                </a:solidFill>
                <a:latin typeface="Calibri" pitchFamily="34" charset="0"/>
              </a:rPr>
              <a:t>Tested on a real iPhone: iOS never completed verification — every link fell through to Safari with a manual banner instead of a silent handoff.</a:t>
            </a:r>
          </a:p>
        </p:txBody>
      </p:sp>
      <p:sp>
        <p:nvSpPr>
          <p:cNvPr id="77" name="Box"/>
          <p:cNvSpPr/>
          <p:nvPr/>
        </p:nvSpPr>
        <p:spPr>
          <a:xfrm>
            <a:off x="548640" y="5000000"/>
            <a:ext cx="5397360" cy="1300000"/>
          </a:xfrm>
          <a:prstGeom prst="roundRect">
            <a:avLst>
              <a:gd name="adj" fmla="val 3000"/>
            </a:avLst>
          </a:prstGeom>
          <a:solidFill>
            <a:srgbClr val="FFF3E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78" name="TB"/>
          <p:cNvSpPr/>
          <p:nvPr/>
        </p:nvSpPr>
        <p:spPr>
          <a:xfrm>
            <a:off x="748640" y="5130000"/>
            <a:ext cx="4997360" cy="32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8A5A00"/>
                </a:solidFill>
                <a:latin typeface="Calibri" pitchFamily="34" charset="0"/>
              </a:rPr>
              <a:t>Why it's blocked</a:t>
            </a:r>
          </a:p>
        </p:txBody>
      </p:sp>
      <p:sp>
        <p:nvSpPr>
          <p:cNvPr id="79" name="TB"/>
          <p:cNvSpPr/>
          <p:nvPr/>
        </p:nvSpPr>
        <p:spPr>
          <a:xfrm>
            <a:off x="748640" y="5460000"/>
            <a:ext cx="4997360" cy="72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A2233"/>
                </a:solidFill>
                <a:latin typeface="Calibri" pitchFamily="34" charset="0"/>
              </a:rPr>
              <a:t>Full verification requires a paid Apple Developer Program</a:t>
            </a:r>
          </a:p>
          <a:p>
            <a:pPr indent="0" marL="0">
              <a:buNone/>
            </a:pPr>
            <a:r>
              <a:rPr lang="en-US" sz="1050" dirty="0">
                <a:solidFill>
                  <a:srgbClr val="1A2233"/>
                </a:solidFill>
                <a:latin typeface="Calibri" pitchFamily="34" charset="0"/>
              </a:rPr>
              <a:t>membership ($99/year). A free Apple ID can sign the app and</a:t>
            </a:r>
          </a:p>
          <a:p>
            <a:pPr indent="0" marL="0">
              <a:buNone/>
            </a:pPr>
            <a:r>
              <a:rPr lang="en-US" sz="1050" dirty="0">
                <a:solidFill>
                  <a:srgbClr val="1A2233"/>
                </a:solidFill>
                <a:latin typeface="Calibri" pitchFamily="34" charset="0"/>
              </a:rPr>
              <a:t>include the entitlement, but iOS never finishes verifying it —</a:t>
            </a:r>
          </a:p>
          <a:p>
            <a:pPr indent="0" marL="0">
              <a:buNone/>
            </a:pPr>
            <a:r>
              <a:rPr lang="en-US" sz="1050" dirty="0">
                <a:solidFill>
                  <a:srgbClr val="1A2233"/>
                </a:solidFill>
                <a:latin typeface="Calibri" pitchFamily="34" charset="0"/>
              </a:rPr>
              <a:t>confirmed by the absence of the "Open Links" Settings entry.</a:t>
            </a:r>
          </a:p>
        </p:txBody>
      </p:sp>
      <p:sp>
        <p:nvSpPr>
          <p:cNvPr id="80" name="Box"/>
          <p:cNvSpPr/>
          <p:nvPr/>
        </p:nvSpPr>
        <p:spPr>
          <a:xfrm>
            <a:off x="6246000" y="5000000"/>
            <a:ext cx="5397360" cy="1300000"/>
          </a:xfrm>
          <a:prstGeom prst="roundRect">
            <a:avLst>
              <a:gd name="adj" fmla="val 3000"/>
            </a:avLst>
          </a:prstGeom>
          <a:solidFill>
            <a:srgbClr val="E8F5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81" name="TB"/>
          <p:cNvSpPr/>
          <p:nvPr/>
        </p:nvSpPr>
        <p:spPr>
          <a:xfrm>
            <a:off x="6446000" y="5130000"/>
            <a:ext cx="4997360" cy="32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B5D3B"/>
                </a:solidFill>
                <a:latin typeface="Calibri" pitchFamily="34" charset="0"/>
              </a:rPr>
              <a:t>What would need to change</a:t>
            </a:r>
          </a:p>
        </p:txBody>
      </p:sp>
      <p:sp>
        <p:nvSpPr>
          <p:cNvPr id="82" name="TB"/>
          <p:cNvSpPr/>
          <p:nvPr/>
        </p:nvSpPr>
        <p:spPr>
          <a:xfrm>
            <a:off x="6446000" y="5460000"/>
            <a:ext cx="4997360" cy="72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A2233"/>
                </a:solidFill>
                <a:latin typeface="Calibri" pitchFamily="34" charset="0"/>
              </a:rPr>
              <a:t>Enroll the same Apple ID in the paid Apple Developer</a:t>
            </a:r>
          </a:p>
          <a:p>
            <a:pPr indent="0" marL="0">
              <a:buNone/>
            </a:pPr>
            <a:r>
              <a:rPr lang="en-US" sz="1050" dirty="0">
                <a:solidFill>
                  <a:srgbClr val="1A2233"/>
                </a:solidFill>
                <a:latin typeface="Calibri" pitchFamily="34" charset="0"/>
              </a:rPr>
              <a:t>Program, rebuild and reinstall Bank 2 — no code changes</a:t>
            </a:r>
          </a:p>
          <a:p>
            <a:pPr indent="0" marL="0">
              <a:buNone/>
            </a:pPr>
            <a:r>
              <a:rPr lang="en-US" sz="1050" dirty="0">
                <a:solidFill>
                  <a:srgbClr val="1A2233"/>
                </a:solidFill>
                <a:latin typeface="Calibri" pitchFamily="34" charset="0"/>
              </a:rPr>
              <a:t>needed, since the entitlement and hosting are already correct.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Bank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TB"/>
          <p:cNvSpPr/>
          <p:nvPr/>
        </p:nvSpPr>
        <p:spPr>
          <a:xfrm>
            <a:off x="548640" y="330000"/>
            <a:ext cx="11094720" cy="60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1295C"/>
                </a:solidFill>
                <a:latin typeface="Cambria" pitchFamily="34" charset="0"/>
              </a:rPr>
              <a:t>Bank 3: iOS Smart App Banner</a:t>
            </a:r>
          </a:p>
        </p:txBody>
      </p:sp>
      <p:sp>
        <p:nvSpPr>
          <p:cNvPr id="84" name="TB"/>
          <p:cNvSpPr/>
          <p:nvPr/>
        </p:nvSpPr>
        <p:spPr>
          <a:xfrm>
            <a:off x="548640" y="980000"/>
            <a:ext cx="11094720" cy="40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5B6B79"/>
                </a:solidFill>
                <a:latin typeface="Calibri" pitchFamily="34" charset="0"/>
              </a:rPr>
              <a:t>A much lighter-weight hint to Safari — no entitlement at all, but it needs a real App Store listing</a:t>
            </a:r>
          </a:p>
        </p:txBody>
      </p:sp>
      <p:sp>
        <p:nvSpPr>
          <p:cNvPr id="85" name="Box"/>
          <p:cNvSpPr/>
          <p:nvPr/>
        </p:nvSpPr>
        <p:spPr>
          <a:xfrm>
            <a:off x="548640" y="1550000"/>
            <a:ext cx="2600000" cy="420000"/>
          </a:xfrm>
          <a:prstGeom prst="roundRect">
            <a:avLst>
              <a:gd name="adj" fmla="val 15000"/>
            </a:avLst>
          </a:prstGeom>
          <a:solidFill>
            <a:srgbClr val="E3F2FD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86" name="TB"/>
          <p:cNvSpPr/>
          <p:nvPr/>
        </p:nvSpPr>
        <p:spPr>
          <a:xfrm>
            <a:off x="548640" y="1550000"/>
            <a:ext cx="2600000" cy="420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100" b="1" dirty="0">
                <a:solidFill>
                  <a:srgbClr val="0D47A1"/>
                </a:solidFill>
                <a:latin typeface="Calibri" pitchFamily="34" charset="0"/>
              </a:rPr>
              <a:t>iOS only</a:t>
            </a:r>
          </a:p>
        </p:txBody>
      </p:sp>
      <p:sp>
        <p:nvSpPr>
          <p:cNvPr id="87" name="Box"/>
          <p:cNvSpPr/>
          <p:nvPr/>
        </p:nvSpPr>
        <p:spPr>
          <a:xfrm>
            <a:off x="548640" y="2100000"/>
            <a:ext cx="5450000" cy="2350000"/>
          </a:xfrm>
          <a:prstGeom prst="roundRect">
            <a:avLst>
              <a:gd name="adj" fmla="val 3500"/>
            </a:avLst>
          </a:prstGeom>
          <a:solidFill>
            <a:srgbClr val="21295C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88" name="TB"/>
          <p:cNvSpPr/>
          <p:nvPr/>
        </p:nvSpPr>
        <p:spPr>
          <a:xfrm>
            <a:off x="768640" y="2250000"/>
            <a:ext cx="5010000" cy="35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5EEAD4"/>
                </a:solidFill>
                <a:latin typeface="Calibri" pitchFamily="34" charset="0"/>
              </a:rPr>
              <a:t>pay.html &lt;head&gt;</a:t>
            </a:r>
          </a:p>
        </p:txBody>
      </p:sp>
      <p:sp>
        <p:nvSpPr>
          <p:cNvPr id="89" name="TB"/>
          <p:cNvSpPr/>
          <p:nvPr/>
        </p:nvSpPr>
        <p:spPr>
          <a:xfrm>
            <a:off x="768640" y="2620000"/>
            <a:ext cx="5010000" cy="170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</a:rPr>
              <a:t>&lt;meta name="apple-itunes-app"</a:t>
            </a:r>
          </a:p>
          <a:p>
            <a:pPr indent="0" marL="0"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</a:rPr>
              <a:t>  content="app-id=0000000000,</a:t>
            </a:r>
          </a:p>
          <a:p>
            <a:pPr indent="0" marL="0"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</a:rPr>
              <a:t>    app-argument=</a:t>
            </a:r>
          </a:p>
          <a:p>
            <a:pPr indent="0" marL="0"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</a:rPr>
              <a:t>    smartbannerdemo://pay?token=..."&gt;</a:t>
            </a:r>
          </a:p>
          <a:p>
            <a:pPr indent="0" marL="0"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</a:rPr>
              <a:t/>
            </a:r>
          </a:p>
          <a:p>
            <a:pPr indent="0" marL="0"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</a:rPr>
              <a:t># No entitlement, no hosted verification</a:t>
            </a:r>
          </a:p>
          <a:p>
            <a:pPr indent="0" marL="0"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</a:rPr>
              <a:t># file at all — just this one tag.</a:t>
            </a:r>
          </a:p>
          <a:p>
            <a:pPr indent="0" marL="0"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</a:rPr>
              <a:t># Tapping "OPEN" (if the app is</a:t>
            </a:r>
          </a:p>
          <a:p>
            <a:pPr indent="0" marL="0"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</a:rPr>
              <a:t># installed) delivers app-argument</a:t>
            </a:r>
          </a:p>
          <a:p>
            <a:pPr indent="0" marL="0"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</a:rPr>
              <a:t># the same way a custom scheme would.</a:t>
            </a:r>
          </a:p>
        </p:txBody>
      </p:sp>
      <p:sp>
        <p:nvSpPr>
          <p:cNvPr id="90" name="Box"/>
          <p:cNvSpPr/>
          <p:nvPr/>
        </p:nvSpPr>
        <p:spPr>
          <a:xfrm>
            <a:off x="6193360" y="2100000"/>
            <a:ext cx="5450000" cy="2350000"/>
          </a:xfrm>
          <a:prstGeom prst="roundRect">
            <a:avLst>
              <a:gd name="adj" fmla="val 3000"/>
            </a:avLst>
          </a:prstGeom>
          <a:solidFill>
            <a:srgbClr val="F5F8FA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91" name="TB"/>
          <p:cNvSpPr/>
          <p:nvPr/>
        </p:nvSpPr>
        <p:spPr>
          <a:xfrm>
            <a:off x="6393360" y="2230000"/>
            <a:ext cx="5050000" cy="32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65A82"/>
                </a:solidFill>
                <a:latin typeface="Calibri" pitchFamily="34" charset="0"/>
              </a:rPr>
              <a:t>What this means</a:t>
            </a:r>
          </a:p>
        </p:txBody>
      </p:sp>
      <p:sp>
        <p:nvSpPr>
          <p:cNvPr id="92" name="TB"/>
          <p:cNvSpPr/>
          <p:nvPr/>
        </p:nvSpPr>
        <p:spPr>
          <a:xfrm>
            <a:off x="6393360" y="2560000"/>
            <a:ext cx="5050000" cy="177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A2233"/>
                </a:solidFill>
                <a:latin typeface="Calibri" pitchFamily="34" charset="0"/>
              </a:rPr>
              <a:t>This tag alone is enough for Safari to show a banner offering to</a:t>
            </a:r>
          </a:p>
          <a:p>
            <a:pPr indent="0" marL="0">
              <a:buNone/>
            </a:pPr>
            <a:r>
              <a:rPr lang="en-US" sz="1150" dirty="0">
                <a:solidFill>
                  <a:srgbClr val="1A2233"/>
                </a:solidFill>
                <a:latin typeface="Calibri" pitchFamily="34" charset="0"/>
              </a:rPr>
              <a:t>open or install the app — dramatically simpler than Universal Links.</a:t>
            </a:r>
          </a:p>
          <a:p>
            <a:pPr indent="0" marL="0">
              <a:buNone/>
            </a:pPr>
            <a:r>
              <a:rPr lang="en-US" sz="1150" dirty="0">
                <a:solidFill>
                  <a:srgbClr val="1A2233"/>
                </a:solidFill>
                <a:latin typeface="Calibri" pitchFamily="34" charset="0"/>
              </a:rPr>
              <a:t>But Safari validates app-id against Apple's own servers before</a:t>
            </a:r>
          </a:p>
          <a:p>
            <a:pPr indent="0" marL="0">
              <a:buNone/>
            </a:pPr>
            <a:r>
              <a:rPr lang="en-US" sz="1150" dirty="0">
                <a:solidFill>
                  <a:srgbClr val="1A2233"/>
                </a:solidFill>
                <a:latin typeface="Calibri" pitchFamily="34" charset="0"/>
              </a:rPr>
              <a:t>showing anything, checking it matches a real App Store listing.</a:t>
            </a:r>
          </a:p>
        </p:txBody>
      </p:sp>
      <p:sp>
        <p:nvSpPr>
          <p:cNvPr id="93" name="TB"/>
          <p:cNvSpPr/>
          <p:nvPr/>
        </p:nvSpPr>
        <p:spPr>
          <a:xfrm>
            <a:off x="548640" y="4600000"/>
            <a:ext cx="11094720" cy="32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indent="0" marL="0">
              <a:buNone/>
            </a:pPr>
            <a:r>
              <a:rPr lang="en-US" sz="1150" b="1" i="1" dirty="0">
                <a:solidFill>
                  <a:srgbClr val="8A5A00"/>
                </a:solidFill>
                <a:latin typeface="Calibri" pitchFamily="34" charset="0"/>
              </a:rPr>
              <a:t>Code and hosting confirmed correct and deployed — the banner itself never renders, because there is nothing to validate against.</a:t>
            </a:r>
          </a:p>
        </p:txBody>
      </p:sp>
      <p:sp>
        <p:nvSpPr>
          <p:cNvPr id="94" name="Box"/>
          <p:cNvSpPr/>
          <p:nvPr/>
        </p:nvSpPr>
        <p:spPr>
          <a:xfrm>
            <a:off x="548640" y="5000000"/>
            <a:ext cx="5397360" cy="1300000"/>
          </a:xfrm>
          <a:prstGeom prst="roundRect">
            <a:avLst>
              <a:gd name="adj" fmla="val 3000"/>
            </a:avLst>
          </a:prstGeom>
          <a:solidFill>
            <a:srgbClr val="FFF3E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95" name="TB"/>
          <p:cNvSpPr/>
          <p:nvPr/>
        </p:nvSpPr>
        <p:spPr>
          <a:xfrm>
            <a:off x="748640" y="5130000"/>
            <a:ext cx="4997360" cy="32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8A5A00"/>
                </a:solidFill>
                <a:latin typeface="Calibri" pitchFamily="34" charset="0"/>
              </a:rPr>
              <a:t>Why it's blocked</a:t>
            </a:r>
          </a:p>
        </p:txBody>
      </p:sp>
      <p:sp>
        <p:nvSpPr>
          <p:cNvPr id="96" name="TB"/>
          <p:cNvSpPr/>
          <p:nvPr/>
        </p:nvSpPr>
        <p:spPr>
          <a:xfrm>
            <a:off x="748640" y="5460000"/>
            <a:ext cx="4997360" cy="72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A2233"/>
                </a:solidFill>
                <a:latin typeface="Calibri" pitchFamily="34" charset="0"/>
              </a:rPr>
              <a:t>Safari checks the app-id against a real, published App Store</a:t>
            </a:r>
          </a:p>
          <a:p>
            <a:pPr indent="0" marL="0">
              <a:buNone/>
            </a:pPr>
            <a:r>
              <a:rPr lang="en-US" sz="1050" dirty="0">
                <a:solidFill>
                  <a:srgbClr val="1A2233"/>
                </a:solidFill>
                <a:latin typeface="Calibri" pitchFamily="34" charset="0"/>
              </a:rPr>
              <a:t>listing before ever rendering the banner — it validates</a:t>
            </a:r>
          </a:p>
          <a:p>
            <a:pPr indent="0" marL="0">
              <a:buNone/>
            </a:pPr>
            <a:r>
              <a:rPr lang="en-US" sz="1050" dirty="0">
                <a:solidFill>
                  <a:srgbClr val="1A2233"/>
                </a:solidFill>
                <a:latin typeface="Calibri" pitchFamily="34" charset="0"/>
              </a:rPr>
              <a:t>server-side, not just whether the tag is present on the page.</a:t>
            </a:r>
          </a:p>
          <a:p>
            <a:pPr indent="0" marL="0">
              <a:buNone/>
            </a:pPr>
            <a:r>
              <a:rPr lang="en-US" sz="1050" dirty="0">
                <a:solidFill>
                  <a:srgbClr val="1A2233"/>
                </a:solidFill>
                <a:latin typeface="Calibri" pitchFamily="34" charset="0"/>
              </a:rPr>
              <a:t>This demo app is sideloaded and was never published.</a:t>
            </a:r>
          </a:p>
        </p:txBody>
      </p:sp>
      <p:sp>
        <p:nvSpPr>
          <p:cNvPr id="97" name="Box"/>
          <p:cNvSpPr/>
          <p:nvPr/>
        </p:nvSpPr>
        <p:spPr>
          <a:xfrm>
            <a:off x="6246000" y="5000000"/>
            <a:ext cx="5397360" cy="1300000"/>
          </a:xfrm>
          <a:prstGeom prst="roundRect">
            <a:avLst>
              <a:gd name="adj" fmla="val 3000"/>
            </a:avLst>
          </a:prstGeom>
          <a:solidFill>
            <a:srgbClr val="E8F5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98" name="TB"/>
          <p:cNvSpPr/>
          <p:nvPr/>
        </p:nvSpPr>
        <p:spPr>
          <a:xfrm>
            <a:off x="6446000" y="5130000"/>
            <a:ext cx="4997360" cy="32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B5D3B"/>
                </a:solidFill>
                <a:latin typeface="Calibri" pitchFamily="34" charset="0"/>
              </a:rPr>
              <a:t>What would need to change</a:t>
            </a:r>
          </a:p>
        </p:txBody>
      </p:sp>
      <p:sp>
        <p:nvSpPr>
          <p:cNvPr id="99" name="TB"/>
          <p:cNvSpPr/>
          <p:nvPr/>
        </p:nvSpPr>
        <p:spPr>
          <a:xfrm>
            <a:off x="6446000" y="5460000"/>
            <a:ext cx="4997360" cy="72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A2233"/>
                </a:solidFill>
                <a:latin typeface="Calibri" pitchFamily="34" charset="0"/>
              </a:rPr>
              <a:t>Publish Bank 3 to the App Store with a real app-id, then</a:t>
            </a:r>
          </a:p>
          <a:p>
            <a:pPr indent="0" marL="0">
              <a:buNone/>
            </a:pPr>
            <a:r>
              <a:rPr lang="en-US" sz="1050" dirty="0">
                <a:solidFill>
                  <a:srgbClr val="1A2233"/>
                </a:solidFill>
                <a:latin typeface="Calibri" pitchFamily="34" charset="0"/>
              </a:rPr>
              <a:t>the exact same tag already deployed here would start</a:t>
            </a:r>
          </a:p>
          <a:p>
            <a:pPr indent="0" marL="0">
              <a:buNone/>
            </a:pPr>
            <a:r>
              <a:rPr lang="en-US" sz="1050" dirty="0">
                <a:solidFill>
                  <a:srgbClr val="1A2233"/>
                </a:solidFill>
                <a:latin typeface="Calibri" pitchFamily="34" charset="0"/>
              </a:rPr>
              <a:t>showing the banner with no further code changes.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Bank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TB"/>
          <p:cNvSpPr/>
          <p:nvPr/>
        </p:nvSpPr>
        <p:spPr>
          <a:xfrm>
            <a:off x="548640" y="330000"/>
            <a:ext cx="11094720" cy="60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1295C"/>
                </a:solidFill>
                <a:latin typeface="Cambria" pitchFamily="34" charset="0"/>
              </a:rPr>
              <a:t>Bank 4: Android Explicit-Package Intent</a:t>
            </a:r>
          </a:p>
        </p:txBody>
      </p:sp>
      <p:sp>
        <p:nvSpPr>
          <p:cNvPr id="101" name="TB"/>
          <p:cNvSpPr/>
          <p:nvPr/>
        </p:nvSpPr>
        <p:spPr>
          <a:xfrm>
            <a:off x="548640" y="980000"/>
            <a:ext cx="11094720" cy="40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5B6B79"/>
                </a:solidFill>
                <a:latin typeface="Calibri" pitchFamily="34" charset="0"/>
              </a:rPr>
              <a:t>No verification of any kind — the sender just states the answer</a:t>
            </a:r>
          </a:p>
        </p:txBody>
      </p:sp>
      <p:sp>
        <p:nvSpPr>
          <p:cNvPr id="102" name="Box"/>
          <p:cNvSpPr/>
          <p:nvPr/>
        </p:nvSpPr>
        <p:spPr>
          <a:xfrm>
            <a:off x="548640" y="1550000"/>
            <a:ext cx="2600000" cy="420000"/>
          </a:xfrm>
          <a:prstGeom prst="roundRect">
            <a:avLst>
              <a:gd name="adj" fmla="val 15000"/>
            </a:avLst>
          </a:prstGeom>
          <a:solidFill>
            <a:srgbClr val="E8F5E9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03" name="TB"/>
          <p:cNvSpPr/>
          <p:nvPr/>
        </p:nvSpPr>
        <p:spPr>
          <a:xfrm>
            <a:off x="548640" y="1550000"/>
            <a:ext cx="2600000" cy="420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100" b="1" dirty="0">
                <a:solidFill>
                  <a:srgbClr val="2E7D32"/>
                </a:solidFill>
                <a:latin typeface="Calibri" pitchFamily="34" charset="0"/>
              </a:rPr>
              <a:t>Android only</a:t>
            </a:r>
          </a:p>
        </p:txBody>
      </p:sp>
      <p:sp>
        <p:nvSpPr>
          <p:cNvPr id="104" name="Box"/>
          <p:cNvSpPr/>
          <p:nvPr/>
        </p:nvSpPr>
        <p:spPr>
          <a:xfrm>
            <a:off x="548640" y="2100000"/>
            <a:ext cx="5450000" cy="3900000"/>
          </a:xfrm>
          <a:prstGeom prst="roundRect">
            <a:avLst>
              <a:gd name="adj" fmla="val 3500"/>
            </a:avLst>
          </a:prstGeom>
          <a:solidFill>
            <a:srgbClr val="21295C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05" name="TB"/>
          <p:cNvSpPr/>
          <p:nvPr/>
        </p:nvSpPr>
        <p:spPr>
          <a:xfrm>
            <a:off x="768640" y="2250000"/>
            <a:ext cx="5010000" cy="35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5EEAD4"/>
                </a:solidFill>
                <a:latin typeface="Calibri" pitchFamily="34" charset="0"/>
              </a:rPr>
              <a:t>The "Open" link on the page</a:t>
            </a:r>
          </a:p>
        </p:txBody>
      </p:sp>
      <p:sp>
        <p:nvSpPr>
          <p:cNvPr id="106" name="TB"/>
          <p:cNvSpPr/>
          <p:nvPr/>
        </p:nvSpPr>
        <p:spPr>
          <a:xfrm>
            <a:off x="768640" y="2620000"/>
            <a:ext cx="5010000" cy="325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</a:rPr>
              <a:t>intent://pay?token=abc123</a:t>
            </a:r>
          </a:p>
          <a:p>
            <a:pPr indent="0" marL="0"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</a:rPr>
              <a:t>  #Intent;</a:t>
            </a:r>
          </a:p>
          <a:p>
            <a:pPr indent="0" marL="0"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</a:rPr>
              <a:t>  scheme=explicitintentdemo;</a:t>
            </a:r>
          </a:p>
          <a:p>
            <a:pPr indent="0" marL="0"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</a:rPr>
              <a:t>  package=com.sgqrdemo.</a:t>
            </a:r>
          </a:p>
          <a:p>
            <a:pPr indent="0" marL="0"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</a:rPr>
              <a:t>    method_explicit_intent;</a:t>
            </a:r>
          </a:p>
          <a:p>
            <a:pPr indent="0" marL="0"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</a:rPr>
              <a:t>  end</a:t>
            </a:r>
          </a:p>
        </p:txBody>
      </p:sp>
      <p:sp>
        <p:nvSpPr>
          <p:cNvPr id="107" name="Box"/>
          <p:cNvSpPr/>
          <p:nvPr/>
        </p:nvSpPr>
        <p:spPr>
          <a:xfrm>
            <a:off x="6193360" y="2100000"/>
            <a:ext cx="5450000" cy="3900000"/>
          </a:xfrm>
          <a:prstGeom prst="roundRect">
            <a:avLst>
              <a:gd name="adj" fmla="val 3000"/>
            </a:avLst>
          </a:prstGeom>
          <a:solidFill>
            <a:srgbClr val="F5F8FA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08" name="TB"/>
          <p:cNvSpPr/>
          <p:nvPr/>
        </p:nvSpPr>
        <p:spPr>
          <a:xfrm>
            <a:off x="6393360" y="2230000"/>
            <a:ext cx="5050000" cy="32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65A82"/>
                </a:solidFill>
                <a:latin typeface="Calibri" pitchFamily="34" charset="0"/>
              </a:rPr>
              <a:t>What this means</a:t>
            </a:r>
          </a:p>
        </p:txBody>
      </p:sp>
      <p:sp>
        <p:nvSpPr>
          <p:cNvPr id="109" name="TB"/>
          <p:cNvSpPr/>
          <p:nvPr/>
        </p:nvSpPr>
        <p:spPr>
          <a:xfrm>
            <a:off x="6393360" y="2560000"/>
            <a:ext cx="5050000" cy="332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A2233"/>
                </a:solidFill>
                <a:latin typeface="Calibri" pitchFamily="34" charset="0"/>
              </a:rPr>
              <a:t>package= names this app's exact package directly inside the link itself.</a:t>
            </a:r>
          </a:p>
          <a:p>
            <a:pPr indent="0" marL="0">
              <a:buNone/>
            </a:pPr>
            <a:r>
              <a:rPr lang="en-US" sz="1150" dirty="0">
                <a:solidFill>
                  <a:srgbClr val="1A2233"/>
                </a:solidFill>
                <a:latin typeface="Calibri" pitchFamily="34" charset="0"/>
              </a:rPr>
              <a:t>Android has nothing left to disambiguate — no chooser is possible</a:t>
            </a:r>
          </a:p>
          <a:p>
            <a:pPr indent="0" marL="0">
              <a:buNone/>
            </a:pPr>
            <a:r>
              <a:rPr lang="en-US" sz="1150" dirty="0">
                <a:solidFill>
                  <a:srgbClr val="1A2233"/>
                </a:solidFill>
                <a:latin typeface="Calibri" pitchFamily="34" charset="0"/>
              </a:rPr>
              <a:t>when only one app is named, regardless of what else is installed.</a:t>
            </a:r>
          </a:p>
          <a:p>
            <a:pPr indent="0" marL="0">
              <a:buNone/>
            </a:pPr>
            <a:r>
              <a:rPr lang="en-US" sz="1150" dirty="0">
                <a:solidFill>
                  <a:srgbClr val="1A2233"/>
                </a:solidFill>
                <a:latin typeface="Calibri" pitchFamily="34" charset="0"/>
              </a:rPr>
              <a:t>Trade-off: only works when whoever generates the link already</a:t>
            </a:r>
          </a:p>
          <a:p>
            <a:pPr indent="0" marL="0">
              <a:buNone/>
            </a:pPr>
            <a:r>
              <a:rPr lang="en-US" sz="1150" dirty="0">
                <a:solidFill>
                  <a:srgbClr val="1A2233"/>
                </a:solidFill>
                <a:latin typeface="Calibri" pitchFamily="34" charset="0"/>
              </a:rPr>
              <a:t>knows which app should open it — the opposite of Bank A/B/C's</a:t>
            </a:r>
          </a:p>
          <a:p>
            <a:pPr indent="0" marL="0">
              <a:buNone/>
            </a:pPr>
            <a:r>
              <a:rPr lang="en-US" sz="1150" dirty="0">
                <a:solidFill>
                  <a:srgbClr val="1A2233"/>
                </a:solidFill>
                <a:latin typeface="Calibri" pitchFamily="34" charset="0"/>
              </a:rPr>
              <a:t>"any of 3 banks" scenario.</a:t>
            </a:r>
          </a:p>
        </p:txBody>
      </p:sp>
      <p:sp>
        <p:nvSpPr>
          <p:cNvPr id="110" name="TB"/>
          <p:cNvSpPr/>
          <p:nvPr/>
        </p:nvSpPr>
        <p:spPr>
          <a:xfrm>
            <a:off x="548640" y="6150000"/>
            <a:ext cx="11094720" cy="32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indent="0" marL="0">
              <a:buNone/>
            </a:pPr>
            <a:r>
              <a:rPr lang="en-US" sz="1150" b="1" i="1" dirty="0">
                <a:solidFill>
                  <a:srgbClr val="0B5D3B"/>
                </a:solidFill>
                <a:latin typeface="Calibri" pitchFamily="34" charset="0"/>
              </a:rPr>
              <a:t>Tested live on a real Android device: opened directly, zero prompt, correct payload fetched.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Bank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TB"/>
          <p:cNvSpPr/>
          <p:nvPr/>
        </p:nvSpPr>
        <p:spPr>
          <a:xfrm>
            <a:off x="548640" y="330000"/>
            <a:ext cx="11094720" cy="60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1295C"/>
                </a:solidFill>
                <a:latin typeface="Cambria" pitchFamily="34" charset="0"/>
              </a:rPr>
              <a:t>Bank 5: Deferred Deep Linking</a:t>
            </a:r>
          </a:p>
        </p:txBody>
      </p:sp>
      <p:sp>
        <p:nvSpPr>
          <p:cNvPr id="112" name="TB"/>
          <p:cNvSpPr/>
          <p:nvPr/>
        </p:nvSpPr>
        <p:spPr>
          <a:xfrm>
            <a:off x="548640" y="980000"/>
            <a:ext cx="11094720" cy="40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5B6B79"/>
                </a:solidFill>
                <a:latin typeface="Calibri" pitchFamily="34" charset="0"/>
              </a:rPr>
              <a:t>Carrying a destination across an app install — simulated via the clipboard</a:t>
            </a:r>
          </a:p>
        </p:txBody>
      </p:sp>
      <p:sp>
        <p:nvSpPr>
          <p:cNvPr id="113" name="Box"/>
          <p:cNvSpPr/>
          <p:nvPr/>
        </p:nvSpPr>
        <p:spPr>
          <a:xfrm>
            <a:off x="548640" y="1550000"/>
            <a:ext cx="2600000" cy="420000"/>
          </a:xfrm>
          <a:prstGeom prst="roundRect">
            <a:avLst>
              <a:gd name="adj" fmla="val 15000"/>
            </a:avLst>
          </a:prstGeom>
          <a:solidFill>
            <a:srgbClr val="F3E5F5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14" name="TB"/>
          <p:cNvSpPr/>
          <p:nvPr/>
        </p:nvSpPr>
        <p:spPr>
          <a:xfrm>
            <a:off x="548640" y="1550000"/>
            <a:ext cx="2600000" cy="420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100" b="1" dirty="0">
                <a:solidFill>
                  <a:srgbClr val="6A1B9A"/>
                </a:solidFill>
                <a:latin typeface="Calibri" pitchFamily="34" charset="0"/>
              </a:rPr>
              <a:t>Android + iOS</a:t>
            </a:r>
          </a:p>
        </p:txBody>
      </p:sp>
      <p:sp>
        <p:nvSpPr>
          <p:cNvPr id="115" name="Box"/>
          <p:cNvSpPr/>
          <p:nvPr/>
        </p:nvSpPr>
        <p:spPr>
          <a:xfrm>
            <a:off x="548640" y="2100000"/>
            <a:ext cx="5450000" cy="3900000"/>
          </a:xfrm>
          <a:prstGeom prst="roundRect">
            <a:avLst>
              <a:gd name="adj" fmla="val 3500"/>
            </a:avLst>
          </a:prstGeom>
          <a:solidFill>
            <a:srgbClr val="21295C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16" name="TB"/>
          <p:cNvSpPr/>
          <p:nvPr/>
        </p:nvSpPr>
        <p:spPr>
          <a:xfrm>
            <a:off x="768640" y="2250000"/>
            <a:ext cx="5010000" cy="35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5EEAD4"/>
                </a:solidFill>
                <a:latin typeface="Calibri" pitchFamily="34" charset="0"/>
              </a:rPr>
              <a:t>The link itself</a:t>
            </a:r>
          </a:p>
        </p:txBody>
      </p:sp>
      <p:sp>
        <p:nvSpPr>
          <p:cNvPr id="117" name="TB"/>
          <p:cNvSpPr/>
          <p:nvPr/>
        </p:nvSpPr>
        <p:spPr>
          <a:xfrm>
            <a:off x="768640" y="2620000"/>
            <a:ext cx="5010000" cy="325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</a:rPr>
              <a:t>https://...onrender.com</a:t>
            </a:r>
          </a:p>
          <a:p>
            <a:pPr indent="0" marL="0"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</a:rPr>
              <a:t>  /methods/deferred/abc123</a:t>
            </a:r>
          </a:p>
          <a:p>
            <a:pPr indent="0" marL="0"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</a:rPr>
              <a:t/>
            </a:r>
          </a:p>
          <a:p>
            <a:pPr indent="0" marL="0"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</a:rPr>
              <a:t># An entirely ordinary https link —</a:t>
            </a:r>
          </a:p>
          <a:p>
            <a:pPr indent="0" marL="0"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</a:rPr>
              <a:t># no scheme, no verification, nothing</a:t>
            </a:r>
          </a:p>
          <a:p>
            <a:pPr indent="0" marL="0"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</a:rPr>
              <a:t># claimed on either platform at all.</a:t>
            </a:r>
          </a:p>
          <a:p>
            <a:pPr indent="0" marL="0"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</a:rPr>
              <a:t/>
            </a:r>
          </a:p>
          <a:p>
            <a:pPr indent="0" marL="0"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</a:rPr>
              <a:t># App checks on first launch:</a:t>
            </a:r>
          </a:p>
          <a:p>
            <a:pPr indent="0" marL="0"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</a:rPr>
              <a:t>RegExp(r'/methods/deferred/([\w-]+)')</a:t>
            </a:r>
          </a:p>
          <a:p>
            <a:pPr indent="0" marL="0"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</a:rPr>
              <a:t>  .firstMatch(clipboardText)</a:t>
            </a:r>
          </a:p>
        </p:txBody>
      </p:sp>
      <p:sp>
        <p:nvSpPr>
          <p:cNvPr id="118" name="Box"/>
          <p:cNvSpPr/>
          <p:nvPr/>
        </p:nvSpPr>
        <p:spPr>
          <a:xfrm>
            <a:off x="6193360" y="2100000"/>
            <a:ext cx="5450000" cy="3900000"/>
          </a:xfrm>
          <a:prstGeom prst="roundRect">
            <a:avLst>
              <a:gd name="adj" fmla="val 3000"/>
            </a:avLst>
          </a:prstGeom>
          <a:solidFill>
            <a:srgbClr val="F5F8FA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19" name="TB"/>
          <p:cNvSpPr/>
          <p:nvPr/>
        </p:nvSpPr>
        <p:spPr>
          <a:xfrm>
            <a:off x="6393360" y="2230000"/>
            <a:ext cx="5050000" cy="32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65A82"/>
                </a:solidFill>
                <a:latin typeface="Calibri" pitchFamily="34" charset="0"/>
              </a:rPr>
              <a:t>What this means</a:t>
            </a:r>
          </a:p>
        </p:txBody>
      </p:sp>
      <p:sp>
        <p:nvSpPr>
          <p:cNvPr id="120" name="TB"/>
          <p:cNvSpPr/>
          <p:nvPr/>
        </p:nvSpPr>
        <p:spPr>
          <a:xfrm>
            <a:off x="6393360" y="2560000"/>
            <a:ext cx="5050000" cy="332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A2233"/>
                </a:solidFill>
                <a:latin typeface="Calibri" pitchFamily="34" charset="0"/>
              </a:rPr>
              <a:t>Real deferred linking relies on the App/Play Store carrying a click</a:t>
            </a:r>
          </a:p>
          <a:p>
            <a:pPr indent="0" marL="0">
              <a:buNone/>
            </a:pPr>
            <a:r>
              <a:rPr lang="en-US" sz="1150" dirty="0">
                <a:solidFill>
                  <a:srgbClr val="1A2233"/>
                </a:solidFill>
                <a:latin typeface="Calibri" pitchFamily="34" charset="0"/>
              </a:rPr>
              <a:t>identifier through installation — only possible for a published app.</a:t>
            </a:r>
          </a:p>
          <a:p>
            <a:pPr indent="0" marL="0">
              <a:buNone/>
            </a:pPr>
            <a:r>
              <a:rPr lang="en-US" sz="1150" dirty="0">
                <a:solidFill>
                  <a:srgbClr val="1A2233"/>
                </a:solidFill>
                <a:latin typeface="Calibri" pitchFamily="34" charset="0"/>
              </a:rPr>
              <a:t>This simulates the same result: the webpage copies this same link</a:t>
            </a:r>
          </a:p>
          <a:p>
            <a:pPr indent="0" marL="0">
              <a:buNone/>
            </a:pPr>
            <a:r>
              <a:rPr lang="en-US" sz="1150" dirty="0">
                <a:solidFill>
                  <a:srgbClr val="1A2233"/>
                </a:solidFill>
                <a:latin typeface="Calibri" pitchFamily="34" charset="0"/>
              </a:rPr>
              <a:t>to the clipboard before "install," and the app reads it back on</a:t>
            </a:r>
          </a:p>
          <a:p>
            <a:pPr indent="0" marL="0">
              <a:buNone/>
            </a:pPr>
            <a:r>
              <a:rPr lang="en-US" sz="1150" dirty="0">
                <a:solidFill>
                  <a:srgbClr val="1A2233"/>
                </a:solidFill>
                <a:latin typeface="Calibri" pitchFamily="34" charset="0"/>
              </a:rPr>
              <a:t>first launch — no store involved, so nothing about the link matters.</a:t>
            </a:r>
          </a:p>
        </p:txBody>
      </p:sp>
      <p:sp>
        <p:nvSpPr>
          <p:cNvPr id="121" name="TB"/>
          <p:cNvSpPr/>
          <p:nvPr/>
        </p:nvSpPr>
        <p:spPr>
          <a:xfrm>
            <a:off x="548640" y="6150000"/>
            <a:ext cx="11094720" cy="32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indent="0" marL="0">
              <a:buNone/>
            </a:pPr>
            <a:r>
              <a:rPr lang="en-US" sz="1150" b="1" i="1" dirty="0">
                <a:solidFill>
                  <a:srgbClr val="0B5D3B"/>
                </a:solidFill>
                <a:latin typeface="Calibri" pitchFamily="34" charset="0"/>
              </a:rPr>
              <a:t>Tested live on both a real Android device and a real iPhone: correct token recovered from the clipboard both times.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ReportDivider">
    <p:bg>
      <p:bgPr>
        <a:solidFill>
          <a:srgbClr val="2129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01" name="TB"/>
          <p:cNvSpPr/>
          <p:nvPr/>
        </p:nvSpPr>
        <p:spPr>
          <a:xfrm>
            <a:off x="548640" y="150000"/>
            <a:ext cx="11094720" cy="30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>
              <a:buNone/>
            </a:pPr>
            <a:r>
              <a:rPr lang="en-US" sz="1050" b="1" dirty="0">
                <a:solidFill>
                  <a:srgbClr val="5EEAD4"/>
                </a:solidFill>
                <a:latin typeface="Calibri" pitchFamily="34" charset="0"/>
              </a:rPr>
              <a:t>NEW SECTION</a:t>
            </a:r>
          </a:p>
        </p:txBody>
      </p:sp>
      <p:sp>
        <p:nvSpPr>
          <p:cNvPr id="5002" name="TB"/>
          <p:cNvSpPr/>
          <p:nvPr/>
        </p:nvSpPr>
        <p:spPr>
          <a:xfrm>
            <a:off x="548640" y="2600000"/>
            <a:ext cx="11094720" cy="90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</a:rPr>
              <a:t>How Real National Payment Systems Do This</a:t>
            </a:r>
          </a:p>
        </p:txBody>
      </p:sp>
      <p:sp>
        <p:nvSpPr>
          <p:cNvPr id="5003" name="TB"/>
          <p:cNvSpPr/>
          <p:nvPr/>
        </p:nvSpPr>
        <p:spPr>
          <a:xfrm>
            <a:off x="548640" y="3550000"/>
            <a:ext cx="11094720" cy="50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>
              <a:buNone/>
            </a:pPr>
            <a:r>
              <a:rPr lang="en-US" sz="1500" i="1" dirty="0">
                <a:solidFill>
                  <a:srgbClr val="CADCFC"/>
                </a:solidFill>
                <a:latin typeface="Calibri" pitchFamily="34" charset="0"/>
              </a:rPr>
              <a:t>DuitNow (Malaysia) · Alipay &amp; WeChat Pay (China) · UPI (India) · Pix (Brazil) · Tazapay</a:t>
            </a:r>
          </a:p>
        </p:txBody>
      </p:sp>
      <p:sp>
        <p:nvSpPr>
          <p:cNvPr id="5004" name="TB"/>
          <p:cNvSpPr/>
          <p:nvPr/>
        </p:nvSpPr>
        <p:spPr>
          <a:xfrm>
            <a:off x="548640" y="4300000"/>
            <a:ext cx="11094720" cy="70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>
              <a:buNone/>
            </a:pPr>
            <a:r>
              <a:rPr lang="en-US" sz="1250" dirty="0">
                <a:solidFill>
                  <a:srgbClr val="AEB8C2"/>
                </a:solidFill>
                <a:latin typeface="Calibri" pitchFamily="34" charset="0"/>
              </a:rPr>
              <a:t>A technical reference comparison: how five production payment ecosystems solve the same deep-linking problem this project simulates — at national scale, with real money.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ExecSummar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05" name="TB"/>
          <p:cNvSpPr/>
          <p:nvPr/>
        </p:nvSpPr>
        <p:spPr>
          <a:xfrm>
            <a:off x="548640" y="330000"/>
            <a:ext cx="11094720" cy="56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>
              <a:buNone/>
            </a:pPr>
            <a:r>
              <a:rPr lang="en-US" sz="2400" b="1" dirty="0">
                <a:solidFill>
                  <a:srgbClr val="21295C"/>
                </a:solidFill>
                <a:latin typeface="Cambria" pitchFamily="34" charset="0"/>
              </a:rPr>
              <a:t>Executive Summary: Three Families of Approach</a:t>
            </a:r>
          </a:p>
        </p:txBody>
      </p:sp>
      <p:sp>
        <p:nvSpPr>
          <p:cNvPr id="5006" name="TB"/>
          <p:cNvSpPr/>
          <p:nvPr/>
        </p:nvSpPr>
        <p:spPr>
          <a:xfrm>
            <a:off x="548640" y="920000"/>
            <a:ext cx="11094720" cy="38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>
              <a:buNone/>
            </a:pPr>
            <a:r>
              <a:rPr lang="en-US" sz="1200" i="1" dirty="0">
                <a:solidFill>
                  <a:srgbClr val="5B6B79"/>
                </a:solidFill>
                <a:latin typeface="Calibri" pitchFamily="34" charset="0"/>
              </a:rPr>
              <a:t>How five payment ecosystems implement deeplinking — URI schemes, QR payloads, signing, and end-to-end flows</a:t>
            </a:r>
          </a:p>
        </p:txBody>
      </p:sp>
      <p:sp>
        <p:nvSpPr>
          <p:cNvPr id="5007" name="Box"/>
          <p:cNvSpPr/>
          <p:nvPr/>
        </p:nvSpPr>
        <p:spPr>
          <a:xfrm>
            <a:off x="548640" y="1550000"/>
            <a:ext cx="3600000" cy="2100000"/>
          </a:xfrm>
          <a:prstGeom prst="roundRect">
            <a:avLst>
              <a:gd name="adj" fmla="val 2500"/>
            </a:avLst>
          </a:prstGeom>
          <a:solidFill>
            <a:srgbClr val="E8F5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5008" name="TB"/>
          <p:cNvSpPr/>
          <p:nvPr/>
        </p:nvSpPr>
        <p:spPr>
          <a:xfrm>
            <a:off x="728640" y="1670000"/>
            <a:ext cx="3240000" cy="30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>
              <a:buNone/>
            </a:pPr>
            <a:r>
              <a:rPr lang="en-US" sz="1150" b="1" dirty="0">
                <a:solidFill>
                  <a:srgbClr val="0B5D3B"/>
                </a:solidFill>
                <a:latin typeface="Calibri" pitchFamily="34" charset="0"/>
              </a:rPr>
              <a:t>1. Single national scheme</a:t>
            </a:r>
          </a:p>
        </p:txBody>
      </p:sp>
      <p:sp>
        <p:nvSpPr>
          <p:cNvPr id="5009" name="TB"/>
          <p:cNvSpPr/>
          <p:nvPr/>
        </p:nvSpPr>
        <p:spPr>
          <a:xfrm>
            <a:off x="728640" y="1980000"/>
            <a:ext cx="3240000" cy="155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>
              <a:buNone/>
            </a:pPr>
            <a:r>
              <a:rPr lang="en-US" sz="1100" dirty="0">
                <a:solidFill>
                  <a:srgbClr val="1A2233"/>
                </a:solidFill>
                <a:latin typeface="Calibri" pitchFamily="34" charset="0"/>
              </a:rPr>
              <a:t>India's upi:// is the one scheme</a:t>
            </a:r>
          </a:p>
          <a:p>
            <a:pPr>
              <a:buNone/>
            </a:pPr>
            <a:r>
              <a:rPr lang="en-US" sz="1100" dirty="0">
                <a:solidFill>
                  <a:srgbClr val="1A2233"/>
                </a:solidFill>
                <a:latin typeface="Calibri" pitchFamily="34" charset="0"/>
              </a:rPr>
              <a:t>every PSP app must listen for.</a:t>
            </a:r>
          </a:p>
          <a:p>
            <a:pPr>
              <a:buNone/>
            </a:pPr>
            <a:r>
              <a:rPr lang="en-US" sz="1100" dirty="0">
                <a:solidFill>
                  <a:srgbClr val="1A2233"/>
                </a:solidFill>
                <a:latin typeface="Calibri" pitchFamily="34" charset="0"/>
              </a:rPr>
              <a:t>One namespace, many apps —</a:t>
            </a:r>
          </a:p>
          <a:p>
            <a:pPr>
              <a:buNone/>
            </a:pPr>
            <a:r>
              <a:rPr lang="en-US" sz="1100" dirty="0">
                <a:solidFill>
                  <a:srgbClr val="1A2233"/>
                </a:solidFill>
                <a:latin typeface="Calibri" pitchFamily="34" charset="0"/>
              </a:rPr>
              <a:t>resolved via Android's chooser.</a:t>
            </a:r>
          </a:p>
        </p:txBody>
      </p:sp>
      <p:sp>
        <p:nvSpPr>
          <p:cNvPr id="5010" name="Box"/>
          <p:cNvSpPr/>
          <p:nvPr/>
        </p:nvSpPr>
        <p:spPr>
          <a:xfrm>
            <a:off x="4348640" y="1550000"/>
            <a:ext cx="3600000" cy="2100000"/>
          </a:xfrm>
          <a:prstGeom prst="roundRect">
            <a:avLst>
              <a:gd name="adj" fmla="val 2500"/>
            </a:avLst>
          </a:prstGeom>
          <a:solidFill>
            <a:srgbClr val="FFF3E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5011" name="TB"/>
          <p:cNvSpPr/>
          <p:nvPr/>
        </p:nvSpPr>
        <p:spPr>
          <a:xfrm>
            <a:off x="4528640" y="1670000"/>
            <a:ext cx="3240000" cy="30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>
              <a:buNone/>
            </a:pPr>
            <a:r>
              <a:rPr lang="en-US" sz="1150" b="1" dirty="0">
                <a:solidFill>
                  <a:srgbClr val="8A5A00"/>
                </a:solidFill>
                <a:latin typeface="Calibri" pitchFamily="34" charset="0"/>
              </a:rPr>
              <a:t>2. Per-wallet + OS ladder</a:t>
            </a:r>
          </a:p>
        </p:txBody>
      </p:sp>
      <p:sp>
        <p:nvSpPr>
          <p:cNvPr id="5012" name="TB"/>
          <p:cNvSpPr/>
          <p:nvPr/>
        </p:nvSpPr>
        <p:spPr>
          <a:xfrm>
            <a:off x="4528640" y="1980000"/>
            <a:ext cx="3240000" cy="155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>
              <a:buNone/>
            </a:pPr>
            <a:r>
              <a:rPr lang="en-US" sz="1100" dirty="0">
                <a:solidFill>
                  <a:srgbClr val="1A2233"/>
                </a:solidFill>
                <a:latin typeface="Calibri" pitchFamily="34" charset="0"/>
              </a:rPr>
              <a:t>China's Alipay+/Antom returns</a:t>
            </a:r>
          </a:p>
          <a:p>
            <a:pPr>
              <a:buNone/>
            </a:pPr>
            <a:r>
              <a:rPr lang="en-US" sz="1100" dirty="0">
                <a:solidFill>
                  <a:srgbClr val="1A2233"/>
                </a:solidFill>
                <a:latin typeface="Calibri" pitchFamily="34" charset="0"/>
              </a:rPr>
              <a:t>schemeUrl/applinkUrl/normalUrl;</a:t>
            </a:r>
          </a:p>
          <a:p>
            <a:pPr>
              <a:buNone/>
            </a:pPr>
            <a:r>
              <a:rPr lang="en-US" sz="1100" dirty="0">
                <a:solidFill>
                  <a:srgbClr val="1A2233"/>
                </a:solidFill>
                <a:latin typeface="Calibri" pitchFamily="34" charset="0"/>
              </a:rPr>
              <a:t>the integrator picks by OS</a:t>
            </a:r>
          </a:p>
          <a:p>
            <a:pPr>
              <a:buNone/>
            </a:pPr>
            <a:r>
              <a:rPr lang="en-US" sz="1100" dirty="0">
                <a:solidFill>
                  <a:srgbClr val="1A2233"/>
                </a:solidFill>
                <a:latin typeface="Calibri" pitchFamily="34" charset="0"/>
              </a:rPr>
              <a:t>(schemeUrl &gt; applinkUrl on Android).</a:t>
            </a:r>
          </a:p>
        </p:txBody>
      </p:sp>
      <p:sp>
        <p:nvSpPr>
          <p:cNvPr id="5013" name="Box"/>
          <p:cNvSpPr/>
          <p:nvPr/>
        </p:nvSpPr>
        <p:spPr>
          <a:xfrm>
            <a:off x="8148640" y="1550000"/>
            <a:ext cx="3600000" cy="2100000"/>
          </a:xfrm>
          <a:prstGeom prst="roundRect">
            <a:avLst>
              <a:gd name="adj" fmla="val 2500"/>
            </a:avLst>
          </a:prstGeom>
          <a:solidFill>
            <a:srgbClr val="F5F8FA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5014" name="TB"/>
          <p:cNvSpPr/>
          <p:nvPr/>
        </p:nvSpPr>
        <p:spPr>
          <a:xfrm>
            <a:off x="8328640" y="1670000"/>
            <a:ext cx="3240000" cy="30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>
              <a:buNone/>
            </a:pPr>
            <a:r>
              <a:rPr lang="en-US" sz="1150" b="1" dirty="0">
                <a:solidFill>
                  <a:srgbClr val="1C7293"/>
                </a:solidFill>
                <a:latin typeface="Calibri" pitchFamily="34" charset="0"/>
              </a:rPr>
              <a:t>3. Hosted-redirect only</a:t>
            </a:r>
          </a:p>
        </p:txBody>
      </p:sp>
      <p:sp>
        <p:nvSpPr>
          <p:cNvPr id="5015" name="TB"/>
          <p:cNvSpPr/>
          <p:nvPr/>
        </p:nvSpPr>
        <p:spPr>
          <a:xfrm>
            <a:off x="8328640" y="1980000"/>
            <a:ext cx="3240000" cy="155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>
              <a:buNone/>
            </a:pPr>
            <a:r>
              <a:rPr lang="en-US" sz="1100" dirty="0">
                <a:solidFill>
                  <a:srgbClr val="1A2233"/>
                </a:solidFill>
                <a:latin typeface="Calibri" pitchFamily="34" charset="0"/>
              </a:rPr>
              <a:t>Malaysia (DuitNow OBW), Brazil</a:t>
            </a:r>
          </a:p>
          <a:p>
            <a:pPr>
              <a:buNone/>
            </a:pPr>
            <a:r>
              <a:rPr lang="en-US" sz="1100" dirty="0">
                <a:solidFill>
                  <a:srgbClr val="1A2233"/>
                </a:solidFill>
                <a:latin typeface="Calibri" pitchFamily="34" charset="0"/>
              </a:rPr>
              <a:t>(Pix Open Finance), and Tazapay</a:t>
            </a:r>
          </a:p>
          <a:p>
            <a:pPr>
              <a:buNone/>
            </a:pPr>
            <a:r>
              <a:rPr lang="en-US" sz="1100" dirty="0">
                <a:solidFill>
                  <a:srgbClr val="1A2233"/>
                </a:solidFill>
                <a:latin typeface="Calibri" pitchFamily="34" charset="0"/>
              </a:rPr>
              <a:t>skip app URI schemes entirely —</a:t>
            </a:r>
          </a:p>
          <a:p>
            <a:pPr>
              <a:buNone/>
            </a:pPr>
            <a:r>
              <a:rPr lang="en-US" sz="1100" dirty="0">
                <a:solidFill>
                  <a:srgbClr val="1A2233"/>
                </a:solidFill>
                <a:latin typeface="Calibri" pitchFamily="34" charset="0"/>
              </a:rPr>
              <a:t>pure HTTPS redirect flows.</a:t>
            </a:r>
          </a:p>
        </p:txBody>
      </p:sp>
      <p:sp>
        <p:nvSpPr>
          <p:cNvPr id="5016" name="Box"/>
          <p:cNvSpPr/>
          <p:nvPr/>
        </p:nvSpPr>
        <p:spPr>
          <a:xfrm>
            <a:off x="548640" y="3850000"/>
            <a:ext cx="11094720" cy="1050000"/>
          </a:xfrm>
          <a:prstGeom prst="roundRect">
            <a:avLst>
              <a:gd name="adj" fmla="val 2500"/>
            </a:avLst>
          </a:prstGeom>
          <a:solidFill>
            <a:srgbClr val="F5F8FA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5017" name="TB"/>
          <p:cNvSpPr/>
          <p:nvPr/>
        </p:nvSpPr>
        <p:spPr>
          <a:xfrm>
            <a:off x="728640" y="3970000"/>
            <a:ext cx="10734720" cy="30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>
              <a:buNone/>
            </a:pPr>
            <a:r>
              <a:rPr lang="en-US" sz="1150" b="1" dirty="0">
                <a:solidFill>
                  <a:srgbClr val="065A82"/>
                </a:solidFill>
                <a:latin typeface="Calibri" pitchFamily="34" charset="0"/>
              </a:rPr>
              <a:t>The common substrate</a:t>
            </a:r>
          </a:p>
        </p:txBody>
      </p:sp>
      <p:sp>
        <p:nvSpPr>
          <p:cNvPr id="5018" name="TB"/>
          <p:cNvSpPr/>
          <p:nvPr/>
        </p:nvSpPr>
        <p:spPr>
          <a:xfrm>
            <a:off x="728640" y="4280000"/>
            <a:ext cx="10734720" cy="50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>
              <a:buNone/>
            </a:pPr>
            <a:r>
              <a:rPr lang="en-US" sz="1100" dirty="0">
                <a:solidFill>
                  <a:srgbClr val="1A2233"/>
                </a:solidFill>
                <a:latin typeface="Calibri" pitchFamily="34" charset="0"/>
              </a:rPr>
              <a:t>4 of the 5 systems build on the same two EMVCo QR primitives underneath: Merchant-Presented Mode</a:t>
            </a:r>
          </a:p>
          <a:p>
            <a:pPr>
              <a:buNone/>
            </a:pPr>
            <a:r>
              <a:rPr lang="en-US" sz="1100" dirty="0">
                <a:solidFill>
                  <a:srgbClr val="1A2233"/>
                </a:solidFill>
                <a:latin typeface="Calibri" pitchFamily="34" charset="0"/>
              </a:rPr>
              <a:t>(plain-text TLV) and Consumer-Presented Mode (Base64 BER-TLV). The QR payload standard is shared; only</a:t>
            </a:r>
          </a:p>
          <a:p>
            <a:pPr>
              <a:buNone/>
            </a:pPr>
            <a:r>
              <a:rPr lang="en-US" sz="1100" dirty="0">
                <a:solidFill>
                  <a:srgbClr val="1A2233"/>
                </a:solidFill>
                <a:latin typeface="Calibri" pitchFamily="34" charset="0"/>
              </a:rPr>
              <a:t>the app-invocation layer on top of it differs by market.</a:t>
            </a:r>
          </a:p>
        </p:txBody>
      </p:sp>
      <p:sp>
        <p:nvSpPr>
          <p:cNvPr id="5019" name="Box"/>
          <p:cNvSpPr/>
          <p:nvPr/>
        </p:nvSpPr>
        <p:spPr>
          <a:xfrm>
            <a:off x="548640" y="5050000"/>
            <a:ext cx="11094720" cy="1250000"/>
          </a:xfrm>
          <a:prstGeom prst="roundRect">
            <a:avLst>
              <a:gd name="adj" fmla="val 2500"/>
            </a:avLst>
          </a:prstGeom>
          <a:solidFill>
            <a:srgbClr val="FFF3E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5020" name="TB"/>
          <p:cNvSpPr/>
          <p:nvPr/>
        </p:nvSpPr>
        <p:spPr>
          <a:xfrm>
            <a:off x="728640" y="5170000"/>
            <a:ext cx="10734720" cy="30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>
              <a:buNone/>
            </a:pPr>
            <a:r>
              <a:rPr lang="en-US" sz="1150" b="1" dirty="0">
                <a:solidFill>
                  <a:srgbClr val="8A5A00"/>
                </a:solidFill>
                <a:latin typeface="Calibri" pitchFamily="34" charset="0"/>
              </a:rPr>
              <a:t>Deliberately rejected: consumer-facing schemes</a:t>
            </a:r>
          </a:p>
        </p:txBody>
      </p:sp>
      <p:sp>
        <p:nvSpPr>
          <p:cNvPr id="5021" name="TB"/>
          <p:cNvSpPr/>
          <p:nvPr/>
        </p:nvSpPr>
        <p:spPr>
          <a:xfrm>
            <a:off x="728640" y="5480000"/>
            <a:ext cx="10734720" cy="70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>
              <a:buNone/>
            </a:pPr>
            <a:r>
              <a:rPr lang="en-US" sz="1100" dirty="0">
                <a:solidFill>
                  <a:srgbClr val="1A2233"/>
                </a:solidFill>
                <a:latin typeface="Calibri" pitchFamily="34" charset="0"/>
              </a:rPr>
              <a:t>Brazil and Malaysia both debated and explicitly rejected adding a pix:// / duitnow:// scheme, relying</a:t>
            </a:r>
          </a:p>
          <a:p>
            <a:pPr>
              <a:buNone/>
            </a:pPr>
            <a:r>
              <a:rPr lang="en-US" sz="1100" dirty="0">
                <a:solidFill>
                  <a:srgbClr val="1A2233"/>
                </a:solidFill>
                <a:latin typeface="Calibri" pitchFamily="34" charset="0"/>
              </a:rPr>
              <a:t>instead on standardized QR payloads plus, for online commerce, OAuth/FAPI redirect flows — the same</a:t>
            </a:r>
          </a:p>
          <a:p>
            <a:pPr>
              <a:buNone/>
            </a:pPr>
            <a:r>
              <a:rPr lang="en-US" sz="1100" dirty="0">
                <a:solidFill>
                  <a:srgbClr val="1A2233"/>
                </a:solidFill>
                <a:latin typeface="Calibri" pitchFamily="34" charset="0"/>
              </a:rPr>
              <a:t>"don't register a claimable link" instinct this project's unregistered-link conclusion reaches independently.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EMVCoSubstrat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22" name="TB"/>
          <p:cNvSpPr/>
          <p:nvPr/>
        </p:nvSpPr>
        <p:spPr>
          <a:xfrm>
            <a:off x="548640" y="330000"/>
            <a:ext cx="11094720" cy="56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>
              <a:buNone/>
            </a:pPr>
            <a:r>
              <a:rPr lang="en-US" sz="2400" b="1" dirty="0">
                <a:solidFill>
                  <a:srgbClr val="21295C"/>
                </a:solidFill>
                <a:latin typeface="Cambria" pitchFamily="34" charset="0"/>
              </a:rPr>
              <a:t>The Common Substrate: EMVCo QR</a:t>
            </a:r>
          </a:p>
        </p:txBody>
      </p:sp>
      <p:sp>
        <p:nvSpPr>
          <p:cNvPr id="5023" name="TB"/>
          <p:cNvSpPr/>
          <p:nvPr/>
        </p:nvSpPr>
        <p:spPr>
          <a:xfrm>
            <a:off x="548640" y="920000"/>
            <a:ext cx="11094720" cy="38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>
              <a:buNone/>
            </a:pPr>
            <a:r>
              <a:rPr lang="en-US" sz="1200" i="1" dirty="0">
                <a:solidFill>
                  <a:srgbClr val="5B6B79"/>
                </a:solidFill>
                <a:latin typeface="Calibri" pitchFamily="34" charset="0"/>
              </a:rPr>
              <a:t>DuitNow, Pix, and Alipay/WeChat merchant QRs all instantiate the same TLV grammar</a:t>
            </a:r>
          </a:p>
        </p:txBody>
      </p:sp>
      <p:sp>
        <p:nvSpPr>
          <p:cNvPr id="5024" name="Box"/>
          <p:cNvSpPr/>
          <p:nvPr/>
        </p:nvSpPr>
        <p:spPr>
          <a:xfrm>
            <a:off x="548640" y="1550000"/>
            <a:ext cx="5450000" cy="2450000"/>
          </a:xfrm>
          <a:prstGeom prst="roundRect">
            <a:avLst>
              <a:gd name="adj" fmla="val 3000"/>
            </a:avLst>
          </a:prstGeom>
          <a:solidFill>
            <a:srgbClr val="21295C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5025" name="TB"/>
          <p:cNvSpPr/>
          <p:nvPr/>
        </p:nvSpPr>
        <p:spPr>
          <a:xfrm>
            <a:off x="748640" y="1680000"/>
            <a:ext cx="5050000" cy="30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>
              <a:buNone/>
            </a:pPr>
            <a:r>
              <a:rPr lang="en-US" sz="1150" b="1" dirty="0">
                <a:solidFill>
                  <a:srgbClr val="5EEAD4"/>
                </a:solidFill>
                <a:latin typeface="Calibri" pitchFamily="34" charset="0"/>
              </a:rPr>
              <a:t>Merchant-Presented Mode (MPM) — plain-text TLV</a:t>
            </a:r>
          </a:p>
        </p:txBody>
      </p:sp>
      <p:sp>
        <p:nvSpPr>
          <p:cNvPr id="5026" name="TB"/>
          <p:cNvSpPr/>
          <p:nvPr/>
        </p:nvSpPr>
        <p:spPr>
          <a:xfrm>
            <a:off x="748640" y="2010000"/>
            <a:ext cx="5050000" cy="187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>
              <a:buNone/>
            </a:pPr>
            <a:r>
              <a:rPr lang="en-US" sz="950" dirty="0">
                <a:solidFill>
                  <a:srgbClr val="E8ECEF"/>
                </a:solidFill>
                <a:latin typeface="Courier New" pitchFamily="34" charset="0"/>
              </a:rPr>
              <a:t>ID (2 numeric) + Length (2 decimal) + Value</a:t>
            </a:r>
          </a:p>
          <a:p>
            <a:pPr>
              <a:buNone/>
            </a:pPr>
            <a:r>
              <a:rPr lang="en-US" sz="950" dirty="0">
                <a:solidFill>
                  <a:srgbClr val="E8ECEF"/>
                </a:solidFill>
                <a:latin typeface="Courier New" pitchFamily="34" charset="0"/>
              </a:rPr>
              <a:t/>
            </a:r>
          </a:p>
          <a:p>
            <a:pPr>
              <a:buNone/>
            </a:pPr>
            <a:r>
              <a:rPr lang="en-US" sz="950" dirty="0">
                <a:solidFill>
                  <a:srgbClr val="E8ECEF"/>
                </a:solidFill>
                <a:latin typeface="Courier New" pitchFamily="34" charset="0"/>
              </a:rPr>
              <a:t>00  Payload Format Indicator</a:t>
            </a:r>
          </a:p>
          <a:p>
            <a:pPr>
              <a:buNone/>
            </a:pPr>
            <a:r>
              <a:rPr lang="en-US" sz="950" dirty="0">
                <a:solidFill>
                  <a:srgbClr val="E8ECEF"/>
                </a:solidFill>
                <a:latin typeface="Courier New" pitchFamily="34" charset="0"/>
              </a:rPr>
              <a:t>01  Point of Initiation (11=static, 12=dynamic)</a:t>
            </a:r>
          </a:p>
          <a:p>
            <a:pPr>
              <a:buNone/>
            </a:pPr>
            <a:r>
              <a:rPr lang="en-US" sz="950" dirty="0">
                <a:solidFill>
                  <a:srgbClr val="E8ECEF"/>
                </a:solidFill>
                <a:latin typeface="Courier New" pitchFamily="34" charset="0"/>
              </a:rPr>
              <a:t>26–51  Merchant Account Info (nested, per-scheme)</a:t>
            </a:r>
          </a:p>
          <a:p>
            <a:pPr>
              <a:buNone/>
            </a:pPr>
            <a:r>
              <a:rPr lang="en-US" sz="950" dirty="0">
                <a:solidFill>
                  <a:srgbClr val="E8ECEF"/>
                </a:solidFill>
                <a:latin typeface="Courier New" pitchFamily="34" charset="0"/>
              </a:rPr>
              <a:t>52  MCC   53  Currency (ISO 4217)   54  Amount</a:t>
            </a:r>
          </a:p>
          <a:p>
            <a:pPr>
              <a:buNone/>
            </a:pPr>
            <a:r>
              <a:rPr lang="en-US" sz="950" dirty="0">
                <a:solidFill>
                  <a:srgbClr val="E8ECEF"/>
                </a:solidFill>
                <a:latin typeface="Courier New" pitchFamily="34" charset="0"/>
              </a:rPr>
              <a:t>58  Country   59/60  Name/City</a:t>
            </a:r>
          </a:p>
          <a:p>
            <a:pPr>
              <a:buNone/>
            </a:pPr>
            <a:r>
              <a:rPr lang="en-US" sz="950" dirty="0">
                <a:solidFill>
                  <a:srgbClr val="E8ECEF"/>
                </a:solidFill>
                <a:latin typeface="Courier New" pitchFamily="34" charset="0"/>
              </a:rPr>
              <a:t>62  Additional Data   63  CRC   64  Language</a:t>
            </a:r>
          </a:p>
        </p:txBody>
      </p:sp>
      <p:sp>
        <p:nvSpPr>
          <p:cNvPr id="5027" name="Box"/>
          <p:cNvSpPr/>
          <p:nvPr/>
        </p:nvSpPr>
        <p:spPr>
          <a:xfrm>
            <a:off x="6193360" y="1550000"/>
            <a:ext cx="5450000" cy="2450000"/>
          </a:xfrm>
          <a:prstGeom prst="roundRect">
            <a:avLst>
              <a:gd name="adj" fmla="val 3000"/>
            </a:avLst>
          </a:prstGeom>
          <a:solidFill>
            <a:srgbClr val="21295C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5028" name="TB"/>
          <p:cNvSpPr/>
          <p:nvPr/>
        </p:nvSpPr>
        <p:spPr>
          <a:xfrm>
            <a:off x="6393360" y="1680000"/>
            <a:ext cx="5050000" cy="30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>
              <a:buNone/>
            </a:pPr>
            <a:r>
              <a:rPr lang="en-US" sz="1150" b="1" dirty="0">
                <a:solidFill>
                  <a:srgbClr val="5EEAD4"/>
                </a:solidFill>
                <a:latin typeface="Calibri" pitchFamily="34" charset="0"/>
              </a:rPr>
              <a:t>Consumer-Presented Mode (CPM) — Base64 BER-TLV</a:t>
            </a:r>
          </a:p>
        </p:txBody>
      </p:sp>
      <p:sp>
        <p:nvSpPr>
          <p:cNvPr id="5029" name="TB"/>
          <p:cNvSpPr/>
          <p:nvPr/>
        </p:nvSpPr>
        <p:spPr>
          <a:xfrm>
            <a:off x="6393360" y="2010000"/>
            <a:ext cx="5050000" cy="187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>
              <a:buNone/>
            </a:pPr>
            <a:r>
              <a:rPr lang="en-US" sz="950" dirty="0">
                <a:solidFill>
                  <a:srgbClr val="E8ECEF"/>
                </a:solidFill>
                <a:latin typeface="Courier New" pitchFamily="34" charset="0"/>
              </a:rPr>
              <a:t>Binary BER-TLV, then Base64-encoded.</a:t>
            </a:r>
          </a:p>
          <a:p>
            <a:pPr>
              <a:buNone/>
            </a:pPr>
            <a:r>
              <a:rPr lang="en-US" sz="950" dirty="0">
                <a:solidFill>
                  <a:srgbClr val="E8ECEF"/>
                </a:solidFill>
                <a:latin typeface="Courier New" pitchFamily="34" charset="0"/>
              </a:rPr>
              <a:t>Recognizable: Base64 string starts "hQVDUFY"</a:t>
            </a:r>
          </a:p>
          <a:p>
            <a:pPr>
              <a:buNone/>
            </a:pPr>
            <a:r>
              <a:rPr lang="en-US" sz="950" dirty="0">
                <a:solidFill>
                  <a:srgbClr val="E8ECEF"/>
                </a:solidFill>
                <a:latin typeface="Courier New" pitchFamily="34" charset="0"/>
              </a:rPr>
              <a:t>(hex 85 05 43 50 56).</a:t>
            </a:r>
          </a:p>
          <a:p>
            <a:pPr>
              <a:buNone/>
            </a:pPr>
            <a:r>
              <a:rPr lang="en-US" sz="950" dirty="0">
                <a:solidFill>
                  <a:srgbClr val="E8ECEF"/>
                </a:solidFill>
                <a:latin typeface="Courier New" pitchFamily="34" charset="0"/>
              </a:rPr>
              <a:t/>
            </a:r>
          </a:p>
          <a:p>
            <a:pPr>
              <a:buNone/>
            </a:pPr>
            <a:r>
              <a:rPr lang="en-US" sz="950" dirty="0">
                <a:solidFill>
                  <a:srgbClr val="E8ECEF"/>
                </a:solidFill>
                <a:latin typeface="Courier New" pitchFamily="34" charset="0"/>
              </a:rPr>
              <a:t>85  Payload Format "CPV01"   61  App Template</a:t>
            </a:r>
          </a:p>
          <a:p>
            <a:pPr>
              <a:buNone/>
            </a:pPr>
            <a:r>
              <a:rPr lang="en-US" sz="950" dirty="0">
                <a:solidFill>
                  <a:srgbClr val="E8ECEF"/>
                </a:solidFill>
                <a:latin typeface="Courier New" pitchFamily="34" charset="0"/>
              </a:rPr>
              <a:t>4F  AID   57  Track-2-equiv   5A  PAN</a:t>
            </a:r>
          </a:p>
          <a:p>
            <a:pPr>
              <a:buNone/>
            </a:pPr>
            <a:r>
              <a:rPr lang="en-US" sz="950" dirty="0">
                <a:solidFill>
                  <a:srgbClr val="E8ECEF"/>
                </a:solidFill>
                <a:latin typeface="Courier New" pitchFamily="34" charset="0"/>
              </a:rPr>
              <a:t>9F26  Cryptogram</a:t>
            </a:r>
          </a:p>
          <a:p>
            <a:pPr>
              <a:buNone/>
            </a:pPr>
            <a:r>
              <a:rPr lang="en-US" sz="950" dirty="0">
                <a:solidFill>
                  <a:srgbClr val="E8ECEF"/>
                </a:solidFill>
                <a:latin typeface="Courier New" pitchFamily="34" charset="0"/>
              </a:rPr>
              <a:t>Always authorized online (POI → acquirer → issuer).</a:t>
            </a:r>
          </a:p>
        </p:txBody>
      </p:sp>
      <p:sp>
        <p:nvSpPr>
          <p:cNvPr id="5030" name="Box"/>
          <p:cNvSpPr/>
          <p:nvPr/>
        </p:nvSpPr>
        <p:spPr>
          <a:xfrm>
            <a:off x="548640" y="4150000"/>
            <a:ext cx="11094720" cy="900000"/>
          </a:xfrm>
          <a:prstGeom prst="roundRect">
            <a:avLst>
              <a:gd name="adj" fmla="val 2500"/>
            </a:avLst>
          </a:prstGeom>
          <a:solidFill>
            <a:srgbClr val="F5F8FA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5031" name="TB"/>
          <p:cNvSpPr/>
          <p:nvPr/>
        </p:nvSpPr>
        <p:spPr>
          <a:xfrm>
            <a:off x="728640" y="4270000"/>
            <a:ext cx="10734720" cy="30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>
              <a:buNone/>
            </a:pPr>
            <a:r>
              <a:rPr lang="en-US" sz="1150" b="1" dirty="0">
                <a:solidFill>
                  <a:srgbClr val="065A82"/>
                </a:solidFill>
                <a:latin typeface="Calibri" pitchFamily="34" charset="0"/>
              </a:rPr>
              <a:t>CRC-16 — shared across every system in this report</a:t>
            </a:r>
          </a:p>
        </p:txBody>
      </p:sp>
      <p:sp>
        <p:nvSpPr>
          <p:cNvPr id="5032" name="TB"/>
          <p:cNvSpPr/>
          <p:nvPr/>
        </p:nvSpPr>
        <p:spPr>
          <a:xfrm>
            <a:off x="728640" y="4580000"/>
            <a:ext cx="10734720" cy="35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>
              <a:buNone/>
            </a:pPr>
            <a:r>
              <a:rPr lang="en-US" sz="1100" dirty="0">
                <a:solidFill>
                  <a:srgbClr val="1A2233"/>
                </a:solidFill>
                <a:latin typeface="Calibri" pitchFamily="34" charset="0"/>
              </a:rPr>
              <a:t>ISO/IEC 13239, polynomial 0x1021, initial value 0xFFFF (CRC-16/CCITT-FALSE), computed over the whole</a:t>
            </a:r>
          </a:p>
          <a:p>
            <a:pPr>
              <a:buNone/>
            </a:pPr>
            <a:r>
              <a:rPr lang="en-US" sz="1100" dirty="0">
                <a:solidFill>
                  <a:srgbClr val="1A2233"/>
                </a:solidFill>
                <a:latin typeface="Calibri" pitchFamily="34" charset="0"/>
              </a:rPr>
              <a:t>payload including the literal "6304", encoded as 4 uppercase hex characters. Same checksum, every market.</a:t>
            </a:r>
          </a:p>
        </p:txBody>
      </p:sp>
      <p:sp>
        <p:nvSpPr>
          <p:cNvPr id="5033" name="TB"/>
          <p:cNvSpPr/>
          <p:nvPr/>
        </p:nvSpPr>
        <p:spPr>
          <a:xfrm>
            <a:off x="548640" y="6550000"/>
            <a:ext cx="11094720" cy="25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>
              <a:buNone/>
            </a:pPr>
            <a:r>
              <a:rPr lang="en-US" sz="900" i="1" dirty="0">
                <a:solidFill>
                  <a:srgbClr val="5B6B79"/>
                </a:solidFill>
                <a:latin typeface="Calibri" pitchFamily="34" charset="0"/>
              </a:rPr>
              <a:t>Source: EMVCo Merchant- and Consumer-Presented QR Specifications v1.1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DuitNowMPM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34" name="TB"/>
          <p:cNvSpPr/>
          <p:nvPr/>
        </p:nvSpPr>
        <p:spPr>
          <a:xfrm>
            <a:off x="548640" y="150000"/>
            <a:ext cx="11094720" cy="30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>
              <a:buNone/>
            </a:pPr>
            <a:r>
              <a:rPr lang="en-US" sz="1050" b="1" dirty="0">
                <a:solidFill>
                  <a:srgbClr val="C9A227"/>
                </a:solidFill>
                <a:latin typeface="Calibri" pitchFamily="34" charset="0"/>
              </a:rPr>
              <a:t>MALAYSIA — DUITNOW QR (PAYNET)</a:t>
            </a:r>
          </a:p>
        </p:txBody>
      </p:sp>
      <p:sp>
        <p:nvSpPr>
          <p:cNvPr id="5035" name="TB"/>
          <p:cNvSpPr/>
          <p:nvPr/>
        </p:nvSpPr>
        <p:spPr>
          <a:xfrm>
            <a:off x="548640" y="650000"/>
            <a:ext cx="11094720" cy="56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>
              <a:buNone/>
            </a:pPr>
            <a:r>
              <a:rPr lang="en-US" sz="2000" b="1" dirty="0">
                <a:solidFill>
                  <a:srgbClr val="21295C"/>
                </a:solidFill>
                <a:latin typeface="Cambria" pitchFamily="34" charset="0"/>
              </a:rPr>
              <a:t>Merchant-Presented Mode: Full TLV Data Object</a:t>
            </a:r>
          </a:p>
        </p:txBody>
      </p:sp>
      <p:sp>
        <p:nvSpPr>
          <p:cNvPr id="5036" name="TB"/>
          <p:cNvSpPr/>
          <p:nvPr/>
        </p:nvSpPr>
        <p:spPr>
          <a:xfrm>
            <a:off x="548640" y="1200000"/>
            <a:ext cx="11094720" cy="38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>
              <a:buNone/>
            </a:pPr>
            <a:r>
              <a:rPr lang="en-US" sz="1150" i="1" dirty="0">
                <a:solidFill>
                  <a:srgbClr val="5B6B79"/>
                </a:solidFill>
                <a:latin typeface="Calibri" pitchFamily="34" charset="0"/>
              </a:rPr>
              <a:t>Plain-text EMVCo TLV, from PayNet's developer docs (spec V1.5)</a:t>
            </a:r>
          </a:p>
        </p:txBody>
      </p:sp>
      <p:sp>
        <p:nvSpPr>
          <p:cNvPr id="5037" name="THead"/>
          <p:cNvSpPr/>
          <p:nvPr/>
        </p:nvSpPr>
        <p:spPr>
          <a:xfrm>
            <a:off x="548640" y="1700000"/>
            <a:ext cx="900000" cy="420000"/>
          </a:xfrm>
          <a:prstGeom prst="rect">
            <a:avLst/>
          </a:prstGeom>
          <a:solidFill>
            <a:srgbClr val="21295C"/>
          </a:solidFill>
          <a:ln>
            <a:noFill/>
          </a:ln>
        </p:spPr>
        <p:txBody>
          <a:bodyPr wrap="square" lIns="60000" tIns="30000" rIns="60000" bIns="3000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</a:rPr>
              <a:t>ID</a:t>
            </a:r>
          </a:p>
        </p:txBody>
      </p:sp>
      <p:sp>
        <p:nvSpPr>
          <p:cNvPr id="5038" name="THead"/>
          <p:cNvSpPr/>
          <p:nvPr/>
        </p:nvSpPr>
        <p:spPr>
          <a:xfrm>
            <a:off x="1448640" y="1700000"/>
            <a:ext cx="3400000" cy="420000"/>
          </a:xfrm>
          <a:prstGeom prst="rect">
            <a:avLst/>
          </a:prstGeom>
          <a:solidFill>
            <a:srgbClr val="21295C"/>
          </a:solidFill>
          <a:ln>
            <a:noFill/>
          </a:ln>
        </p:spPr>
        <p:txBody>
          <a:bodyPr wrap="square" lIns="60000" tIns="30000" rIns="60000" bIns="3000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</a:rPr>
              <a:t>Name</a:t>
            </a:r>
          </a:p>
        </p:txBody>
      </p:sp>
      <p:sp>
        <p:nvSpPr>
          <p:cNvPr id="5039" name="THead"/>
          <p:cNvSpPr/>
          <p:nvPr/>
        </p:nvSpPr>
        <p:spPr>
          <a:xfrm>
            <a:off x="4848640" y="1700000"/>
            <a:ext cx="1700000" cy="420000"/>
          </a:xfrm>
          <a:prstGeom prst="rect">
            <a:avLst/>
          </a:prstGeom>
          <a:solidFill>
            <a:srgbClr val="21295C"/>
          </a:solidFill>
          <a:ln>
            <a:noFill/>
          </a:ln>
        </p:spPr>
        <p:txBody>
          <a:bodyPr wrap="square" lIns="60000" tIns="30000" rIns="60000" bIns="3000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</a:rPr>
              <a:t>Fmt/Len</a:t>
            </a:r>
          </a:p>
        </p:txBody>
      </p:sp>
      <p:sp>
        <p:nvSpPr>
          <p:cNvPr id="5040" name="THead"/>
          <p:cNvSpPr/>
          <p:nvPr/>
        </p:nvSpPr>
        <p:spPr>
          <a:xfrm>
            <a:off x="6548640" y="1700000"/>
            <a:ext cx="900000" cy="420000"/>
          </a:xfrm>
          <a:prstGeom prst="rect">
            <a:avLst/>
          </a:prstGeom>
          <a:solidFill>
            <a:srgbClr val="21295C"/>
          </a:solidFill>
          <a:ln>
            <a:noFill/>
          </a:ln>
        </p:spPr>
        <p:txBody>
          <a:bodyPr wrap="square" lIns="60000" tIns="30000" rIns="60000" bIns="3000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</a:rPr>
              <a:t>Req</a:t>
            </a:r>
          </a:p>
        </p:txBody>
      </p:sp>
      <p:sp>
        <p:nvSpPr>
          <p:cNvPr id="5041" name="THead"/>
          <p:cNvSpPr/>
          <p:nvPr/>
        </p:nvSpPr>
        <p:spPr>
          <a:xfrm>
            <a:off x="7448640" y="1700000"/>
            <a:ext cx="4194720" cy="420000"/>
          </a:xfrm>
          <a:prstGeom prst="rect">
            <a:avLst/>
          </a:prstGeom>
          <a:solidFill>
            <a:srgbClr val="21295C"/>
          </a:solidFill>
          <a:ln>
            <a:noFill/>
          </a:ln>
        </p:spPr>
        <p:txBody>
          <a:bodyPr wrap="square" lIns="60000" tIns="30000" rIns="60000" bIns="3000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</a:rPr>
              <a:t>Notes</a:t>
            </a:r>
          </a:p>
        </p:txBody>
      </p:sp>
      <p:sp>
        <p:nvSpPr>
          <p:cNvPr id="5042" name="TCell"/>
          <p:cNvSpPr/>
          <p:nvPr/>
        </p:nvSpPr>
        <p:spPr>
          <a:xfrm>
            <a:off x="548640" y="2120000"/>
            <a:ext cx="900000" cy="4000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</p:spPr>
        <p:txBody>
          <a:bodyPr wrap="square" lIns="60000" tIns="25000" rIns="60000" bIns="2500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A2233"/>
                </a:solidFill>
                <a:latin typeface="Calibri" pitchFamily="34" charset="0"/>
              </a:rPr>
              <a:t>00</a:t>
            </a:r>
          </a:p>
        </p:txBody>
      </p:sp>
      <p:sp>
        <p:nvSpPr>
          <p:cNvPr id="5043" name="TCell"/>
          <p:cNvSpPr/>
          <p:nvPr/>
        </p:nvSpPr>
        <p:spPr>
          <a:xfrm>
            <a:off x="1448640" y="2120000"/>
            <a:ext cx="3400000" cy="4000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</p:spPr>
        <p:txBody>
          <a:bodyPr wrap="square" lIns="60000" tIns="25000" rIns="60000" bIns="2500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2233"/>
                </a:solidFill>
                <a:latin typeface="Calibri" pitchFamily="34" charset="0"/>
              </a:rPr>
              <a:t>Payload Format Indicator</a:t>
            </a:r>
          </a:p>
        </p:txBody>
      </p:sp>
      <p:sp>
        <p:nvSpPr>
          <p:cNvPr id="5044" name="TCell"/>
          <p:cNvSpPr/>
          <p:nvPr/>
        </p:nvSpPr>
        <p:spPr>
          <a:xfrm>
            <a:off x="4848640" y="2120000"/>
            <a:ext cx="1700000" cy="4000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</p:spPr>
        <p:txBody>
          <a:bodyPr wrap="square" lIns="60000" tIns="25000" rIns="60000" bIns="2500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2233"/>
                </a:solidFill>
                <a:latin typeface="Calibri" pitchFamily="34" charset="0"/>
              </a:rPr>
              <a:t>N/02</a:t>
            </a:r>
          </a:p>
        </p:txBody>
      </p:sp>
      <p:sp>
        <p:nvSpPr>
          <p:cNvPr id="5045" name="TCell"/>
          <p:cNvSpPr/>
          <p:nvPr/>
        </p:nvSpPr>
        <p:spPr>
          <a:xfrm>
            <a:off x="6548640" y="2120000"/>
            <a:ext cx="900000" cy="4000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</p:spPr>
        <p:txBody>
          <a:bodyPr wrap="square" lIns="60000" tIns="25000" rIns="60000" bIns="2500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2233"/>
                </a:solidFill>
                <a:latin typeface="Calibri" pitchFamily="34" charset="0"/>
              </a:rPr>
              <a:t>M</a:t>
            </a:r>
          </a:p>
        </p:txBody>
      </p:sp>
      <p:sp>
        <p:nvSpPr>
          <p:cNvPr id="5046" name="TCell"/>
          <p:cNvSpPr/>
          <p:nvPr/>
        </p:nvSpPr>
        <p:spPr>
          <a:xfrm>
            <a:off x="7448640" y="2120000"/>
            <a:ext cx="4194720" cy="4000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</p:spPr>
        <p:txBody>
          <a:bodyPr wrap="square" lIns="60000" tIns="25000" rIns="60000" bIns="2500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2233"/>
                </a:solidFill>
                <a:latin typeface="Calibri" pitchFamily="34" charset="0"/>
              </a:rPr>
              <a:t>Value “02”</a:t>
            </a:r>
          </a:p>
        </p:txBody>
      </p:sp>
      <p:sp>
        <p:nvSpPr>
          <p:cNvPr id="5047" name="TCell"/>
          <p:cNvSpPr/>
          <p:nvPr/>
        </p:nvSpPr>
        <p:spPr>
          <a:xfrm>
            <a:off x="548640" y="2520000"/>
            <a:ext cx="900000" cy="400000"/>
          </a:xfrm>
          <a:prstGeom prst="rect">
            <a:avLst/>
          </a:prstGeom>
          <a:solidFill>
            <a:srgbClr val="F5F8FA"/>
          </a:solidFill>
          <a:ln w="6350">
            <a:solidFill>
              <a:srgbClr val="D9D9D9"/>
            </a:solidFill>
          </a:ln>
        </p:spPr>
        <p:txBody>
          <a:bodyPr wrap="square" lIns="60000" tIns="25000" rIns="60000" bIns="2500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A2233"/>
                </a:solidFill>
                <a:latin typeface="Calibri" pitchFamily="34" charset="0"/>
              </a:rPr>
              <a:t>01</a:t>
            </a:r>
          </a:p>
        </p:txBody>
      </p:sp>
      <p:sp>
        <p:nvSpPr>
          <p:cNvPr id="5048" name="TCell"/>
          <p:cNvSpPr/>
          <p:nvPr/>
        </p:nvSpPr>
        <p:spPr>
          <a:xfrm>
            <a:off x="1448640" y="2520000"/>
            <a:ext cx="3400000" cy="400000"/>
          </a:xfrm>
          <a:prstGeom prst="rect">
            <a:avLst/>
          </a:prstGeom>
          <a:solidFill>
            <a:srgbClr val="F5F8FA"/>
          </a:solidFill>
          <a:ln w="6350">
            <a:solidFill>
              <a:srgbClr val="D9D9D9"/>
            </a:solidFill>
          </a:ln>
        </p:spPr>
        <p:txBody>
          <a:bodyPr wrap="square" lIns="60000" tIns="25000" rIns="60000" bIns="2500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2233"/>
                </a:solidFill>
                <a:latin typeface="Calibri" pitchFamily="34" charset="0"/>
              </a:rPr>
              <a:t>Point of Initiation Method</a:t>
            </a:r>
          </a:p>
        </p:txBody>
      </p:sp>
      <p:sp>
        <p:nvSpPr>
          <p:cNvPr id="5049" name="TCell"/>
          <p:cNvSpPr/>
          <p:nvPr/>
        </p:nvSpPr>
        <p:spPr>
          <a:xfrm>
            <a:off x="4848640" y="2520000"/>
            <a:ext cx="1700000" cy="400000"/>
          </a:xfrm>
          <a:prstGeom prst="rect">
            <a:avLst/>
          </a:prstGeom>
          <a:solidFill>
            <a:srgbClr val="F5F8FA"/>
          </a:solidFill>
          <a:ln w="6350">
            <a:solidFill>
              <a:srgbClr val="D9D9D9"/>
            </a:solidFill>
          </a:ln>
        </p:spPr>
        <p:txBody>
          <a:bodyPr wrap="square" lIns="60000" tIns="25000" rIns="60000" bIns="2500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2233"/>
                </a:solidFill>
                <a:latin typeface="Calibri" pitchFamily="34" charset="0"/>
              </a:rPr>
              <a:t>N/02</a:t>
            </a:r>
          </a:p>
        </p:txBody>
      </p:sp>
      <p:sp>
        <p:nvSpPr>
          <p:cNvPr id="5050" name="TCell"/>
          <p:cNvSpPr/>
          <p:nvPr/>
        </p:nvSpPr>
        <p:spPr>
          <a:xfrm>
            <a:off x="6548640" y="2520000"/>
            <a:ext cx="900000" cy="400000"/>
          </a:xfrm>
          <a:prstGeom prst="rect">
            <a:avLst/>
          </a:prstGeom>
          <a:solidFill>
            <a:srgbClr val="F5F8FA"/>
          </a:solidFill>
          <a:ln w="6350">
            <a:solidFill>
              <a:srgbClr val="D9D9D9"/>
            </a:solidFill>
          </a:ln>
        </p:spPr>
        <p:txBody>
          <a:bodyPr wrap="square" lIns="60000" tIns="25000" rIns="60000" bIns="2500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2233"/>
                </a:solidFill>
                <a:latin typeface="Calibri" pitchFamily="34" charset="0"/>
              </a:rPr>
              <a:t>M</a:t>
            </a:r>
          </a:p>
        </p:txBody>
      </p:sp>
      <p:sp>
        <p:nvSpPr>
          <p:cNvPr id="5051" name="TCell"/>
          <p:cNvSpPr/>
          <p:nvPr/>
        </p:nvSpPr>
        <p:spPr>
          <a:xfrm>
            <a:off x="7448640" y="2520000"/>
            <a:ext cx="4194720" cy="400000"/>
          </a:xfrm>
          <a:prstGeom prst="rect">
            <a:avLst/>
          </a:prstGeom>
          <a:solidFill>
            <a:srgbClr val="F5F8FA"/>
          </a:solidFill>
          <a:ln w="6350">
            <a:solidFill>
              <a:srgbClr val="D9D9D9"/>
            </a:solidFill>
          </a:ln>
        </p:spPr>
        <p:txBody>
          <a:bodyPr wrap="square" lIns="60000" tIns="25000" rIns="60000" bIns="2500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2233"/>
                </a:solidFill>
                <a:latin typeface="Calibri" pitchFamily="34" charset="0"/>
              </a:rPr>
              <a:t>11 static · 12 dynamic</a:t>
            </a:r>
          </a:p>
        </p:txBody>
      </p:sp>
      <p:sp>
        <p:nvSpPr>
          <p:cNvPr id="5052" name="TCell"/>
          <p:cNvSpPr/>
          <p:nvPr/>
        </p:nvSpPr>
        <p:spPr>
          <a:xfrm>
            <a:off x="548640" y="2920000"/>
            <a:ext cx="900000" cy="4000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</p:spPr>
        <p:txBody>
          <a:bodyPr wrap="square" lIns="60000" tIns="25000" rIns="60000" bIns="2500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A2233"/>
                </a:solidFill>
                <a:latin typeface="Calibri" pitchFamily="34" charset="0"/>
              </a:rPr>
              <a:t>26–27</a:t>
            </a:r>
          </a:p>
        </p:txBody>
      </p:sp>
      <p:sp>
        <p:nvSpPr>
          <p:cNvPr id="5053" name="TCell"/>
          <p:cNvSpPr/>
          <p:nvPr/>
        </p:nvSpPr>
        <p:spPr>
          <a:xfrm>
            <a:off x="1448640" y="2920000"/>
            <a:ext cx="3400000" cy="4000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</p:spPr>
        <p:txBody>
          <a:bodyPr wrap="square" lIns="60000" tIns="25000" rIns="60000" bIns="2500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2233"/>
                </a:solidFill>
                <a:latin typeface="Calibri" pitchFamily="34" charset="0"/>
              </a:rPr>
              <a:t>Merchant Account Information</a:t>
            </a:r>
          </a:p>
        </p:txBody>
      </p:sp>
      <p:sp>
        <p:nvSpPr>
          <p:cNvPr id="5054" name="TCell"/>
          <p:cNvSpPr/>
          <p:nvPr/>
        </p:nvSpPr>
        <p:spPr>
          <a:xfrm>
            <a:off x="4848640" y="2920000"/>
            <a:ext cx="1700000" cy="4000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</p:spPr>
        <p:txBody>
          <a:bodyPr wrap="square" lIns="60000" tIns="25000" rIns="60000" bIns="2500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2233"/>
                </a:solidFill>
                <a:latin typeface="Calibri" pitchFamily="34" charset="0"/>
              </a:rPr>
              <a:t>ANS/≤99</a:t>
            </a:r>
          </a:p>
        </p:txBody>
      </p:sp>
      <p:sp>
        <p:nvSpPr>
          <p:cNvPr id="5055" name="TCell"/>
          <p:cNvSpPr/>
          <p:nvPr/>
        </p:nvSpPr>
        <p:spPr>
          <a:xfrm>
            <a:off x="6548640" y="2920000"/>
            <a:ext cx="900000" cy="4000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</p:spPr>
        <p:txBody>
          <a:bodyPr wrap="square" lIns="60000" tIns="25000" rIns="60000" bIns="2500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2233"/>
                </a:solidFill>
                <a:latin typeface="Calibri" pitchFamily="34" charset="0"/>
              </a:rPr>
              <a:t>M</a:t>
            </a:r>
          </a:p>
        </p:txBody>
      </p:sp>
      <p:sp>
        <p:nvSpPr>
          <p:cNvPr id="5056" name="TCell"/>
          <p:cNvSpPr/>
          <p:nvPr/>
        </p:nvSpPr>
        <p:spPr>
          <a:xfrm>
            <a:off x="7448640" y="2920000"/>
            <a:ext cx="4194720" cy="4000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</p:spPr>
        <p:txBody>
          <a:bodyPr wrap="square" lIns="60000" tIns="25000" rIns="60000" bIns="2500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2233"/>
                </a:solidFill>
                <a:latin typeface="Calibri" pitchFamily="34" charset="0"/>
              </a:rPr>
              <a:t>26 = DuitNow · 27 = RFU</a:t>
            </a:r>
          </a:p>
        </p:txBody>
      </p:sp>
      <p:sp>
        <p:nvSpPr>
          <p:cNvPr id="5057" name="TCell"/>
          <p:cNvSpPr/>
          <p:nvPr/>
        </p:nvSpPr>
        <p:spPr>
          <a:xfrm>
            <a:off x="548640" y="3320000"/>
            <a:ext cx="900000" cy="400000"/>
          </a:xfrm>
          <a:prstGeom prst="rect">
            <a:avLst/>
          </a:prstGeom>
          <a:solidFill>
            <a:srgbClr val="F5F8FA"/>
          </a:solidFill>
          <a:ln w="6350">
            <a:solidFill>
              <a:srgbClr val="D9D9D9"/>
            </a:solidFill>
          </a:ln>
        </p:spPr>
        <p:txBody>
          <a:bodyPr wrap="square" lIns="60000" tIns="25000" rIns="60000" bIns="2500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A2233"/>
                </a:solidFill>
                <a:latin typeface="Calibri" pitchFamily="34" charset="0"/>
              </a:rPr>
              <a:t>52</a:t>
            </a:r>
          </a:p>
        </p:txBody>
      </p:sp>
      <p:sp>
        <p:nvSpPr>
          <p:cNvPr id="5058" name="TCell"/>
          <p:cNvSpPr/>
          <p:nvPr/>
        </p:nvSpPr>
        <p:spPr>
          <a:xfrm>
            <a:off x="1448640" y="3320000"/>
            <a:ext cx="3400000" cy="400000"/>
          </a:xfrm>
          <a:prstGeom prst="rect">
            <a:avLst/>
          </a:prstGeom>
          <a:solidFill>
            <a:srgbClr val="F5F8FA"/>
          </a:solidFill>
          <a:ln w="6350">
            <a:solidFill>
              <a:srgbClr val="D9D9D9"/>
            </a:solidFill>
          </a:ln>
        </p:spPr>
        <p:txBody>
          <a:bodyPr wrap="square" lIns="60000" tIns="25000" rIns="60000" bIns="2500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2233"/>
                </a:solidFill>
                <a:latin typeface="Calibri" pitchFamily="34" charset="0"/>
              </a:rPr>
              <a:t>Merchant Category Code</a:t>
            </a:r>
          </a:p>
        </p:txBody>
      </p:sp>
      <p:sp>
        <p:nvSpPr>
          <p:cNvPr id="5059" name="TCell"/>
          <p:cNvSpPr/>
          <p:nvPr/>
        </p:nvSpPr>
        <p:spPr>
          <a:xfrm>
            <a:off x="4848640" y="3320000"/>
            <a:ext cx="1700000" cy="400000"/>
          </a:xfrm>
          <a:prstGeom prst="rect">
            <a:avLst/>
          </a:prstGeom>
          <a:solidFill>
            <a:srgbClr val="F5F8FA"/>
          </a:solidFill>
          <a:ln w="6350">
            <a:solidFill>
              <a:srgbClr val="D9D9D9"/>
            </a:solidFill>
          </a:ln>
        </p:spPr>
        <p:txBody>
          <a:bodyPr wrap="square" lIns="60000" tIns="25000" rIns="60000" bIns="2500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2233"/>
                </a:solidFill>
                <a:latin typeface="Calibri" pitchFamily="34" charset="0"/>
              </a:rPr>
              <a:t>N/04</a:t>
            </a:r>
          </a:p>
        </p:txBody>
      </p:sp>
      <p:sp>
        <p:nvSpPr>
          <p:cNvPr id="5060" name="TCell"/>
          <p:cNvSpPr/>
          <p:nvPr/>
        </p:nvSpPr>
        <p:spPr>
          <a:xfrm>
            <a:off x="6548640" y="3320000"/>
            <a:ext cx="900000" cy="400000"/>
          </a:xfrm>
          <a:prstGeom prst="rect">
            <a:avLst/>
          </a:prstGeom>
          <a:solidFill>
            <a:srgbClr val="F5F8FA"/>
          </a:solidFill>
          <a:ln w="6350">
            <a:solidFill>
              <a:srgbClr val="D9D9D9"/>
            </a:solidFill>
          </a:ln>
        </p:spPr>
        <p:txBody>
          <a:bodyPr wrap="square" lIns="60000" tIns="25000" rIns="60000" bIns="2500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2233"/>
                </a:solidFill>
                <a:latin typeface="Calibri" pitchFamily="34" charset="0"/>
              </a:rPr>
              <a:t>M</a:t>
            </a:r>
          </a:p>
        </p:txBody>
      </p:sp>
      <p:sp>
        <p:nvSpPr>
          <p:cNvPr id="5061" name="TCell"/>
          <p:cNvSpPr/>
          <p:nvPr/>
        </p:nvSpPr>
        <p:spPr>
          <a:xfrm>
            <a:off x="7448640" y="3320000"/>
            <a:ext cx="4194720" cy="400000"/>
          </a:xfrm>
          <a:prstGeom prst="rect">
            <a:avLst/>
          </a:prstGeom>
          <a:solidFill>
            <a:srgbClr val="F5F8FA"/>
          </a:solidFill>
          <a:ln w="6350">
            <a:solidFill>
              <a:srgbClr val="D9D9D9"/>
            </a:solidFill>
          </a:ln>
        </p:spPr>
        <p:txBody>
          <a:bodyPr wrap="square" lIns="60000" tIns="25000" rIns="60000" bIns="2500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2233"/>
                </a:solidFill>
                <a:latin typeface="Calibri" pitchFamily="34" charset="0"/>
              </a:rPr>
              <a:t>ISO 18245; 0000 P2P, 6010 cash-out</a:t>
            </a:r>
          </a:p>
        </p:txBody>
      </p:sp>
      <p:sp>
        <p:nvSpPr>
          <p:cNvPr id="5062" name="TCell"/>
          <p:cNvSpPr/>
          <p:nvPr/>
        </p:nvSpPr>
        <p:spPr>
          <a:xfrm>
            <a:off x="548640" y="3720000"/>
            <a:ext cx="900000" cy="4000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</p:spPr>
        <p:txBody>
          <a:bodyPr wrap="square" lIns="60000" tIns="25000" rIns="60000" bIns="2500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A2233"/>
                </a:solidFill>
                <a:latin typeface="Calibri" pitchFamily="34" charset="0"/>
              </a:rPr>
              <a:t>53</a:t>
            </a:r>
          </a:p>
        </p:txBody>
      </p:sp>
      <p:sp>
        <p:nvSpPr>
          <p:cNvPr id="5063" name="TCell"/>
          <p:cNvSpPr/>
          <p:nvPr/>
        </p:nvSpPr>
        <p:spPr>
          <a:xfrm>
            <a:off x="1448640" y="3720000"/>
            <a:ext cx="3400000" cy="4000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</p:spPr>
        <p:txBody>
          <a:bodyPr wrap="square" lIns="60000" tIns="25000" rIns="60000" bIns="2500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2233"/>
                </a:solidFill>
                <a:latin typeface="Calibri" pitchFamily="34" charset="0"/>
              </a:rPr>
              <a:t>Transaction Currency Code</a:t>
            </a:r>
          </a:p>
        </p:txBody>
      </p:sp>
      <p:sp>
        <p:nvSpPr>
          <p:cNvPr id="5064" name="TCell"/>
          <p:cNvSpPr/>
          <p:nvPr/>
        </p:nvSpPr>
        <p:spPr>
          <a:xfrm>
            <a:off x="4848640" y="3720000"/>
            <a:ext cx="1700000" cy="4000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</p:spPr>
        <p:txBody>
          <a:bodyPr wrap="square" lIns="60000" tIns="25000" rIns="60000" bIns="2500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2233"/>
                </a:solidFill>
                <a:latin typeface="Calibri" pitchFamily="34" charset="0"/>
              </a:rPr>
              <a:t>N/03</a:t>
            </a:r>
          </a:p>
        </p:txBody>
      </p:sp>
      <p:sp>
        <p:nvSpPr>
          <p:cNvPr id="5065" name="TCell"/>
          <p:cNvSpPr/>
          <p:nvPr/>
        </p:nvSpPr>
        <p:spPr>
          <a:xfrm>
            <a:off x="6548640" y="3720000"/>
            <a:ext cx="900000" cy="4000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</p:spPr>
        <p:txBody>
          <a:bodyPr wrap="square" lIns="60000" tIns="25000" rIns="60000" bIns="2500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2233"/>
                </a:solidFill>
                <a:latin typeface="Calibri" pitchFamily="34" charset="0"/>
              </a:rPr>
              <a:t>M</a:t>
            </a:r>
          </a:p>
        </p:txBody>
      </p:sp>
      <p:sp>
        <p:nvSpPr>
          <p:cNvPr id="5066" name="TCell"/>
          <p:cNvSpPr/>
          <p:nvPr/>
        </p:nvSpPr>
        <p:spPr>
          <a:xfrm>
            <a:off x="7448640" y="3720000"/>
            <a:ext cx="4194720" cy="4000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</p:spPr>
        <p:txBody>
          <a:bodyPr wrap="square" lIns="60000" tIns="25000" rIns="60000" bIns="2500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2233"/>
                </a:solidFill>
                <a:latin typeface="Calibri" pitchFamily="34" charset="0"/>
              </a:rPr>
              <a:t>ISO 4217; 458 = MYR</a:t>
            </a:r>
          </a:p>
        </p:txBody>
      </p:sp>
      <p:sp>
        <p:nvSpPr>
          <p:cNvPr id="5067" name="TCell"/>
          <p:cNvSpPr/>
          <p:nvPr/>
        </p:nvSpPr>
        <p:spPr>
          <a:xfrm>
            <a:off x="548640" y="4120000"/>
            <a:ext cx="900000" cy="400000"/>
          </a:xfrm>
          <a:prstGeom prst="rect">
            <a:avLst/>
          </a:prstGeom>
          <a:solidFill>
            <a:srgbClr val="F5F8FA"/>
          </a:solidFill>
          <a:ln w="6350">
            <a:solidFill>
              <a:srgbClr val="D9D9D9"/>
            </a:solidFill>
          </a:ln>
        </p:spPr>
        <p:txBody>
          <a:bodyPr wrap="square" lIns="60000" tIns="25000" rIns="60000" bIns="2500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A2233"/>
                </a:solidFill>
                <a:latin typeface="Calibri" pitchFamily="34" charset="0"/>
              </a:rPr>
              <a:t>54</a:t>
            </a:r>
          </a:p>
        </p:txBody>
      </p:sp>
      <p:sp>
        <p:nvSpPr>
          <p:cNvPr id="5068" name="TCell"/>
          <p:cNvSpPr/>
          <p:nvPr/>
        </p:nvSpPr>
        <p:spPr>
          <a:xfrm>
            <a:off x="1448640" y="4120000"/>
            <a:ext cx="3400000" cy="400000"/>
          </a:xfrm>
          <a:prstGeom prst="rect">
            <a:avLst/>
          </a:prstGeom>
          <a:solidFill>
            <a:srgbClr val="F5F8FA"/>
          </a:solidFill>
          <a:ln w="6350">
            <a:solidFill>
              <a:srgbClr val="D9D9D9"/>
            </a:solidFill>
          </a:ln>
        </p:spPr>
        <p:txBody>
          <a:bodyPr wrap="square" lIns="60000" tIns="25000" rIns="60000" bIns="2500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2233"/>
                </a:solidFill>
                <a:latin typeface="Calibri" pitchFamily="34" charset="0"/>
              </a:rPr>
              <a:t>Transaction Amount</a:t>
            </a:r>
          </a:p>
        </p:txBody>
      </p:sp>
      <p:sp>
        <p:nvSpPr>
          <p:cNvPr id="5069" name="TCell"/>
          <p:cNvSpPr/>
          <p:nvPr/>
        </p:nvSpPr>
        <p:spPr>
          <a:xfrm>
            <a:off x="4848640" y="4120000"/>
            <a:ext cx="1700000" cy="400000"/>
          </a:xfrm>
          <a:prstGeom prst="rect">
            <a:avLst/>
          </a:prstGeom>
          <a:solidFill>
            <a:srgbClr val="F5F8FA"/>
          </a:solidFill>
          <a:ln w="6350">
            <a:solidFill>
              <a:srgbClr val="D9D9D9"/>
            </a:solidFill>
          </a:ln>
        </p:spPr>
        <p:txBody>
          <a:bodyPr wrap="square" lIns="60000" tIns="25000" rIns="60000" bIns="2500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2233"/>
                </a:solidFill>
                <a:latin typeface="Calibri" pitchFamily="34" charset="0"/>
              </a:rPr>
              <a:t>ANS/≤13</a:t>
            </a:r>
          </a:p>
        </p:txBody>
      </p:sp>
      <p:sp>
        <p:nvSpPr>
          <p:cNvPr id="5070" name="TCell"/>
          <p:cNvSpPr/>
          <p:nvPr/>
        </p:nvSpPr>
        <p:spPr>
          <a:xfrm>
            <a:off x="6548640" y="4120000"/>
            <a:ext cx="900000" cy="400000"/>
          </a:xfrm>
          <a:prstGeom prst="rect">
            <a:avLst/>
          </a:prstGeom>
          <a:solidFill>
            <a:srgbClr val="F5F8FA"/>
          </a:solidFill>
          <a:ln w="6350">
            <a:solidFill>
              <a:srgbClr val="D9D9D9"/>
            </a:solidFill>
          </a:ln>
        </p:spPr>
        <p:txBody>
          <a:bodyPr wrap="square" lIns="60000" tIns="25000" rIns="60000" bIns="2500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2233"/>
                </a:solidFill>
                <a:latin typeface="Calibri" pitchFamily="34" charset="0"/>
              </a:rPr>
              <a:t>C</a:t>
            </a:r>
          </a:p>
        </p:txBody>
      </p:sp>
      <p:sp>
        <p:nvSpPr>
          <p:cNvPr id="5071" name="TCell"/>
          <p:cNvSpPr/>
          <p:nvPr/>
        </p:nvSpPr>
        <p:spPr>
          <a:xfrm>
            <a:off x="7448640" y="4120000"/>
            <a:ext cx="4194720" cy="400000"/>
          </a:xfrm>
          <a:prstGeom prst="rect">
            <a:avLst/>
          </a:prstGeom>
          <a:solidFill>
            <a:srgbClr val="F5F8FA"/>
          </a:solidFill>
          <a:ln w="6350">
            <a:solidFill>
              <a:srgbClr val="D9D9D9"/>
            </a:solidFill>
          </a:ln>
        </p:spPr>
        <p:txBody>
          <a:bodyPr wrap="square" lIns="60000" tIns="25000" rIns="60000" bIns="2500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2233"/>
                </a:solidFill>
                <a:latin typeface="Calibri" pitchFamily="34" charset="0"/>
              </a:rPr>
              <a:t>Absent → app prompts</a:t>
            </a:r>
          </a:p>
        </p:txBody>
      </p:sp>
      <p:sp>
        <p:nvSpPr>
          <p:cNvPr id="5072" name="TCell"/>
          <p:cNvSpPr/>
          <p:nvPr/>
        </p:nvSpPr>
        <p:spPr>
          <a:xfrm>
            <a:off x="548640" y="4520000"/>
            <a:ext cx="900000" cy="4000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</p:spPr>
        <p:txBody>
          <a:bodyPr wrap="square" lIns="60000" tIns="25000" rIns="60000" bIns="2500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A2233"/>
                </a:solidFill>
                <a:latin typeface="Calibri" pitchFamily="34" charset="0"/>
              </a:rPr>
              <a:t>58</a:t>
            </a:r>
          </a:p>
        </p:txBody>
      </p:sp>
      <p:sp>
        <p:nvSpPr>
          <p:cNvPr id="5073" name="TCell"/>
          <p:cNvSpPr/>
          <p:nvPr/>
        </p:nvSpPr>
        <p:spPr>
          <a:xfrm>
            <a:off x="1448640" y="4520000"/>
            <a:ext cx="3400000" cy="4000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</p:spPr>
        <p:txBody>
          <a:bodyPr wrap="square" lIns="60000" tIns="25000" rIns="60000" bIns="2500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2233"/>
                </a:solidFill>
                <a:latin typeface="Calibri" pitchFamily="34" charset="0"/>
              </a:rPr>
              <a:t>Country Code</a:t>
            </a:r>
          </a:p>
        </p:txBody>
      </p:sp>
      <p:sp>
        <p:nvSpPr>
          <p:cNvPr id="5074" name="TCell"/>
          <p:cNvSpPr/>
          <p:nvPr/>
        </p:nvSpPr>
        <p:spPr>
          <a:xfrm>
            <a:off x="4848640" y="4520000"/>
            <a:ext cx="1700000" cy="4000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</p:spPr>
        <p:txBody>
          <a:bodyPr wrap="square" lIns="60000" tIns="25000" rIns="60000" bIns="2500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2233"/>
                </a:solidFill>
                <a:latin typeface="Calibri" pitchFamily="34" charset="0"/>
              </a:rPr>
              <a:t>ANS/02</a:t>
            </a:r>
          </a:p>
        </p:txBody>
      </p:sp>
      <p:sp>
        <p:nvSpPr>
          <p:cNvPr id="5075" name="TCell"/>
          <p:cNvSpPr/>
          <p:nvPr/>
        </p:nvSpPr>
        <p:spPr>
          <a:xfrm>
            <a:off x="6548640" y="4520000"/>
            <a:ext cx="900000" cy="4000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</p:spPr>
        <p:txBody>
          <a:bodyPr wrap="square" lIns="60000" tIns="25000" rIns="60000" bIns="2500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2233"/>
                </a:solidFill>
                <a:latin typeface="Calibri" pitchFamily="34" charset="0"/>
              </a:rPr>
              <a:t>M</a:t>
            </a:r>
          </a:p>
        </p:txBody>
      </p:sp>
      <p:sp>
        <p:nvSpPr>
          <p:cNvPr id="5076" name="TCell"/>
          <p:cNvSpPr/>
          <p:nvPr/>
        </p:nvSpPr>
        <p:spPr>
          <a:xfrm>
            <a:off x="7448640" y="4520000"/>
            <a:ext cx="4194720" cy="4000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</p:spPr>
        <p:txBody>
          <a:bodyPr wrap="square" lIns="60000" tIns="25000" rIns="60000" bIns="2500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2233"/>
                </a:solidFill>
                <a:latin typeface="Calibri" pitchFamily="34" charset="0"/>
              </a:rPr>
              <a:t>“MY”</a:t>
            </a:r>
          </a:p>
        </p:txBody>
      </p:sp>
      <p:sp>
        <p:nvSpPr>
          <p:cNvPr id="5077" name="TCell"/>
          <p:cNvSpPr/>
          <p:nvPr/>
        </p:nvSpPr>
        <p:spPr>
          <a:xfrm>
            <a:off x="548640" y="4920000"/>
            <a:ext cx="900000" cy="400000"/>
          </a:xfrm>
          <a:prstGeom prst="rect">
            <a:avLst/>
          </a:prstGeom>
          <a:solidFill>
            <a:srgbClr val="F5F8FA"/>
          </a:solidFill>
          <a:ln w="6350">
            <a:solidFill>
              <a:srgbClr val="D9D9D9"/>
            </a:solidFill>
          </a:ln>
        </p:spPr>
        <p:txBody>
          <a:bodyPr wrap="square" lIns="60000" tIns="25000" rIns="60000" bIns="2500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A2233"/>
                </a:solidFill>
                <a:latin typeface="Calibri" pitchFamily="34" charset="0"/>
              </a:rPr>
              <a:t>59/60</a:t>
            </a:r>
          </a:p>
        </p:txBody>
      </p:sp>
      <p:sp>
        <p:nvSpPr>
          <p:cNvPr id="5078" name="TCell"/>
          <p:cNvSpPr/>
          <p:nvPr/>
        </p:nvSpPr>
        <p:spPr>
          <a:xfrm>
            <a:off x="1448640" y="4920000"/>
            <a:ext cx="3400000" cy="400000"/>
          </a:xfrm>
          <a:prstGeom prst="rect">
            <a:avLst/>
          </a:prstGeom>
          <a:solidFill>
            <a:srgbClr val="F5F8FA"/>
          </a:solidFill>
          <a:ln w="6350">
            <a:solidFill>
              <a:srgbClr val="D9D9D9"/>
            </a:solidFill>
          </a:ln>
        </p:spPr>
        <p:txBody>
          <a:bodyPr wrap="square" lIns="60000" tIns="25000" rIns="60000" bIns="2500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2233"/>
                </a:solidFill>
                <a:latin typeface="Calibri" pitchFamily="34" charset="0"/>
              </a:rPr>
              <a:t>Merchant Name / City</a:t>
            </a:r>
          </a:p>
        </p:txBody>
      </p:sp>
      <p:sp>
        <p:nvSpPr>
          <p:cNvPr id="5079" name="TCell"/>
          <p:cNvSpPr/>
          <p:nvPr/>
        </p:nvSpPr>
        <p:spPr>
          <a:xfrm>
            <a:off x="4848640" y="4920000"/>
            <a:ext cx="1700000" cy="400000"/>
          </a:xfrm>
          <a:prstGeom prst="rect">
            <a:avLst/>
          </a:prstGeom>
          <a:solidFill>
            <a:srgbClr val="F5F8FA"/>
          </a:solidFill>
          <a:ln w="6350">
            <a:solidFill>
              <a:srgbClr val="D9D9D9"/>
            </a:solidFill>
          </a:ln>
        </p:spPr>
        <p:txBody>
          <a:bodyPr wrap="square" lIns="60000" tIns="25000" rIns="60000" bIns="2500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2233"/>
                </a:solidFill>
                <a:latin typeface="Calibri" pitchFamily="34" charset="0"/>
              </a:rPr>
              <a:t>ANS</a:t>
            </a:r>
          </a:p>
        </p:txBody>
      </p:sp>
      <p:sp>
        <p:nvSpPr>
          <p:cNvPr id="5080" name="TCell"/>
          <p:cNvSpPr/>
          <p:nvPr/>
        </p:nvSpPr>
        <p:spPr>
          <a:xfrm>
            <a:off x="6548640" y="4920000"/>
            <a:ext cx="900000" cy="400000"/>
          </a:xfrm>
          <a:prstGeom prst="rect">
            <a:avLst/>
          </a:prstGeom>
          <a:solidFill>
            <a:srgbClr val="F5F8FA"/>
          </a:solidFill>
          <a:ln w="6350">
            <a:solidFill>
              <a:srgbClr val="D9D9D9"/>
            </a:solidFill>
          </a:ln>
        </p:spPr>
        <p:txBody>
          <a:bodyPr wrap="square" lIns="60000" tIns="25000" rIns="60000" bIns="2500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2233"/>
                </a:solidFill>
                <a:latin typeface="Calibri" pitchFamily="34" charset="0"/>
              </a:rPr>
              <a:t>M</a:t>
            </a:r>
          </a:p>
        </p:txBody>
      </p:sp>
      <p:sp>
        <p:nvSpPr>
          <p:cNvPr id="5081" name="TCell"/>
          <p:cNvSpPr/>
          <p:nvPr/>
        </p:nvSpPr>
        <p:spPr>
          <a:xfrm>
            <a:off x="7448640" y="4920000"/>
            <a:ext cx="4194720" cy="400000"/>
          </a:xfrm>
          <a:prstGeom prst="rect">
            <a:avLst/>
          </a:prstGeom>
          <a:solidFill>
            <a:srgbClr val="F5F8FA"/>
          </a:solidFill>
          <a:ln w="6350">
            <a:solidFill>
              <a:srgbClr val="D9D9D9"/>
            </a:solidFill>
          </a:ln>
        </p:spPr>
        <p:txBody>
          <a:bodyPr wrap="square" lIns="60000" tIns="25000" rIns="60000" bIns="2500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2233"/>
                </a:solidFill>
                <a:latin typeface="Calibri" pitchFamily="34" charset="0"/>
              </a:rPr>
              <a:t>≤25 / ≤15 chars</a:t>
            </a:r>
          </a:p>
        </p:txBody>
      </p:sp>
      <p:sp>
        <p:nvSpPr>
          <p:cNvPr id="5082" name="TCell"/>
          <p:cNvSpPr/>
          <p:nvPr/>
        </p:nvSpPr>
        <p:spPr>
          <a:xfrm>
            <a:off x="548640" y="5320000"/>
            <a:ext cx="900000" cy="4000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</p:spPr>
        <p:txBody>
          <a:bodyPr wrap="square" lIns="60000" tIns="25000" rIns="60000" bIns="2500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A2233"/>
                </a:solidFill>
                <a:latin typeface="Calibri" pitchFamily="34" charset="0"/>
              </a:rPr>
              <a:t>62</a:t>
            </a:r>
          </a:p>
        </p:txBody>
      </p:sp>
      <p:sp>
        <p:nvSpPr>
          <p:cNvPr id="5083" name="TCell"/>
          <p:cNvSpPr/>
          <p:nvPr/>
        </p:nvSpPr>
        <p:spPr>
          <a:xfrm>
            <a:off x="1448640" y="5320000"/>
            <a:ext cx="3400000" cy="4000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</p:spPr>
        <p:txBody>
          <a:bodyPr wrap="square" lIns="60000" tIns="25000" rIns="60000" bIns="2500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2233"/>
                </a:solidFill>
                <a:latin typeface="Calibri" pitchFamily="34" charset="0"/>
              </a:rPr>
              <a:t>Additional Data Field Template</a:t>
            </a:r>
          </a:p>
        </p:txBody>
      </p:sp>
      <p:sp>
        <p:nvSpPr>
          <p:cNvPr id="5084" name="TCell"/>
          <p:cNvSpPr/>
          <p:nvPr/>
        </p:nvSpPr>
        <p:spPr>
          <a:xfrm>
            <a:off x="4848640" y="5320000"/>
            <a:ext cx="1700000" cy="4000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</p:spPr>
        <p:txBody>
          <a:bodyPr wrap="square" lIns="60000" tIns="25000" rIns="60000" bIns="2500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2233"/>
                </a:solidFill>
                <a:latin typeface="Calibri" pitchFamily="34" charset="0"/>
              </a:rPr>
              <a:t>S/≤99</a:t>
            </a:r>
          </a:p>
        </p:txBody>
      </p:sp>
      <p:sp>
        <p:nvSpPr>
          <p:cNvPr id="5085" name="TCell"/>
          <p:cNvSpPr/>
          <p:nvPr/>
        </p:nvSpPr>
        <p:spPr>
          <a:xfrm>
            <a:off x="6548640" y="5320000"/>
            <a:ext cx="900000" cy="4000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</p:spPr>
        <p:txBody>
          <a:bodyPr wrap="square" lIns="60000" tIns="25000" rIns="60000" bIns="2500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2233"/>
                </a:solidFill>
                <a:latin typeface="Calibri" pitchFamily="34" charset="0"/>
              </a:rPr>
              <a:t>C</a:t>
            </a:r>
          </a:p>
        </p:txBody>
      </p:sp>
      <p:sp>
        <p:nvSpPr>
          <p:cNvPr id="5086" name="TCell"/>
          <p:cNvSpPr/>
          <p:nvPr/>
        </p:nvSpPr>
        <p:spPr>
          <a:xfrm>
            <a:off x="7448640" y="5320000"/>
            <a:ext cx="4194720" cy="4000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</p:spPr>
        <p:txBody>
          <a:bodyPr wrap="square" lIns="60000" tIns="25000" rIns="60000" bIns="2500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2233"/>
                </a:solidFill>
                <a:latin typeface="Calibri" pitchFamily="34" charset="0"/>
              </a:rPr>
              <a:t>Required for JomPAY QR</a:t>
            </a:r>
          </a:p>
        </p:txBody>
      </p:sp>
      <p:sp>
        <p:nvSpPr>
          <p:cNvPr id="5087" name="TCell"/>
          <p:cNvSpPr/>
          <p:nvPr/>
        </p:nvSpPr>
        <p:spPr>
          <a:xfrm>
            <a:off x="548640" y="5720000"/>
            <a:ext cx="900000" cy="400000"/>
          </a:xfrm>
          <a:prstGeom prst="rect">
            <a:avLst/>
          </a:prstGeom>
          <a:solidFill>
            <a:srgbClr val="F5F8FA"/>
          </a:solidFill>
          <a:ln w="6350">
            <a:solidFill>
              <a:srgbClr val="D9D9D9"/>
            </a:solidFill>
          </a:ln>
        </p:spPr>
        <p:txBody>
          <a:bodyPr wrap="square" lIns="60000" tIns="25000" rIns="60000" bIns="2500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A2233"/>
                </a:solidFill>
                <a:latin typeface="Calibri" pitchFamily="34" charset="0"/>
              </a:rPr>
              <a:t>63</a:t>
            </a:r>
          </a:p>
        </p:txBody>
      </p:sp>
      <p:sp>
        <p:nvSpPr>
          <p:cNvPr id="5088" name="TCell"/>
          <p:cNvSpPr/>
          <p:nvPr/>
        </p:nvSpPr>
        <p:spPr>
          <a:xfrm>
            <a:off x="1448640" y="5720000"/>
            <a:ext cx="3400000" cy="400000"/>
          </a:xfrm>
          <a:prstGeom prst="rect">
            <a:avLst/>
          </a:prstGeom>
          <a:solidFill>
            <a:srgbClr val="F5F8FA"/>
          </a:solidFill>
          <a:ln w="6350">
            <a:solidFill>
              <a:srgbClr val="D9D9D9"/>
            </a:solidFill>
          </a:ln>
        </p:spPr>
        <p:txBody>
          <a:bodyPr wrap="square" lIns="60000" tIns="25000" rIns="60000" bIns="2500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2233"/>
                </a:solidFill>
                <a:latin typeface="Calibri" pitchFamily="34" charset="0"/>
              </a:rPr>
              <a:t>CRC</a:t>
            </a:r>
          </a:p>
        </p:txBody>
      </p:sp>
      <p:sp>
        <p:nvSpPr>
          <p:cNvPr id="5089" name="TCell"/>
          <p:cNvSpPr/>
          <p:nvPr/>
        </p:nvSpPr>
        <p:spPr>
          <a:xfrm>
            <a:off x="4848640" y="5720000"/>
            <a:ext cx="1700000" cy="400000"/>
          </a:xfrm>
          <a:prstGeom prst="rect">
            <a:avLst/>
          </a:prstGeom>
          <a:solidFill>
            <a:srgbClr val="F5F8FA"/>
          </a:solidFill>
          <a:ln w="6350">
            <a:solidFill>
              <a:srgbClr val="D9D9D9"/>
            </a:solidFill>
          </a:ln>
        </p:spPr>
        <p:txBody>
          <a:bodyPr wrap="square" lIns="60000" tIns="25000" rIns="60000" bIns="2500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2233"/>
                </a:solidFill>
                <a:latin typeface="Calibri" pitchFamily="34" charset="0"/>
              </a:rPr>
              <a:t>ANS/04</a:t>
            </a:r>
          </a:p>
        </p:txBody>
      </p:sp>
      <p:sp>
        <p:nvSpPr>
          <p:cNvPr id="5090" name="TCell"/>
          <p:cNvSpPr/>
          <p:nvPr/>
        </p:nvSpPr>
        <p:spPr>
          <a:xfrm>
            <a:off x="6548640" y="5720000"/>
            <a:ext cx="900000" cy="400000"/>
          </a:xfrm>
          <a:prstGeom prst="rect">
            <a:avLst/>
          </a:prstGeom>
          <a:solidFill>
            <a:srgbClr val="F5F8FA"/>
          </a:solidFill>
          <a:ln w="6350">
            <a:solidFill>
              <a:srgbClr val="D9D9D9"/>
            </a:solidFill>
          </a:ln>
        </p:spPr>
        <p:txBody>
          <a:bodyPr wrap="square" lIns="60000" tIns="25000" rIns="60000" bIns="2500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2233"/>
                </a:solidFill>
                <a:latin typeface="Calibri" pitchFamily="34" charset="0"/>
              </a:rPr>
              <a:t>M</a:t>
            </a:r>
          </a:p>
        </p:txBody>
      </p:sp>
      <p:sp>
        <p:nvSpPr>
          <p:cNvPr id="5091" name="TCell"/>
          <p:cNvSpPr/>
          <p:nvPr/>
        </p:nvSpPr>
        <p:spPr>
          <a:xfrm>
            <a:off x="7448640" y="5720000"/>
            <a:ext cx="4194720" cy="400000"/>
          </a:xfrm>
          <a:prstGeom prst="rect">
            <a:avLst/>
          </a:prstGeom>
          <a:solidFill>
            <a:srgbClr val="F5F8FA"/>
          </a:solidFill>
          <a:ln w="6350">
            <a:solidFill>
              <a:srgbClr val="D9D9D9"/>
            </a:solidFill>
          </a:ln>
        </p:spPr>
        <p:txBody>
          <a:bodyPr wrap="square" lIns="60000" tIns="25000" rIns="60000" bIns="2500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2233"/>
                </a:solidFill>
                <a:latin typeface="Calibri" pitchFamily="34" charset="0"/>
              </a:rPr>
              <a:t>CRC-16/CCITT</a:t>
            </a:r>
          </a:p>
        </p:txBody>
      </p:sp>
      <p:sp>
        <p:nvSpPr>
          <p:cNvPr id="5092" name="TCell"/>
          <p:cNvSpPr/>
          <p:nvPr/>
        </p:nvSpPr>
        <p:spPr>
          <a:xfrm>
            <a:off x="548640" y="6120000"/>
            <a:ext cx="900000" cy="4000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</p:spPr>
        <p:txBody>
          <a:bodyPr wrap="square" lIns="60000" tIns="25000" rIns="60000" bIns="2500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A2233"/>
                </a:solidFill>
                <a:latin typeface="Calibri" pitchFamily="34" charset="0"/>
              </a:rPr>
              <a:t>82</a:t>
            </a:r>
          </a:p>
        </p:txBody>
      </p:sp>
      <p:sp>
        <p:nvSpPr>
          <p:cNvPr id="5093" name="TCell"/>
          <p:cNvSpPr/>
          <p:nvPr/>
        </p:nvSpPr>
        <p:spPr>
          <a:xfrm>
            <a:off x="1448640" y="6120000"/>
            <a:ext cx="3400000" cy="4000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</p:spPr>
        <p:txBody>
          <a:bodyPr wrap="square" lIns="60000" tIns="25000" rIns="60000" bIns="2500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2233"/>
                </a:solidFill>
                <a:latin typeface="Calibri" pitchFamily="34" charset="0"/>
              </a:rPr>
              <a:t>Data Integrity Check</a:t>
            </a:r>
          </a:p>
        </p:txBody>
      </p:sp>
      <p:sp>
        <p:nvSpPr>
          <p:cNvPr id="5094" name="TCell"/>
          <p:cNvSpPr/>
          <p:nvPr/>
        </p:nvSpPr>
        <p:spPr>
          <a:xfrm>
            <a:off x="4848640" y="6120000"/>
            <a:ext cx="1700000" cy="4000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</p:spPr>
        <p:txBody>
          <a:bodyPr wrap="square" lIns="60000" tIns="25000" rIns="60000" bIns="2500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2233"/>
                </a:solidFill>
                <a:latin typeface="Calibri" pitchFamily="34" charset="0"/>
              </a:rPr>
              <a:t>ANS/99</a:t>
            </a:r>
          </a:p>
        </p:txBody>
      </p:sp>
      <p:sp>
        <p:nvSpPr>
          <p:cNvPr id="5095" name="TCell"/>
          <p:cNvSpPr/>
          <p:nvPr/>
        </p:nvSpPr>
        <p:spPr>
          <a:xfrm>
            <a:off x="6548640" y="6120000"/>
            <a:ext cx="900000" cy="4000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</p:spPr>
        <p:txBody>
          <a:bodyPr wrap="square" lIns="60000" tIns="25000" rIns="60000" bIns="2500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2233"/>
                </a:solidFill>
                <a:latin typeface="Calibri" pitchFamily="34" charset="0"/>
              </a:rPr>
              <a:t>O</a:t>
            </a:r>
          </a:p>
        </p:txBody>
      </p:sp>
      <p:sp>
        <p:nvSpPr>
          <p:cNvPr id="5096" name="TCell"/>
          <p:cNvSpPr/>
          <p:nvPr/>
        </p:nvSpPr>
        <p:spPr>
          <a:xfrm>
            <a:off x="7448640" y="6120000"/>
            <a:ext cx="4194720" cy="4000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</p:spPr>
        <p:txBody>
          <a:bodyPr wrap="square" lIns="60000" tIns="25000" rIns="60000" bIns="2500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2233"/>
                </a:solidFill>
                <a:latin typeface="Calibri" pitchFamily="34" charset="0"/>
              </a:rPr>
              <a:t>SHA-256 (ISO/IEC 10118-3)</a:t>
            </a:r>
          </a:p>
        </p:txBody>
      </p:sp>
      <p:sp>
        <p:nvSpPr>
          <p:cNvPr id="5097" name="TB"/>
          <p:cNvSpPr/>
          <p:nvPr/>
        </p:nvSpPr>
        <p:spPr>
          <a:xfrm>
            <a:off x="548640" y="6550000"/>
            <a:ext cx="11094720" cy="25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>
              <a:buNone/>
            </a:pPr>
            <a:r>
              <a:rPr lang="en-US" sz="900" i="1" dirty="0">
                <a:solidFill>
                  <a:srgbClr val="5B6B79"/>
                </a:solidFill>
                <a:latin typeface="Calibri" pitchFamily="34" charset="0"/>
              </a:rPr>
              <a:t>Source: PayNet developer docs (docs.developer.paynet.my)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DuitNowSubtags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98" name="TB"/>
          <p:cNvSpPr/>
          <p:nvPr/>
        </p:nvSpPr>
        <p:spPr>
          <a:xfrm>
            <a:off x="548640" y="150000"/>
            <a:ext cx="11094720" cy="30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>
              <a:buNone/>
            </a:pPr>
            <a:r>
              <a:rPr lang="en-US" sz="1050" b="1" dirty="0">
                <a:solidFill>
                  <a:srgbClr val="C9A227"/>
                </a:solidFill>
                <a:latin typeface="Calibri" pitchFamily="34" charset="0"/>
              </a:rPr>
              <a:t>MALAYSIA — DUITNOW QR (PAYNET)</a:t>
            </a:r>
          </a:p>
        </p:txBody>
      </p:sp>
      <p:sp>
        <p:nvSpPr>
          <p:cNvPr id="5099" name="TB"/>
          <p:cNvSpPr/>
          <p:nvPr/>
        </p:nvSpPr>
        <p:spPr>
          <a:xfrm>
            <a:off x="548640" y="650000"/>
            <a:ext cx="11094720" cy="56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>
              <a:buNone/>
            </a:pPr>
            <a:r>
              <a:rPr lang="en-US" sz="2000" b="1" dirty="0">
                <a:solidFill>
                  <a:srgbClr val="21295C"/>
                </a:solidFill>
                <a:latin typeface="Cambria" pitchFamily="34" charset="0"/>
              </a:rPr>
              <a:t>Sub-Tags: Merchant Account Info &amp; Additional Data</a:t>
            </a:r>
          </a:p>
        </p:txBody>
      </p:sp>
      <p:sp>
        <p:nvSpPr>
          <p:cNvPr id="5100" name="Box"/>
          <p:cNvSpPr/>
          <p:nvPr/>
        </p:nvSpPr>
        <p:spPr>
          <a:xfrm>
            <a:off x="548640" y="1450000"/>
            <a:ext cx="5450000" cy="2900000"/>
          </a:xfrm>
          <a:prstGeom prst="roundRect">
            <a:avLst>
              <a:gd name="adj" fmla="val 3000"/>
            </a:avLst>
          </a:prstGeom>
          <a:solidFill>
            <a:srgbClr val="21295C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5101" name="TB"/>
          <p:cNvSpPr/>
          <p:nvPr/>
        </p:nvSpPr>
        <p:spPr>
          <a:xfrm>
            <a:off x="748640" y="1580000"/>
            <a:ext cx="5050000" cy="30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>
              <a:buNone/>
            </a:pPr>
            <a:r>
              <a:rPr lang="en-US" sz="1150" b="1" dirty="0">
                <a:solidFill>
                  <a:srgbClr val="5EEAD4"/>
                </a:solidFill>
                <a:latin typeface="Calibri" pitchFamily="34" charset="0"/>
              </a:rPr>
              <a:t>ID 26 — Merchant Account Information</a:t>
            </a:r>
          </a:p>
        </p:txBody>
      </p:sp>
      <p:sp>
        <p:nvSpPr>
          <p:cNvPr id="5102" name="TB"/>
          <p:cNvSpPr/>
          <p:nvPr/>
        </p:nvSpPr>
        <p:spPr>
          <a:xfrm>
            <a:off x="748640" y="1910000"/>
            <a:ext cx="5050000" cy="232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>
              <a:buNone/>
            </a:pPr>
            <a:r>
              <a:rPr lang="en-US" sz="950" dirty="0">
                <a:solidFill>
                  <a:srgbClr val="E8ECEF"/>
                </a:solidFill>
                <a:latin typeface="Courier New" pitchFamily="34" charset="0"/>
              </a:rPr>
              <a:t>00  AID — fixed A0000006150001 (Malaysia)</a:t>
            </a:r>
          </a:p>
          <a:p>
            <a:pPr>
              <a:buNone/>
            </a:pPr>
            <a:r>
              <a:rPr lang="en-US" sz="950" dirty="0">
                <a:solidFill>
                  <a:srgbClr val="E8ECEF"/>
                </a:solidFill>
                <a:latin typeface="Courier New" pitchFamily="34" charset="0"/>
              </a:rPr>
              <a:t>01  Acquirer ID (&lt;=6 digits):</a:t>
            </a:r>
          </a:p>
          <a:p>
            <a:pPr>
              <a:buNone/>
            </a:pPr>
            <a:r>
              <a:rPr lang="en-US" sz="950" dirty="0">
                <a:solidFill>
                  <a:srgbClr val="E8ECEF"/>
                </a:solidFill>
                <a:latin typeface="Courier New" pitchFamily="34" charset="0"/>
              </a:rPr>
              <a:t>     Maybank 588734  CIMB 501854</a:t>
            </a:r>
          </a:p>
          <a:p>
            <a:pPr>
              <a:buNone/>
            </a:pPr>
            <a:r>
              <a:rPr lang="en-US" sz="950" dirty="0">
                <a:solidFill>
                  <a:srgbClr val="E8ECEF"/>
                </a:solidFill>
                <a:latin typeface="Courier New" pitchFamily="34" charset="0"/>
              </a:rPr>
              <a:t>     TNG Digital 890053  ShopeePay MY 890004</a:t>
            </a:r>
          </a:p>
          <a:p>
            <a:pPr>
              <a:buNone/>
            </a:pPr>
            <a:r>
              <a:rPr lang="en-US" sz="950" dirty="0">
                <a:solidFill>
                  <a:srgbClr val="E8ECEF"/>
                </a:solidFill>
                <a:latin typeface="Courier New" pitchFamily="34" charset="0"/>
              </a:rPr>
              <a:t>     GX Bank 629279  JomPAY 898989</a:t>
            </a:r>
          </a:p>
          <a:p>
            <a:pPr>
              <a:buNone/>
            </a:pPr>
            <a:r>
              <a:rPr lang="en-US" sz="950" dirty="0">
                <a:solidFill>
                  <a:srgbClr val="E8ECEF"/>
                </a:solidFill>
                <a:latin typeface="Courier New" pitchFamily="34" charset="0"/>
              </a:rPr>
              <a:t>02  QR ID (merchant/recipient ID, stable</a:t>
            </a:r>
          </a:p>
          <a:p>
            <a:pPr>
              <a:buNone/>
            </a:pPr>
            <a:r>
              <a:rPr lang="en-US" sz="950" dirty="0">
                <a:solidFill>
                  <a:srgbClr val="E8ECEF"/>
                </a:solidFill>
                <a:latin typeface="Courier New" pitchFamily="34" charset="0"/>
              </a:rPr>
              <a:t>     across dynamic QRs)</a:t>
            </a:r>
          </a:p>
          <a:p>
            <a:pPr>
              <a:buNone/>
            </a:pPr>
            <a:r>
              <a:rPr lang="en-US" sz="950" dirty="0">
                <a:solidFill>
                  <a:srgbClr val="E8ECEF"/>
                </a:solidFill>
                <a:latin typeface="Courier New" pitchFamily="34" charset="0"/>
              </a:rPr>
              <a:t>03  Merchant Descriptor</a:t>
            </a:r>
          </a:p>
          <a:p>
            <a:pPr>
              <a:buNone/>
            </a:pPr>
            <a:r>
              <a:rPr lang="en-US" sz="950" dirty="0">
                <a:solidFill>
                  <a:srgbClr val="E8ECEF"/>
                </a:solidFill>
                <a:latin typeface="Courier New" pitchFamily="34" charset="0"/>
              </a:rPr>
              <a:t>04  Merchant mobile number</a:t>
            </a:r>
          </a:p>
        </p:txBody>
      </p:sp>
      <p:sp>
        <p:nvSpPr>
          <p:cNvPr id="5103" name="Box"/>
          <p:cNvSpPr/>
          <p:nvPr/>
        </p:nvSpPr>
        <p:spPr>
          <a:xfrm>
            <a:off x="6193360" y="1450000"/>
            <a:ext cx="5450000" cy="2900000"/>
          </a:xfrm>
          <a:prstGeom prst="roundRect">
            <a:avLst>
              <a:gd name="adj" fmla="val 3000"/>
            </a:avLst>
          </a:prstGeom>
          <a:solidFill>
            <a:srgbClr val="21295C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5104" name="TB"/>
          <p:cNvSpPr/>
          <p:nvPr/>
        </p:nvSpPr>
        <p:spPr>
          <a:xfrm>
            <a:off x="6393360" y="1580000"/>
            <a:ext cx="5050000" cy="30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>
              <a:buNone/>
            </a:pPr>
            <a:r>
              <a:rPr lang="en-US" sz="1150" b="1" dirty="0">
                <a:solidFill>
                  <a:srgbClr val="5EEAD4"/>
                </a:solidFill>
                <a:latin typeface="Calibri" pitchFamily="34" charset="0"/>
              </a:rPr>
              <a:t>ID 62 — Additional Data</a:t>
            </a:r>
          </a:p>
        </p:txBody>
      </p:sp>
      <p:sp>
        <p:nvSpPr>
          <p:cNvPr id="5105" name="TB"/>
          <p:cNvSpPr/>
          <p:nvPr/>
        </p:nvSpPr>
        <p:spPr>
          <a:xfrm>
            <a:off x="6393360" y="1910000"/>
            <a:ext cx="5050000" cy="232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>
              <a:buNone/>
            </a:pPr>
            <a:r>
              <a:rPr lang="en-US" sz="950" dirty="0">
                <a:solidFill>
                  <a:srgbClr val="E8ECEF"/>
                </a:solidFill>
                <a:latin typeface="Courier New" pitchFamily="34" charset="0"/>
              </a:rPr>
              <a:t>01 Bill Number  02 Mobile  03 Store Label</a:t>
            </a:r>
          </a:p>
          <a:p>
            <a:pPr>
              <a:buNone/>
            </a:pPr>
            <a:r>
              <a:rPr lang="en-US" sz="950" dirty="0">
                <a:solidFill>
                  <a:srgbClr val="E8ECEF"/>
                </a:solidFill>
                <a:latin typeface="Courier New" pitchFamily="34" charset="0"/>
              </a:rPr>
              <a:t>04 Loyalty  05 Reference Label  06 Customer Label</a:t>
            </a:r>
          </a:p>
          <a:p>
            <a:pPr>
              <a:buNone/>
            </a:pPr>
            <a:r>
              <a:rPr lang="en-US" sz="950" dirty="0">
                <a:solidFill>
                  <a:srgbClr val="E8ECEF"/>
                </a:solidFill>
                <a:latin typeface="Courier New" pitchFamily="34" charset="0"/>
              </a:rPr>
              <a:t>07 Terminal Label  08 Purpose</a:t>
            </a:r>
          </a:p>
          <a:p>
            <a:pPr>
              <a:buNone/>
            </a:pPr>
            <a:r>
              <a:rPr lang="en-US" sz="950" dirty="0">
                <a:solidFill>
                  <a:srgbClr val="E8ECEF"/>
                </a:solidFill>
                <a:latin typeface="Courier New" pitchFamily="34" charset="0"/>
              </a:rPr>
              <a:t>09 Additional Consumer Data Request</a:t>
            </a:r>
          </a:p>
          <a:p>
            <a:pPr>
              <a:buNone/>
            </a:pPr>
            <a:r>
              <a:rPr lang="en-US" sz="950" dirty="0">
                <a:solidFill>
                  <a:srgbClr val="E8ECEF"/>
                </a:solidFill>
                <a:latin typeface="Courier New" pitchFamily="34" charset="0"/>
              </a:rPr>
              <a:t>   (e.g. 0903AME = address+mobile+email)</a:t>
            </a:r>
          </a:p>
          <a:p>
            <a:pPr>
              <a:buNone/>
            </a:pPr>
            <a:r>
              <a:rPr lang="en-US" sz="950" dirty="0">
                <a:solidFill>
                  <a:srgbClr val="E8ECEF"/>
                </a:solidFill>
                <a:latin typeface="Courier New" pitchFamily="34" charset="0"/>
              </a:rPr>
              <a:t>10 Tax ID  11 Merchant Channel (3-char)</a:t>
            </a:r>
          </a:p>
          <a:p>
            <a:pPr>
              <a:buNone/>
            </a:pPr>
            <a:r>
              <a:rPr lang="en-US" sz="950" dirty="0">
                <a:solidFill>
                  <a:srgbClr val="E8ECEF"/>
                </a:solidFill>
                <a:latin typeface="Courier New" pitchFamily="34" charset="0"/>
              </a:rPr>
              <a:t>90/91 RRN (Ref-1/Ref-2, required for JomPAY)</a:t>
            </a:r>
          </a:p>
          <a:p>
            <a:pPr>
              <a:buNone/>
            </a:pPr>
            <a:r>
              <a:rPr lang="en-US" sz="950" dirty="0">
                <a:solidFill>
                  <a:srgbClr val="E8ECEF"/>
                </a:solidFill>
                <a:latin typeface="Courier New" pitchFamily="34" charset="0"/>
              </a:rPr>
              <a:t>92 Geo. Values 01–08 may carry *** to prompt</a:t>
            </a:r>
          </a:p>
          <a:p>
            <a:pPr>
              <a:buNone/>
            </a:pPr>
            <a:r>
              <a:rPr lang="en-US" sz="950" dirty="0">
                <a:solidFill>
                  <a:srgbClr val="E8ECEF"/>
                </a:solidFill>
                <a:latin typeface="Courier New" pitchFamily="34" charset="0"/>
              </a:rPr>
              <a:t>   the consumer for input.</a:t>
            </a:r>
          </a:p>
        </p:txBody>
      </p:sp>
      <p:sp>
        <p:nvSpPr>
          <p:cNvPr id="5106" name="TB"/>
          <p:cNvSpPr/>
          <p:nvPr/>
        </p:nvSpPr>
        <p:spPr>
          <a:xfrm>
            <a:off x="548640" y="6550000"/>
            <a:ext cx="11094720" cy="25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>
              <a:buNone/>
            </a:pPr>
            <a:r>
              <a:rPr lang="en-US" sz="900" i="1" dirty="0">
                <a:solidFill>
                  <a:srgbClr val="5B6B79"/>
                </a:solidFill>
                <a:latin typeface="Calibri" pitchFamily="34" charset="0"/>
              </a:rPr>
              <a:t>Source: PayNet developer docs (docs.developer.paynet.my)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DuitNowExampl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07" name="TB"/>
          <p:cNvSpPr/>
          <p:nvPr/>
        </p:nvSpPr>
        <p:spPr>
          <a:xfrm>
            <a:off x="548640" y="150000"/>
            <a:ext cx="11094720" cy="30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>
              <a:buNone/>
            </a:pPr>
            <a:r>
              <a:rPr lang="en-US" sz="1050" b="1" dirty="0">
                <a:solidFill>
                  <a:srgbClr val="C9A227"/>
                </a:solidFill>
                <a:latin typeface="Calibri" pitchFamily="34" charset="0"/>
              </a:rPr>
              <a:t>MALAYSIA — DUITNOW QR (PAYNET)</a:t>
            </a:r>
          </a:p>
        </p:txBody>
      </p:sp>
      <p:sp>
        <p:nvSpPr>
          <p:cNvPr id="5108" name="TB"/>
          <p:cNvSpPr/>
          <p:nvPr/>
        </p:nvSpPr>
        <p:spPr>
          <a:xfrm>
            <a:off x="548640" y="650000"/>
            <a:ext cx="11094720" cy="56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>
              <a:buNone/>
            </a:pPr>
            <a:r>
              <a:rPr lang="en-US" sz="2000" b="1" dirty="0">
                <a:solidFill>
                  <a:srgbClr val="21295C"/>
                </a:solidFill>
                <a:latin typeface="Cambria" pitchFamily="34" charset="0"/>
              </a:rPr>
              <a:t>Example MPM Payload (Retail POS)</a:t>
            </a:r>
          </a:p>
        </p:txBody>
      </p:sp>
      <p:sp>
        <p:nvSpPr>
          <p:cNvPr id="5109" name="Box"/>
          <p:cNvSpPr/>
          <p:nvPr/>
        </p:nvSpPr>
        <p:spPr>
          <a:xfrm>
            <a:off x="548640" y="1450000"/>
            <a:ext cx="11094720" cy="1500000"/>
          </a:xfrm>
          <a:prstGeom prst="roundRect">
            <a:avLst>
              <a:gd name="adj" fmla="val 3000"/>
            </a:avLst>
          </a:prstGeom>
          <a:solidFill>
            <a:srgbClr val="21295C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5110" name="TB"/>
          <p:cNvSpPr/>
          <p:nvPr/>
        </p:nvSpPr>
        <p:spPr>
          <a:xfrm>
            <a:off x="748640" y="1580000"/>
            <a:ext cx="10694720" cy="30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>
              <a:buNone/>
            </a:pPr>
            <a:r>
              <a:rPr lang="en-US" sz="1150" b="1" dirty="0">
                <a:solidFill>
                  <a:srgbClr val="5EEAD4"/>
                </a:solidFill>
                <a:latin typeface="Calibri" pitchFamily="34" charset="0"/>
              </a:rPr>
              <a:t>Raw payload</a:t>
            </a:r>
          </a:p>
        </p:txBody>
      </p:sp>
      <p:sp>
        <p:nvSpPr>
          <p:cNvPr id="5111" name="TB"/>
          <p:cNvSpPr/>
          <p:nvPr/>
        </p:nvSpPr>
        <p:spPr>
          <a:xfrm>
            <a:off x="748640" y="1910000"/>
            <a:ext cx="10694720" cy="92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>
              <a:buNone/>
            </a:pPr>
            <a:r>
              <a:rPr lang="en-US" sz="1100" dirty="0">
                <a:solidFill>
                  <a:srgbClr val="E8ECEF"/>
                </a:solidFill>
                <a:latin typeface="Courier New" pitchFamily="34" charset="0"/>
              </a:rPr>
              <a:t>00020201021126410014A00000061500010106501664020912345678952049999</a:t>
            </a:r>
          </a:p>
          <a:p>
            <a:pPr>
              <a:buNone/>
            </a:pPr>
            <a:r>
              <a:rPr lang="en-US" sz="1100" dirty="0">
                <a:solidFill>
                  <a:srgbClr val="E8ECEF"/>
                </a:solidFill>
                <a:latin typeface="Courier New" pitchFamily="34" charset="0"/>
              </a:rPr>
              <a:t>5303458540510.005802MY5909QRCSDNBHD6005BANGI6304343F</a:t>
            </a:r>
          </a:p>
        </p:txBody>
      </p:sp>
      <p:sp>
        <p:nvSpPr>
          <p:cNvPr id="5112" name="Box"/>
          <p:cNvSpPr/>
          <p:nvPr/>
        </p:nvSpPr>
        <p:spPr>
          <a:xfrm>
            <a:off x="548640" y="3150000"/>
            <a:ext cx="11094720" cy="2000000"/>
          </a:xfrm>
          <a:prstGeom prst="roundRect">
            <a:avLst>
              <a:gd name="adj" fmla="val 2500"/>
            </a:avLst>
          </a:prstGeom>
          <a:solidFill>
            <a:srgbClr val="E8F5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5113" name="TB"/>
          <p:cNvSpPr/>
          <p:nvPr/>
        </p:nvSpPr>
        <p:spPr>
          <a:xfrm>
            <a:off x="728640" y="3270000"/>
            <a:ext cx="10734720" cy="30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>
              <a:buNone/>
            </a:pPr>
            <a:r>
              <a:rPr lang="en-US" sz="1150" b="1" dirty="0">
                <a:solidFill>
                  <a:srgbClr val="0B5D3B"/>
                </a:solidFill>
                <a:latin typeface="Calibri" pitchFamily="34" charset="0"/>
              </a:rPr>
              <a:t>Decoded</a:t>
            </a:r>
          </a:p>
        </p:txBody>
      </p:sp>
      <p:sp>
        <p:nvSpPr>
          <p:cNvPr id="5114" name="TB"/>
          <p:cNvSpPr/>
          <p:nvPr/>
        </p:nvSpPr>
        <p:spPr>
          <a:xfrm>
            <a:off x="728640" y="3580000"/>
            <a:ext cx="10734720" cy="145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>
              <a:buNone/>
            </a:pPr>
            <a:r>
              <a:rPr lang="en-US" sz="1300" dirty="0">
                <a:solidFill>
                  <a:srgbClr val="1A2233"/>
                </a:solidFill>
                <a:latin typeface="Calibri" pitchFamily="34" charset="0"/>
              </a:rPr>
              <a:t>Format 02, dynamic · AID A0000006150001 · Acquirer 501664 · QR ID 123456789</a:t>
            </a:r>
          </a:p>
          <a:p>
            <a:pPr>
              <a:buNone/>
            </a:pPr>
            <a:r>
              <a:rPr lang="en-US" sz="1300" dirty="0">
                <a:solidFill>
                  <a:srgbClr val="1A2233"/>
                </a:solidFill>
                <a:latin typeface="Calibri" pitchFamily="34" charset="0"/>
              </a:rPr>
              <a:t>MCC 9999 · Currency 458 (MYR) · Amount 10.00 · Country MY</a:t>
            </a:r>
          </a:p>
          <a:p>
            <a:pPr>
              <a:buNone/>
            </a:pPr>
            <a:r>
              <a:rPr lang="en-US" sz="1300" dirty="0">
                <a:solidFill>
                  <a:srgbClr val="1A2233"/>
                </a:solidFill>
                <a:latin typeface="Calibri" pitchFamily="34" charset="0"/>
              </a:rPr>
              <a:t>Merchant “QRCSDNBHD” · City “BANGI” · CRC 343F</a:t>
            </a:r>
          </a:p>
        </p:txBody>
      </p:sp>
      <p:sp>
        <p:nvSpPr>
          <p:cNvPr id="5115" name="TB"/>
          <p:cNvSpPr/>
          <p:nvPr/>
        </p:nvSpPr>
        <p:spPr>
          <a:xfrm>
            <a:off x="548640" y="6550000"/>
            <a:ext cx="11094720" cy="25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>
              <a:buNone/>
            </a:pPr>
            <a:r>
              <a:rPr lang="en-US" sz="900" i="1" dirty="0">
                <a:solidFill>
                  <a:srgbClr val="5B6B79"/>
                </a:solidFill>
                <a:latin typeface="Calibri" pitchFamily="34" charset="0"/>
              </a:rPr>
              <a:t>Source: PayNet developer docs (docs.developer.paynet.my)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DuitNowNoSchem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16" name="TB"/>
          <p:cNvSpPr/>
          <p:nvPr/>
        </p:nvSpPr>
        <p:spPr>
          <a:xfrm>
            <a:off x="548640" y="150000"/>
            <a:ext cx="11094720" cy="30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>
              <a:buNone/>
            </a:pPr>
            <a:r>
              <a:rPr lang="en-US" sz="1050" b="1" dirty="0">
                <a:solidFill>
                  <a:srgbClr val="C9A227"/>
                </a:solidFill>
                <a:latin typeface="Calibri" pitchFamily="34" charset="0"/>
              </a:rPr>
              <a:t>MALAYSIA — DUITNOW QR (PAYNET)</a:t>
            </a:r>
          </a:p>
        </p:txBody>
      </p:sp>
      <p:sp>
        <p:nvSpPr>
          <p:cNvPr id="5117" name="TB"/>
          <p:cNvSpPr/>
          <p:nvPr/>
        </p:nvSpPr>
        <p:spPr>
          <a:xfrm>
            <a:off x="548640" y="650000"/>
            <a:ext cx="11094720" cy="56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>
              <a:buNone/>
            </a:pPr>
            <a:r>
              <a:rPr lang="en-US" sz="2000" b="1" dirty="0">
                <a:solidFill>
                  <a:srgbClr val="21295C"/>
                </a:solidFill>
                <a:latin typeface="Cambria" pitchFamily="34" charset="0"/>
              </a:rPr>
              <a:t>No Unified Consumer Scheme — By Design</a:t>
            </a:r>
          </a:p>
        </p:txBody>
      </p:sp>
      <p:sp>
        <p:nvSpPr>
          <p:cNvPr id="5118" name="TB"/>
          <p:cNvSpPr/>
          <p:nvPr/>
        </p:nvSpPr>
        <p:spPr>
          <a:xfrm>
            <a:off x="548640" y="1200000"/>
            <a:ext cx="11094720" cy="38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>
              <a:buNone/>
            </a:pPr>
            <a:r>
              <a:rPr lang="en-US" sz="1150" i="1" dirty="0">
                <a:solidFill>
                  <a:srgbClr val="5B6B79"/>
                </a:solidFill>
                <a:latin typeface="Calibri" pitchFamily="34" charset="0"/>
              </a:rPr>
              <a:t>Static vs. dynamic QR, and why interoperability lives in the data standard, not a URI</a:t>
            </a:r>
          </a:p>
        </p:txBody>
      </p:sp>
      <p:sp>
        <p:nvSpPr>
          <p:cNvPr id="5119" name="Box"/>
          <p:cNvSpPr/>
          <p:nvPr/>
        </p:nvSpPr>
        <p:spPr>
          <a:xfrm>
            <a:off x="548640" y="1700000"/>
            <a:ext cx="5450000" cy="2100000"/>
          </a:xfrm>
          <a:prstGeom prst="roundRect">
            <a:avLst>
              <a:gd name="adj" fmla="val 2500"/>
            </a:avLst>
          </a:prstGeom>
          <a:solidFill>
            <a:srgbClr val="F5F8FA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5120" name="TB"/>
          <p:cNvSpPr/>
          <p:nvPr/>
        </p:nvSpPr>
        <p:spPr>
          <a:xfrm>
            <a:off x="728640" y="1820000"/>
            <a:ext cx="5090000" cy="30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>
              <a:buNone/>
            </a:pPr>
            <a:r>
              <a:rPr lang="en-US" sz="1150" b="1" dirty="0">
                <a:solidFill>
                  <a:srgbClr val="065A82"/>
                </a:solidFill>
                <a:latin typeface="Calibri" pitchFamily="34" charset="0"/>
              </a:rPr>
              <a:t>Static vs. Dynamic</a:t>
            </a:r>
          </a:p>
        </p:txBody>
      </p:sp>
      <p:sp>
        <p:nvSpPr>
          <p:cNvPr id="5121" name="TB"/>
          <p:cNvSpPr/>
          <p:nvPr/>
        </p:nvSpPr>
        <p:spPr>
          <a:xfrm>
            <a:off x="728640" y="2130000"/>
            <a:ext cx="5090000" cy="155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>
              <a:buNone/>
            </a:pPr>
            <a:r>
              <a:rPr lang="en-US" sz="1100" dirty="0">
                <a:solidFill>
                  <a:srgbClr val="1A2233"/>
                </a:solidFill>
                <a:latin typeface="Calibri" pitchFamily="34" charset="0"/>
              </a:rPr>
              <a:t>Static (POI=11): reusable, may omit</a:t>
            </a:r>
          </a:p>
          <a:p>
            <a:pPr>
              <a:buNone/>
            </a:pPr>
            <a:r>
              <a:rPr lang="en-US" sz="1100" dirty="0">
                <a:solidFill>
                  <a:srgbClr val="1A2233"/>
                </a:solidFill>
                <a:latin typeface="Calibri" pitchFamily="34" charset="0"/>
              </a:rPr>
              <a:t>amount.</a:t>
            </a:r>
          </a:p>
          <a:p>
            <a:pPr>
              <a:buNone/>
            </a:pPr>
            <a:r>
              <a:rPr lang="en-US" sz="1100" dirty="0">
                <a:solidFill>
                  <a:srgbClr val="1A2233"/>
                </a:solidFill>
                <a:latin typeface="Calibri" pitchFamily="34" charset="0"/>
              </a:rPr>
              <a:t>Dynamic (POI=12): per-transaction,</a:t>
            </a:r>
          </a:p>
          <a:p>
            <a:pPr>
              <a:buNone/>
            </a:pPr>
            <a:r>
              <a:rPr lang="en-US" sz="1100" dirty="0">
                <a:solidFill>
                  <a:srgbClr val="1A2233"/>
                </a:solidFill>
                <a:latin typeface="Calibri" pitchFamily="34" charset="0"/>
              </a:rPr>
              <a:t>unique Reference Label (62-05), often</a:t>
            </a:r>
          </a:p>
          <a:p>
            <a:pPr>
              <a:buNone/>
            </a:pPr>
            <a:r>
              <a:rPr lang="en-US" sz="1100" dirty="0">
                <a:solidFill>
                  <a:srgbClr val="1A2233"/>
                </a:solidFill>
                <a:latin typeface="Calibri" pitchFamily="34" charset="0"/>
              </a:rPr>
              <a:t>a Data Integrity Check (tag 82).</a:t>
            </a:r>
          </a:p>
          <a:p>
            <a:pPr>
              <a:buNone/>
            </a:pPr>
            <a:r>
              <a:rPr lang="en-US" sz="1100" dirty="0">
                <a:solidFill>
                  <a:srgbClr val="1A2233"/>
                </a:solidFill>
                <a:latin typeface="Calibri" pitchFamily="34" charset="0"/>
              </a:rPr>
              <a:t>Some acquirers use ~60-second</a:t>
            </a:r>
          </a:p>
          <a:p>
            <a:pPr>
              <a:buNone/>
            </a:pPr>
            <a:r>
              <a:rPr lang="en-US" sz="1100" dirty="0">
                <a:solidFill>
                  <a:srgbClr val="1A2233"/>
                </a:solidFill>
                <a:latin typeface="Calibri" pitchFamily="34" charset="0"/>
              </a:rPr>
              <a:t>short-lived temp account numbers.</a:t>
            </a:r>
          </a:p>
        </p:txBody>
      </p:sp>
      <p:sp>
        <p:nvSpPr>
          <p:cNvPr id="5122" name="Box"/>
          <p:cNvSpPr/>
          <p:nvPr/>
        </p:nvSpPr>
        <p:spPr>
          <a:xfrm>
            <a:off x="6193360" y="1700000"/>
            <a:ext cx="5450000" cy="2100000"/>
          </a:xfrm>
          <a:prstGeom prst="roundRect">
            <a:avLst>
              <a:gd name="adj" fmla="val 2500"/>
            </a:avLst>
          </a:prstGeom>
          <a:solidFill>
            <a:srgbClr val="FFF3E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5123" name="TB"/>
          <p:cNvSpPr/>
          <p:nvPr/>
        </p:nvSpPr>
        <p:spPr>
          <a:xfrm>
            <a:off x="6373360" y="1820000"/>
            <a:ext cx="5090000" cy="30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>
              <a:buNone/>
            </a:pPr>
            <a:r>
              <a:rPr lang="en-US" sz="1150" b="1" dirty="0">
                <a:solidFill>
                  <a:srgbClr val="8A5A00"/>
                </a:solidFill>
                <a:latin typeface="Calibri" pitchFamily="34" charset="0"/>
              </a:rPr>
              <a:t>No duitnow:// scheme</a:t>
            </a:r>
          </a:p>
        </p:txBody>
      </p:sp>
      <p:sp>
        <p:nvSpPr>
          <p:cNvPr id="5124" name="TB"/>
          <p:cNvSpPr/>
          <p:nvPr/>
        </p:nvSpPr>
        <p:spPr>
          <a:xfrm>
            <a:off x="6373360" y="2130000"/>
            <a:ext cx="5090000" cy="155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>
              <a:buNone/>
            </a:pPr>
            <a:r>
              <a:rPr lang="en-US" sz="1100" dirty="0">
                <a:solidFill>
                  <a:srgbClr val="1A2233"/>
                </a:solidFill>
                <a:latin typeface="Calibri" pitchFamily="34" charset="0"/>
              </a:rPr>
              <a:t>Each wallet registers its own</a:t>
            </a:r>
          </a:p>
          <a:p>
            <a:pPr>
              <a:buNone/>
            </a:pPr>
            <a:r>
              <a:rPr lang="en-US" sz="1100" dirty="0">
                <a:solidFill>
                  <a:srgbClr val="1A2233"/>
                </a:solidFill>
                <a:latin typeface="Calibri" pitchFamily="34" charset="0"/>
              </a:rPr>
              <a:t>scheme/package independently:</a:t>
            </a:r>
          </a:p>
          <a:p>
            <a:pPr>
              <a:buNone/>
            </a:pPr>
            <a:r>
              <a:rPr lang="en-US" sz="1100" dirty="0">
                <a:solidFill>
                  <a:srgbClr val="1A2233"/>
                </a:solidFill>
                <a:latin typeface="Calibri" pitchFamily="34" charset="0"/>
              </a:rPr>
              <a:t>Touch ’n Go (tngdwallet://),</a:t>
            </a:r>
          </a:p>
          <a:p>
            <a:pPr>
              <a:buNone/>
            </a:pPr>
            <a:r>
              <a:rPr lang="en-US" sz="1100" dirty="0">
                <a:solidFill>
                  <a:srgbClr val="1A2233"/>
                </a:solidFill>
                <a:latin typeface="Calibri" pitchFamily="34" charset="0"/>
              </a:rPr>
              <a:t>Maybank MAE, Grab, ShopeePay MY,</a:t>
            </a:r>
          </a:p>
          <a:p>
            <a:pPr>
              <a:buNone/>
            </a:pPr>
            <a:r>
              <a:rPr lang="en-US" sz="1100" dirty="0">
                <a:solidFill>
                  <a:srgbClr val="1A2233"/>
                </a:solidFill>
                <a:latin typeface="Calibri" pitchFamily="34" charset="0"/>
              </a:rPr>
              <a:t>Boost. Any participating app can</a:t>
            </a:r>
          </a:p>
          <a:p>
            <a:pPr>
              <a:buNone/>
            </a:pPr>
            <a:r>
              <a:rPr lang="en-US" sz="1100" dirty="0">
                <a:solidFill>
                  <a:srgbClr val="1A2233"/>
                </a:solidFill>
                <a:latin typeface="Calibri" pitchFamily="34" charset="0"/>
              </a:rPr>
              <a:t>parse the one standard EMVCo QR —</a:t>
            </a:r>
          </a:p>
          <a:p>
            <a:pPr>
              <a:buNone/>
            </a:pPr>
            <a:r>
              <a:rPr lang="en-US" sz="1100" dirty="0">
                <a:solidFill>
                  <a:srgbClr val="1A2233"/>
                </a:solidFill>
                <a:latin typeface="Calibri" pitchFamily="34" charset="0"/>
              </a:rPr>
              <a:t>canonical flow is manual in-app scan.</a:t>
            </a:r>
          </a:p>
        </p:txBody>
      </p:sp>
      <p:sp>
        <p:nvSpPr>
          <p:cNvPr id="5125" name="Box"/>
          <p:cNvSpPr/>
          <p:nvPr/>
        </p:nvSpPr>
        <p:spPr>
          <a:xfrm>
            <a:off x="548640" y="3950000"/>
            <a:ext cx="11094720" cy="900000"/>
          </a:xfrm>
          <a:prstGeom prst="roundRect">
            <a:avLst>
              <a:gd name="adj" fmla="val 2500"/>
            </a:avLst>
          </a:prstGeom>
          <a:solidFill>
            <a:srgbClr val="E8F5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5126" name="TB"/>
          <p:cNvSpPr/>
          <p:nvPr/>
        </p:nvSpPr>
        <p:spPr>
          <a:xfrm>
            <a:off x="728640" y="4070000"/>
            <a:ext cx="10734720" cy="30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>
              <a:buNone/>
            </a:pPr>
            <a:r>
              <a:rPr lang="en-US" sz="1150" b="1" dirty="0">
                <a:solidFill>
                  <a:srgbClr val="0B5D3B"/>
                </a:solidFill>
                <a:latin typeface="Calibri" pitchFamily="34" charset="0"/>
              </a:rPr>
              <a:t>Parallel to this project's conclusion</a:t>
            </a:r>
          </a:p>
        </p:txBody>
      </p:sp>
      <p:sp>
        <p:nvSpPr>
          <p:cNvPr id="5127" name="TB"/>
          <p:cNvSpPr/>
          <p:nvPr/>
        </p:nvSpPr>
        <p:spPr>
          <a:xfrm>
            <a:off x="728640" y="4380000"/>
            <a:ext cx="10734720" cy="35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>
              <a:buNone/>
            </a:pPr>
            <a:r>
              <a:rPr lang="en-US" sz="1100" dirty="0">
                <a:solidFill>
                  <a:srgbClr val="1A2233"/>
                </a:solidFill>
                <a:latin typeface="Calibri" pitchFamily="34" charset="0"/>
              </a:rPr>
              <a:t>Malaysia's answer to “many wallets, one QR” is: don't try to make the link claim an app at all. Let every</a:t>
            </a:r>
          </a:p>
          <a:p>
            <a:pPr>
              <a:buNone/>
            </a:pPr>
            <a:r>
              <a:rPr lang="en-US" sz="1100" dirty="0">
                <a:solidFill>
                  <a:srgbClr val="1A2233"/>
                </a:solidFill>
                <a:latin typeface="Calibri" pitchFamily="34" charset="0"/>
              </a:rPr>
              <a:t>wallet parse the same standardized payload manually — the same instinct behind this project's unregistered link.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DuitNowOBW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8" name="TB"/>
          <p:cNvSpPr/>
          <p:nvPr/>
        </p:nvSpPr>
        <p:spPr>
          <a:xfrm>
            <a:off x="548640" y="150000"/>
            <a:ext cx="11094720" cy="30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>
              <a:buNone/>
            </a:pPr>
            <a:r>
              <a:rPr lang="en-US" sz="1050" b="1" dirty="0">
                <a:solidFill>
                  <a:srgbClr val="C9A227"/>
                </a:solidFill>
                <a:latin typeface="Calibri" pitchFamily="34" charset="0"/>
              </a:rPr>
              <a:t>MALAYSIA — DUITNOW QR (PAYNET)</a:t>
            </a:r>
          </a:p>
        </p:txBody>
      </p:sp>
      <p:sp>
        <p:nvSpPr>
          <p:cNvPr id="5129" name="TB"/>
          <p:cNvSpPr/>
          <p:nvPr/>
        </p:nvSpPr>
        <p:spPr>
          <a:xfrm>
            <a:off x="548640" y="650000"/>
            <a:ext cx="11094720" cy="56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>
              <a:buNone/>
            </a:pPr>
            <a:r>
              <a:rPr lang="en-US" sz="2000" b="1" dirty="0">
                <a:solidFill>
                  <a:srgbClr val="21295C"/>
                </a:solidFill>
                <a:latin typeface="Cambria" pitchFamily="34" charset="0"/>
              </a:rPr>
              <a:t>DuitNow OBW: Hosted-Redirect for Online Commerce</a:t>
            </a:r>
          </a:p>
        </p:txBody>
      </p:sp>
      <p:sp>
        <p:nvSpPr>
          <p:cNvPr id="5130" name="TB"/>
          <p:cNvSpPr/>
          <p:nvPr/>
        </p:nvSpPr>
        <p:spPr>
          <a:xfrm>
            <a:off x="548640" y="1200000"/>
            <a:ext cx="11094720" cy="38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>
              <a:buNone/>
            </a:pPr>
            <a:r>
              <a:rPr lang="en-US" sz="1150" i="1" dirty="0">
                <a:solidFill>
                  <a:srgbClr val="5B6B79"/>
                </a:solidFill>
                <a:latin typeface="Calibri" pitchFamily="34" charset="0"/>
              </a:rPr>
              <a:t>DuitNow Pay (the FPX successor) — app-to-app / app-to-web / web-to-web, no OTP</a:t>
            </a:r>
          </a:p>
        </p:txBody>
      </p:sp>
      <p:sp>
        <p:nvSpPr>
          <p:cNvPr id="5131" name="Box"/>
          <p:cNvSpPr/>
          <p:nvPr/>
        </p:nvSpPr>
        <p:spPr>
          <a:xfrm>
            <a:off x="548640" y="1700000"/>
            <a:ext cx="11094720" cy="2200000"/>
          </a:xfrm>
          <a:prstGeom prst="roundRect">
            <a:avLst>
              <a:gd name="adj" fmla="val 3000"/>
            </a:avLst>
          </a:prstGeom>
          <a:solidFill>
            <a:srgbClr val="21295C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5132" name="TB"/>
          <p:cNvSpPr/>
          <p:nvPr/>
        </p:nvSpPr>
        <p:spPr>
          <a:xfrm>
            <a:off x="748640" y="1830000"/>
            <a:ext cx="10694720" cy="30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>
              <a:buNone/>
            </a:pPr>
            <a:r>
              <a:rPr lang="en-US" sz="1150" b="1" dirty="0">
                <a:solidFill>
                  <a:srgbClr val="5EEAD4"/>
                </a:solidFill>
                <a:latin typeface="Calibri" pitchFamily="34" charset="0"/>
              </a:rPr>
              <a:t>Flow</a:t>
            </a:r>
          </a:p>
        </p:txBody>
      </p:sp>
      <p:sp>
        <p:nvSpPr>
          <p:cNvPr id="5133" name="TB"/>
          <p:cNvSpPr/>
          <p:nvPr/>
        </p:nvSpPr>
        <p:spPr>
          <a:xfrm>
            <a:off x="748640" y="2160000"/>
            <a:ext cx="10694720" cy="162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</a:rPr>
              <a:t>1. Acquirer calls PayNet's Initiate One-Time Payment endpoint with:</a:t>
            </a:r>
          </a:p>
          <a:p>
            <a:pPr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</a:rPr>
              <a:t>   checkoutId, amount, merchantName, merchantReferenceId, sourceOfFunds, customer</a:t>
            </a:r>
          </a:p>
          <a:p>
            <a:pPr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</a:rPr>
              <a:t>2. PayNet returns: { data: { id, redirectUrl } }</a:t>
            </a:r>
          </a:p>
          <a:p>
            <a:pPr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</a:rPr>
              <a:t>   redirectUrl = PayNet-hosted session page</a:t>
            </a:r>
          </a:p>
          <a:p>
            <a:pPr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</a:rPr>
              <a:t>   e.g. https://duitnow-pay.uat.inet.paynet.my:8443/?sessionId=&lt;uuid&gt;</a:t>
            </a:r>
          </a:p>
          <a:p>
            <a:pPr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</a:rPr>
              <a:t>3. Webhooks map endToEndId &lt;-&gt; checkoutId (+ endToEndIdSignature)</a:t>
            </a:r>
          </a:p>
          <a:p>
            <a:pPr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</a:rPr>
              <a:t>   Plus rejection/success webhooks (code: ACTC, substates e.g. PENDAUTH)</a:t>
            </a:r>
          </a:p>
        </p:txBody>
      </p:sp>
      <p:sp>
        <p:nvSpPr>
          <p:cNvPr id="5134" name="TB"/>
          <p:cNvSpPr/>
          <p:nvPr/>
        </p:nvSpPr>
        <p:spPr>
          <a:xfrm>
            <a:off x="548640" y="6550000"/>
            <a:ext cx="11094720" cy="25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>
              <a:buNone/>
            </a:pPr>
            <a:r>
              <a:rPr lang="en-US" sz="900" i="1" dirty="0">
                <a:solidFill>
                  <a:srgbClr val="5B6B79"/>
                </a:solidFill>
                <a:latin typeface="Calibri" pitchFamily="34" charset="0"/>
              </a:rPr>
              <a:t>Source: PayNet developer docs (docs.developer.paynet.my)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AlipayCatalogu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35" name="TB"/>
          <p:cNvSpPr/>
          <p:nvPr/>
        </p:nvSpPr>
        <p:spPr>
          <a:xfrm>
            <a:off x="548640" y="150000"/>
            <a:ext cx="11094720" cy="30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>
              <a:buNone/>
            </a:pPr>
            <a:r>
              <a:rPr lang="en-US" sz="1050" b="1" dirty="0">
                <a:solidFill>
                  <a:srgbClr val="C9A227"/>
                </a:solidFill>
                <a:latin typeface="Calibri" pitchFamily="34" charset="0"/>
              </a:rPr>
              <a:t>CHINA — ALIPAY &amp; WECHAT PAY</a:t>
            </a:r>
          </a:p>
        </p:txBody>
      </p:sp>
      <p:sp>
        <p:nvSpPr>
          <p:cNvPr id="5136" name="TB"/>
          <p:cNvSpPr/>
          <p:nvPr/>
        </p:nvSpPr>
        <p:spPr>
          <a:xfrm>
            <a:off x="548640" y="650000"/>
            <a:ext cx="11094720" cy="56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>
              <a:buNone/>
            </a:pPr>
            <a:r>
              <a:rPr lang="en-US" sz="2000" b="1" dirty="0">
                <a:solidFill>
                  <a:srgbClr val="21295C"/>
                </a:solidFill>
                <a:latin typeface="Cambria" pitchFamily="34" charset="0"/>
              </a:rPr>
              <a:t>Alipay Scheme Catalogue</a:t>
            </a:r>
          </a:p>
        </p:txBody>
      </p:sp>
      <p:sp>
        <p:nvSpPr>
          <p:cNvPr id="5137" name="Box"/>
          <p:cNvSpPr/>
          <p:nvPr/>
        </p:nvSpPr>
        <p:spPr>
          <a:xfrm>
            <a:off x="548640" y="1450000"/>
            <a:ext cx="11094720" cy="1350000"/>
          </a:xfrm>
          <a:prstGeom prst="roundRect">
            <a:avLst>
              <a:gd name="adj" fmla="val 3000"/>
            </a:avLst>
          </a:prstGeom>
          <a:solidFill>
            <a:srgbClr val="21295C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5138" name="TB"/>
          <p:cNvSpPr/>
          <p:nvPr/>
        </p:nvSpPr>
        <p:spPr>
          <a:xfrm>
            <a:off x="748640" y="1580000"/>
            <a:ext cx="10694720" cy="30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>
              <a:buNone/>
            </a:pPr>
            <a:r>
              <a:rPr lang="en-US" sz="1150" b="1" dirty="0">
                <a:solidFill>
                  <a:srgbClr val="5EEAD4"/>
                </a:solidFill>
                <a:latin typeface="Calibri" pitchFamily="34" charset="0"/>
              </a:rPr>
              <a:t>Canonical mini-program launcher</a:t>
            </a:r>
          </a:p>
        </p:txBody>
      </p:sp>
      <p:sp>
        <p:nvSpPr>
          <p:cNvPr id="5139" name="TB"/>
          <p:cNvSpPr/>
          <p:nvPr/>
        </p:nvSpPr>
        <p:spPr>
          <a:xfrm>
            <a:off x="748640" y="1910000"/>
            <a:ext cx="10694720" cy="77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</a:rPr>
              <a:t>alipays://platformapi/startapp?appId=[appId]&amp;page=[path]&amp;query=[urlencoded]</a:t>
            </a:r>
          </a:p>
          <a:p>
            <a:pPr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</a:rPr>
              <a:t/>
            </a:r>
          </a:p>
          <a:p>
            <a:pPr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</a:rPr>
              <a:t>Wrapped through a browser landing page:</a:t>
            </a:r>
          </a:p>
          <a:p>
            <a:pPr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</a:rPr>
              <a:t>https://ds.alipay.com/?scheme=&lt;urlencoded alipays://...&gt;</a:t>
            </a:r>
          </a:p>
        </p:txBody>
      </p:sp>
      <p:sp>
        <p:nvSpPr>
          <p:cNvPr id="5140" name="THead"/>
          <p:cNvSpPr/>
          <p:nvPr/>
        </p:nvSpPr>
        <p:spPr>
          <a:xfrm>
            <a:off x="548640" y="3050000"/>
            <a:ext cx="1600000" cy="400000"/>
          </a:xfrm>
          <a:prstGeom prst="rect">
            <a:avLst/>
          </a:prstGeom>
          <a:solidFill>
            <a:srgbClr val="21295C"/>
          </a:solidFill>
          <a:ln>
            <a:noFill/>
          </a:ln>
        </p:spPr>
        <p:txBody>
          <a:bodyPr wrap="square" lIns="60000" tIns="30000" rIns="60000" bIns="3000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</a:rPr>
              <a:t>appId</a:t>
            </a:r>
          </a:p>
        </p:txBody>
      </p:sp>
      <p:sp>
        <p:nvSpPr>
          <p:cNvPr id="5141" name="THead"/>
          <p:cNvSpPr/>
          <p:nvPr/>
        </p:nvSpPr>
        <p:spPr>
          <a:xfrm>
            <a:off x="2148640" y="3050000"/>
            <a:ext cx="3800000" cy="400000"/>
          </a:xfrm>
          <a:prstGeom prst="rect">
            <a:avLst/>
          </a:prstGeom>
          <a:solidFill>
            <a:srgbClr val="21295C"/>
          </a:solidFill>
          <a:ln>
            <a:noFill/>
          </a:ln>
        </p:spPr>
        <p:txBody>
          <a:bodyPr wrap="square" lIns="60000" tIns="30000" rIns="60000" bIns="3000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</a:rPr>
              <a:t>Destination</a:t>
            </a:r>
          </a:p>
        </p:txBody>
      </p:sp>
      <p:sp>
        <p:nvSpPr>
          <p:cNvPr id="5142" name="THead"/>
          <p:cNvSpPr/>
          <p:nvPr/>
        </p:nvSpPr>
        <p:spPr>
          <a:xfrm>
            <a:off x="5948640" y="3050000"/>
            <a:ext cx="1600000" cy="400000"/>
          </a:xfrm>
          <a:prstGeom prst="rect">
            <a:avLst/>
          </a:prstGeom>
          <a:solidFill>
            <a:srgbClr val="21295C"/>
          </a:solidFill>
          <a:ln>
            <a:noFill/>
          </a:ln>
        </p:spPr>
        <p:txBody>
          <a:bodyPr wrap="square" lIns="60000" tIns="30000" rIns="60000" bIns="3000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</a:rPr>
              <a:t>appId</a:t>
            </a:r>
          </a:p>
        </p:txBody>
      </p:sp>
      <p:sp>
        <p:nvSpPr>
          <p:cNvPr id="5143" name="THead"/>
          <p:cNvSpPr/>
          <p:nvPr/>
        </p:nvSpPr>
        <p:spPr>
          <a:xfrm>
            <a:off x="7548640" y="3050000"/>
            <a:ext cx="4094720" cy="400000"/>
          </a:xfrm>
          <a:prstGeom prst="rect">
            <a:avLst/>
          </a:prstGeom>
          <a:solidFill>
            <a:srgbClr val="21295C"/>
          </a:solidFill>
          <a:ln>
            <a:noFill/>
          </a:ln>
        </p:spPr>
        <p:txBody>
          <a:bodyPr wrap="square" lIns="60000" tIns="30000" rIns="60000" bIns="3000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</a:rPr>
              <a:t>Destination</a:t>
            </a:r>
          </a:p>
        </p:txBody>
      </p:sp>
      <p:sp>
        <p:nvSpPr>
          <p:cNvPr id="5144" name="TCell"/>
          <p:cNvSpPr/>
          <p:nvPr/>
        </p:nvSpPr>
        <p:spPr>
          <a:xfrm>
            <a:off x="548640" y="3450000"/>
            <a:ext cx="1600000" cy="3800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</p:spPr>
        <p:txBody>
          <a:bodyPr wrap="square" lIns="60000" tIns="25000" rIns="60000" bIns="2500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233"/>
                </a:solidFill>
                <a:latin typeface="Calibri" pitchFamily="34" charset="0"/>
              </a:rPr>
              <a:t>20000067</a:t>
            </a:r>
          </a:p>
        </p:txBody>
      </p:sp>
      <p:sp>
        <p:nvSpPr>
          <p:cNvPr id="5145" name="TCell"/>
          <p:cNvSpPr/>
          <p:nvPr/>
        </p:nvSpPr>
        <p:spPr>
          <a:xfrm>
            <a:off x="2148640" y="3450000"/>
            <a:ext cx="3800000" cy="3800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</p:spPr>
        <p:txBody>
          <a:bodyPr wrap="square" lIns="60000" tIns="25000" rIns="60000" bIns="2500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2233"/>
                </a:solidFill>
                <a:latin typeface="Calibri" pitchFamily="34" charset="0"/>
              </a:rPr>
              <a:t>Built-in webview (&amp;url=)</a:t>
            </a:r>
          </a:p>
        </p:txBody>
      </p:sp>
      <p:sp>
        <p:nvSpPr>
          <p:cNvPr id="5146" name="TCell"/>
          <p:cNvSpPr/>
          <p:nvPr/>
        </p:nvSpPr>
        <p:spPr>
          <a:xfrm>
            <a:off x="5948640" y="3450000"/>
            <a:ext cx="1600000" cy="3800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</p:spPr>
        <p:txBody>
          <a:bodyPr wrap="square" lIns="60000" tIns="25000" rIns="60000" bIns="2500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2233"/>
                </a:solidFill>
                <a:latin typeface="Calibri" pitchFamily="34" charset="0"/>
              </a:rPr>
              <a:t>20000116</a:t>
            </a:r>
          </a:p>
        </p:txBody>
      </p:sp>
      <p:sp>
        <p:nvSpPr>
          <p:cNvPr id="5147" name="TCell"/>
          <p:cNvSpPr/>
          <p:nvPr/>
        </p:nvSpPr>
        <p:spPr>
          <a:xfrm>
            <a:off x="7548640" y="3450000"/>
            <a:ext cx="4094720" cy="3800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</p:spPr>
        <p:txBody>
          <a:bodyPr wrap="square" lIns="60000" tIns="25000" rIns="60000" bIns="2500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2233"/>
                </a:solidFill>
                <a:latin typeface="Calibri" pitchFamily="34" charset="0"/>
              </a:rPr>
              <a:t>Transfer</a:t>
            </a:r>
          </a:p>
        </p:txBody>
      </p:sp>
      <p:sp>
        <p:nvSpPr>
          <p:cNvPr id="5148" name="TCell"/>
          <p:cNvSpPr/>
          <p:nvPr/>
        </p:nvSpPr>
        <p:spPr>
          <a:xfrm>
            <a:off x="548640" y="3830000"/>
            <a:ext cx="1600000" cy="380000"/>
          </a:xfrm>
          <a:prstGeom prst="rect">
            <a:avLst/>
          </a:prstGeom>
          <a:solidFill>
            <a:srgbClr val="F5F8FA"/>
          </a:solidFill>
          <a:ln w="6350">
            <a:solidFill>
              <a:srgbClr val="D9D9D9"/>
            </a:solidFill>
          </a:ln>
        </p:spPr>
        <p:txBody>
          <a:bodyPr wrap="square" lIns="60000" tIns="25000" rIns="60000" bIns="2500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233"/>
                </a:solidFill>
                <a:latin typeface="Calibri" pitchFamily="34" charset="0"/>
              </a:rPr>
              <a:t>20000123</a:t>
            </a:r>
          </a:p>
        </p:txBody>
      </p:sp>
      <p:sp>
        <p:nvSpPr>
          <p:cNvPr id="5149" name="TCell"/>
          <p:cNvSpPr/>
          <p:nvPr/>
        </p:nvSpPr>
        <p:spPr>
          <a:xfrm>
            <a:off x="2148640" y="3830000"/>
            <a:ext cx="3800000" cy="380000"/>
          </a:xfrm>
          <a:prstGeom prst="rect">
            <a:avLst/>
          </a:prstGeom>
          <a:solidFill>
            <a:srgbClr val="F5F8FA"/>
          </a:solidFill>
          <a:ln w="6350">
            <a:solidFill>
              <a:srgbClr val="D9D9D9"/>
            </a:solidFill>
          </a:ln>
        </p:spPr>
        <p:txBody>
          <a:bodyPr wrap="square" lIns="60000" tIns="25000" rIns="60000" bIns="2500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2233"/>
                </a:solidFill>
                <a:latin typeface="Calibri" pitchFamily="34" charset="0"/>
              </a:rPr>
              <a:t>Collect / receive money</a:t>
            </a:r>
          </a:p>
        </p:txBody>
      </p:sp>
      <p:sp>
        <p:nvSpPr>
          <p:cNvPr id="5150" name="TCell"/>
          <p:cNvSpPr/>
          <p:nvPr/>
        </p:nvSpPr>
        <p:spPr>
          <a:xfrm>
            <a:off x="5948640" y="3830000"/>
            <a:ext cx="1600000" cy="380000"/>
          </a:xfrm>
          <a:prstGeom prst="rect">
            <a:avLst/>
          </a:prstGeom>
          <a:solidFill>
            <a:srgbClr val="F5F8FA"/>
          </a:solidFill>
          <a:ln w="6350">
            <a:solidFill>
              <a:srgbClr val="D9D9D9"/>
            </a:solidFill>
          </a:ln>
        </p:spPr>
        <p:txBody>
          <a:bodyPr wrap="square" lIns="60000" tIns="25000" rIns="60000" bIns="2500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2233"/>
                </a:solidFill>
                <a:latin typeface="Calibri" pitchFamily="34" charset="0"/>
              </a:rPr>
              <a:t>20000032</a:t>
            </a:r>
          </a:p>
        </p:txBody>
      </p:sp>
      <p:sp>
        <p:nvSpPr>
          <p:cNvPr id="5151" name="TCell"/>
          <p:cNvSpPr/>
          <p:nvPr/>
        </p:nvSpPr>
        <p:spPr>
          <a:xfrm>
            <a:off x="7548640" y="3830000"/>
            <a:ext cx="4094720" cy="380000"/>
          </a:xfrm>
          <a:prstGeom prst="rect">
            <a:avLst/>
          </a:prstGeom>
          <a:solidFill>
            <a:srgbClr val="F5F8FA"/>
          </a:solidFill>
          <a:ln w="6350">
            <a:solidFill>
              <a:srgbClr val="D9D9D9"/>
            </a:solidFill>
          </a:ln>
        </p:spPr>
        <p:txBody>
          <a:bodyPr wrap="square" lIns="60000" tIns="25000" rIns="60000" bIns="2500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2233"/>
                </a:solidFill>
                <a:latin typeface="Calibri" pitchFamily="34" charset="0"/>
              </a:rPr>
              <a:t>Yu'e Bao</a:t>
            </a:r>
          </a:p>
        </p:txBody>
      </p:sp>
      <p:sp>
        <p:nvSpPr>
          <p:cNvPr id="5152" name="TCell"/>
          <p:cNvSpPr/>
          <p:nvPr/>
        </p:nvSpPr>
        <p:spPr>
          <a:xfrm>
            <a:off x="548640" y="4210000"/>
            <a:ext cx="1600000" cy="3800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</p:spPr>
        <p:txBody>
          <a:bodyPr wrap="square" lIns="60000" tIns="25000" rIns="60000" bIns="2500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233"/>
                </a:solidFill>
                <a:latin typeface="Calibri" pitchFamily="34" charset="0"/>
              </a:rPr>
              <a:t>20000193</a:t>
            </a:r>
          </a:p>
        </p:txBody>
      </p:sp>
      <p:sp>
        <p:nvSpPr>
          <p:cNvPr id="5153" name="TCell"/>
          <p:cNvSpPr/>
          <p:nvPr/>
        </p:nvSpPr>
        <p:spPr>
          <a:xfrm>
            <a:off x="2148640" y="4210000"/>
            <a:ext cx="3800000" cy="3800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</p:spPr>
        <p:txBody>
          <a:bodyPr wrap="square" lIns="60000" tIns="25000" rIns="60000" bIns="2500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2233"/>
                </a:solidFill>
                <a:latin typeface="Calibri" pitchFamily="34" charset="0"/>
              </a:rPr>
              <a:t>Utilities</a:t>
            </a:r>
          </a:p>
        </p:txBody>
      </p:sp>
      <p:sp>
        <p:nvSpPr>
          <p:cNvPr id="5154" name="TCell"/>
          <p:cNvSpPr/>
          <p:nvPr/>
        </p:nvSpPr>
        <p:spPr>
          <a:xfrm>
            <a:off x="5948640" y="4210000"/>
            <a:ext cx="1600000" cy="3800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</p:spPr>
        <p:txBody>
          <a:bodyPr wrap="square" lIns="60000" tIns="25000" rIns="60000" bIns="2500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2233"/>
                </a:solidFill>
                <a:latin typeface="Calibri" pitchFamily="34" charset="0"/>
              </a:rPr>
              <a:t>20000125</a:t>
            </a:r>
          </a:p>
        </p:txBody>
      </p:sp>
      <p:sp>
        <p:nvSpPr>
          <p:cNvPr id="5155" name="TCell"/>
          <p:cNvSpPr/>
          <p:nvPr/>
        </p:nvSpPr>
        <p:spPr>
          <a:xfrm>
            <a:off x="7548640" y="4210000"/>
            <a:ext cx="4094720" cy="3800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</p:spPr>
        <p:txBody>
          <a:bodyPr wrap="square" lIns="60000" tIns="25000" rIns="60000" bIns="2500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2233"/>
                </a:solidFill>
                <a:latin typeface="Calibri" pitchFamily="34" charset="0"/>
              </a:rPr>
              <a:t>Home</a:t>
            </a:r>
          </a:p>
        </p:txBody>
      </p:sp>
      <p:sp>
        <p:nvSpPr>
          <p:cNvPr id="5156" name="TCell"/>
          <p:cNvSpPr/>
          <p:nvPr/>
        </p:nvSpPr>
        <p:spPr>
          <a:xfrm>
            <a:off x="548640" y="4590000"/>
            <a:ext cx="1600000" cy="380000"/>
          </a:xfrm>
          <a:prstGeom prst="rect">
            <a:avLst/>
          </a:prstGeom>
          <a:solidFill>
            <a:srgbClr val="F5F8FA"/>
          </a:solidFill>
          <a:ln w="6350">
            <a:solidFill>
              <a:srgbClr val="D9D9D9"/>
            </a:solidFill>
          </a:ln>
        </p:spPr>
        <p:txBody>
          <a:bodyPr wrap="square" lIns="60000" tIns="25000" rIns="60000" bIns="2500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233"/>
                </a:solidFill>
                <a:latin typeface="Calibri" pitchFamily="34" charset="0"/>
              </a:rPr>
              <a:t>10000007</a:t>
            </a:r>
          </a:p>
        </p:txBody>
      </p:sp>
      <p:sp>
        <p:nvSpPr>
          <p:cNvPr id="5157" name="TCell"/>
          <p:cNvSpPr/>
          <p:nvPr/>
        </p:nvSpPr>
        <p:spPr>
          <a:xfrm>
            <a:off x="2148640" y="4590000"/>
            <a:ext cx="3800000" cy="380000"/>
          </a:xfrm>
          <a:prstGeom prst="rect">
            <a:avLst/>
          </a:prstGeom>
          <a:solidFill>
            <a:srgbClr val="F5F8FA"/>
          </a:solidFill>
          <a:ln w="6350">
            <a:solidFill>
              <a:srgbClr val="D9D9D9"/>
            </a:solidFill>
          </a:ln>
        </p:spPr>
        <p:txBody>
          <a:bodyPr wrap="square" lIns="60000" tIns="25000" rIns="60000" bIns="2500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2233"/>
                </a:solidFill>
                <a:latin typeface="Calibri" pitchFamily="34" charset="0"/>
              </a:rPr>
              <a:t>Scan</a:t>
            </a:r>
          </a:p>
        </p:txBody>
      </p:sp>
      <p:sp>
        <p:nvSpPr>
          <p:cNvPr id="5158" name="TCell"/>
          <p:cNvSpPr/>
          <p:nvPr/>
        </p:nvSpPr>
        <p:spPr>
          <a:xfrm>
            <a:off x="5948640" y="4590000"/>
            <a:ext cx="1600000" cy="380000"/>
          </a:xfrm>
          <a:prstGeom prst="rect">
            <a:avLst/>
          </a:prstGeom>
          <a:solidFill>
            <a:srgbClr val="F5F8FA"/>
          </a:solidFill>
          <a:ln w="6350">
            <a:solidFill>
              <a:srgbClr val="D9D9D9"/>
            </a:solidFill>
          </a:ln>
        </p:spPr>
        <p:txBody>
          <a:bodyPr wrap="square" lIns="60000" tIns="25000" rIns="60000" bIns="2500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2233"/>
                </a:solidFill>
                <a:latin typeface="Calibri" pitchFamily="34" charset="0"/>
              </a:rPr>
              <a:t>20000056</a:t>
            </a:r>
          </a:p>
        </p:txBody>
      </p:sp>
      <p:sp>
        <p:nvSpPr>
          <p:cNvPr id="5159" name="TCell"/>
          <p:cNvSpPr/>
          <p:nvPr/>
        </p:nvSpPr>
        <p:spPr>
          <a:xfrm>
            <a:off x="7548640" y="4590000"/>
            <a:ext cx="4094720" cy="380000"/>
          </a:xfrm>
          <a:prstGeom prst="rect">
            <a:avLst/>
          </a:prstGeom>
          <a:solidFill>
            <a:srgbClr val="F5F8FA"/>
          </a:solidFill>
          <a:ln w="6350">
            <a:solidFill>
              <a:srgbClr val="D9D9D9"/>
            </a:solidFill>
          </a:ln>
        </p:spPr>
        <p:txBody>
          <a:bodyPr wrap="square" lIns="60000" tIns="25000" rIns="60000" bIns="2500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2233"/>
                </a:solidFill>
                <a:latin typeface="Calibri" pitchFamily="34" charset="0"/>
              </a:rPr>
              <a:t>Pay code</a:t>
            </a:r>
          </a:p>
        </p:txBody>
      </p:sp>
      <p:sp>
        <p:nvSpPr>
          <p:cNvPr id="5160" name="TCell"/>
          <p:cNvSpPr/>
          <p:nvPr/>
        </p:nvSpPr>
        <p:spPr>
          <a:xfrm>
            <a:off x="548640" y="4970000"/>
            <a:ext cx="1600000" cy="3800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</p:spPr>
        <p:txBody>
          <a:bodyPr wrap="square" lIns="60000" tIns="25000" rIns="60000" bIns="2500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233"/>
                </a:solidFill>
                <a:latin typeface="Calibri" pitchFamily="34" charset="0"/>
              </a:rPr>
              <a:t>88886666</a:t>
            </a:r>
          </a:p>
        </p:txBody>
      </p:sp>
      <p:sp>
        <p:nvSpPr>
          <p:cNvPr id="5161" name="TCell"/>
          <p:cNvSpPr/>
          <p:nvPr/>
        </p:nvSpPr>
        <p:spPr>
          <a:xfrm>
            <a:off x="2148640" y="4970000"/>
            <a:ext cx="3800000" cy="3800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</p:spPr>
        <p:txBody>
          <a:bodyPr wrap="square" lIns="60000" tIns="25000" rIns="60000" bIns="2500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2233"/>
                </a:solidFill>
                <a:latin typeface="Calibri" pitchFamily="34" charset="0"/>
              </a:rPr>
              <a:t>Red packet</a:t>
            </a:r>
          </a:p>
        </p:txBody>
      </p:sp>
      <p:sp>
        <p:nvSpPr>
          <p:cNvPr id="5162" name="TCell"/>
          <p:cNvSpPr/>
          <p:nvPr/>
        </p:nvSpPr>
        <p:spPr>
          <a:xfrm>
            <a:off x="5948640" y="4970000"/>
            <a:ext cx="1600000" cy="3800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</p:spPr>
        <p:txBody>
          <a:bodyPr wrap="square" lIns="60000" tIns="25000" rIns="60000" bIns="2500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2233"/>
                </a:solidFill>
                <a:latin typeface="Calibri" pitchFamily="34" charset="0"/>
              </a:rPr>
              <a:t>20000691</a:t>
            </a:r>
          </a:p>
        </p:txBody>
      </p:sp>
      <p:sp>
        <p:nvSpPr>
          <p:cNvPr id="5163" name="TCell"/>
          <p:cNvSpPr/>
          <p:nvPr/>
        </p:nvSpPr>
        <p:spPr>
          <a:xfrm>
            <a:off x="7548640" y="4970000"/>
            <a:ext cx="4094720" cy="3800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</p:spPr>
        <p:txBody>
          <a:bodyPr wrap="square" lIns="60000" tIns="25000" rIns="60000" bIns="2500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2233"/>
                </a:solidFill>
                <a:latin typeface="Calibri" pitchFamily="34" charset="0"/>
              </a:rPr>
              <a:t>Card / voucher</a:t>
            </a:r>
          </a:p>
        </p:txBody>
      </p:sp>
      <p:sp>
        <p:nvSpPr>
          <p:cNvPr id="5164" name="Box"/>
          <p:cNvSpPr/>
          <p:nvPr/>
        </p:nvSpPr>
        <p:spPr>
          <a:xfrm>
            <a:off x="548640" y="5500000"/>
            <a:ext cx="11094720" cy="750000"/>
          </a:xfrm>
          <a:prstGeom prst="roundRect">
            <a:avLst>
              <a:gd name="adj" fmla="val 2500"/>
            </a:avLst>
          </a:prstGeom>
          <a:solidFill>
            <a:srgbClr val="F5F8FA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5165" name="TB"/>
          <p:cNvSpPr/>
          <p:nvPr/>
        </p:nvSpPr>
        <p:spPr>
          <a:xfrm>
            <a:off x="728640" y="5620000"/>
            <a:ext cx="10734720" cy="30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>
              <a:buNone/>
            </a:pPr>
            <a:r>
              <a:rPr lang="en-US" sz="1150" b="1" dirty="0">
                <a:solidFill>
                  <a:srgbClr val="065A82"/>
                </a:solidFill>
                <a:latin typeface="Calibri" pitchFamily="34" charset="0"/>
              </a:rPr>
              <a:t>Alternative form</a:t>
            </a:r>
          </a:p>
        </p:txBody>
      </p:sp>
      <p:sp>
        <p:nvSpPr>
          <p:cNvPr id="5166" name="TB"/>
          <p:cNvSpPr/>
          <p:nvPr/>
        </p:nvSpPr>
        <p:spPr>
          <a:xfrm>
            <a:off x="728640" y="5930000"/>
            <a:ext cx="10734720" cy="20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>
              <a:buNone/>
            </a:pPr>
            <a:r>
              <a:rPr lang="en-US" sz="1050" dirty="0">
                <a:solidFill>
                  <a:srgbClr val="1A2233"/>
                </a:solidFill>
                <a:latin typeface="Calibri" pitchFamily="34" charset="0"/>
              </a:rPr>
              <a:t>alipayqr://platformapi/startapp?saId=&lt;10000007 scan · 20000116 transfer · 20000056 pay code&gt;&amp;qrcode=&lt;urlencoded pay URL&gt;</a:t>
            </a:r>
          </a:p>
        </p:txBody>
      </p:sp>
      <p:sp>
        <p:nvSpPr>
          <p:cNvPr id="5167" name="TB"/>
          <p:cNvSpPr/>
          <p:nvPr/>
        </p:nvSpPr>
        <p:spPr>
          <a:xfrm>
            <a:off x="548640" y="6550000"/>
            <a:ext cx="11094720" cy="25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>
              <a:buNone/>
            </a:pPr>
            <a:r>
              <a:rPr lang="en-US" sz="900" i="1" dirty="0">
                <a:solidFill>
                  <a:srgbClr val="5B6B79"/>
                </a:solidFill>
                <a:latin typeface="Calibri" pitchFamily="34" charset="0"/>
              </a:rPr>
              <a:t>Source: Alipay/Antom/Alipay+ docs (global.alipay.com, docs.antom.com, docs.alipayplus.com)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AlipayAntom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68" name="TB"/>
          <p:cNvSpPr/>
          <p:nvPr/>
        </p:nvSpPr>
        <p:spPr>
          <a:xfrm>
            <a:off x="548640" y="150000"/>
            <a:ext cx="11094720" cy="30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>
              <a:buNone/>
            </a:pPr>
            <a:r>
              <a:rPr lang="en-US" sz="1050" b="1" dirty="0">
                <a:solidFill>
                  <a:srgbClr val="C9A227"/>
                </a:solidFill>
                <a:latin typeface="Calibri" pitchFamily="34" charset="0"/>
              </a:rPr>
              <a:t>CHINA — ALIPAY &amp; WECHAT PAY</a:t>
            </a:r>
          </a:p>
        </p:txBody>
      </p:sp>
      <p:sp>
        <p:nvSpPr>
          <p:cNvPr id="5169" name="TB"/>
          <p:cNvSpPr/>
          <p:nvPr/>
        </p:nvSpPr>
        <p:spPr>
          <a:xfrm>
            <a:off x="548640" y="650000"/>
            <a:ext cx="11094720" cy="56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>
              <a:buNone/>
            </a:pPr>
            <a:r>
              <a:rPr lang="en-US" sz="2000" b="1" dirty="0">
                <a:solidFill>
                  <a:srgbClr val="21295C"/>
                </a:solidFill>
                <a:latin typeface="Cambria" pitchFamily="34" charset="0"/>
              </a:rPr>
              <a:t>Alipay+ / Antom: the OS-Conditional Priority Ladder</a:t>
            </a:r>
          </a:p>
        </p:txBody>
      </p:sp>
      <p:sp>
        <p:nvSpPr>
          <p:cNvPr id="5170" name="TB"/>
          <p:cNvSpPr/>
          <p:nvPr/>
        </p:nvSpPr>
        <p:spPr>
          <a:xfrm>
            <a:off x="548640" y="1200000"/>
            <a:ext cx="11094720" cy="38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>
              <a:buNone/>
            </a:pPr>
            <a:r>
              <a:rPr lang="en-US" sz="1150" i="1" dirty="0">
                <a:solidFill>
                  <a:srgbClr val="5B6B79"/>
                </a:solidFill>
                <a:latin typeface="Calibri" pitchFamily="34" charset="0"/>
              </a:rPr>
              <a:t>The pay API returns schemeUrl, applinkUrl, normalUrl, appIdentifier — the integrator picks by OS</a:t>
            </a:r>
          </a:p>
        </p:txBody>
      </p:sp>
      <p:sp>
        <p:nvSpPr>
          <p:cNvPr id="5171" name="Box"/>
          <p:cNvSpPr/>
          <p:nvPr/>
        </p:nvSpPr>
        <p:spPr>
          <a:xfrm>
            <a:off x="548640" y="1700000"/>
            <a:ext cx="3600000" cy="1700000"/>
          </a:xfrm>
          <a:prstGeom prst="roundRect">
            <a:avLst>
              <a:gd name="adj" fmla="val 2500"/>
            </a:avLst>
          </a:prstGeom>
          <a:solidFill>
            <a:srgbClr val="E8F5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5172" name="TB"/>
          <p:cNvSpPr/>
          <p:nvPr/>
        </p:nvSpPr>
        <p:spPr>
          <a:xfrm>
            <a:off x="728640" y="1820000"/>
            <a:ext cx="3240000" cy="30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>
              <a:buNone/>
            </a:pPr>
            <a:r>
              <a:rPr lang="en-US" sz="1150" b="1" dirty="0">
                <a:solidFill>
                  <a:srgbClr val="0B5D3B"/>
                </a:solidFill>
                <a:latin typeface="Calibri" pitchFamily="34" charset="0"/>
              </a:rPr>
              <a:t>iOS priority</a:t>
            </a:r>
          </a:p>
        </p:txBody>
      </p:sp>
      <p:sp>
        <p:nvSpPr>
          <p:cNvPr id="5173" name="TB"/>
          <p:cNvSpPr/>
          <p:nvPr/>
        </p:nvSpPr>
        <p:spPr>
          <a:xfrm>
            <a:off x="728640" y="2130000"/>
            <a:ext cx="3240000" cy="115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>
              <a:buNone/>
            </a:pPr>
            <a:r>
              <a:rPr lang="en-US" sz="1300" dirty="0">
                <a:solidFill>
                  <a:srgbClr val="1A2233"/>
                </a:solidFill>
                <a:latin typeface="Calibri" pitchFamily="34" charset="0"/>
              </a:rPr>
              <a:t>applinkUrl &gt; schemeUrl &gt;</a:t>
            </a:r>
          </a:p>
          <a:p>
            <a:pPr>
              <a:buNone/>
            </a:pPr>
            <a:r>
              <a:rPr lang="en-US" sz="1300" dirty="0">
                <a:solidFill>
                  <a:srgbClr val="1A2233"/>
                </a:solidFill>
                <a:latin typeface="Calibri" pitchFamily="34" charset="0"/>
              </a:rPr>
              <a:t>normalUrl</a:t>
            </a:r>
          </a:p>
        </p:txBody>
      </p:sp>
      <p:sp>
        <p:nvSpPr>
          <p:cNvPr id="5174" name="Box"/>
          <p:cNvSpPr/>
          <p:nvPr/>
        </p:nvSpPr>
        <p:spPr>
          <a:xfrm>
            <a:off x="4348640" y="1700000"/>
            <a:ext cx="3600000" cy="1700000"/>
          </a:xfrm>
          <a:prstGeom prst="roundRect">
            <a:avLst>
              <a:gd name="adj" fmla="val 2500"/>
            </a:avLst>
          </a:prstGeom>
          <a:solidFill>
            <a:srgbClr val="FFF3E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5175" name="TB"/>
          <p:cNvSpPr/>
          <p:nvPr/>
        </p:nvSpPr>
        <p:spPr>
          <a:xfrm>
            <a:off x="4528640" y="1820000"/>
            <a:ext cx="3240000" cy="30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>
              <a:buNone/>
            </a:pPr>
            <a:r>
              <a:rPr lang="en-US" sz="1150" b="1" dirty="0">
                <a:solidFill>
                  <a:srgbClr val="8A5A00"/>
                </a:solidFill>
                <a:latin typeface="Calibri" pitchFamily="34" charset="0"/>
              </a:rPr>
              <a:t>Android priority</a:t>
            </a:r>
          </a:p>
        </p:txBody>
      </p:sp>
      <p:sp>
        <p:nvSpPr>
          <p:cNvPr id="5176" name="TB"/>
          <p:cNvSpPr/>
          <p:nvPr/>
        </p:nvSpPr>
        <p:spPr>
          <a:xfrm>
            <a:off x="4528640" y="2130000"/>
            <a:ext cx="3240000" cy="115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>
              <a:buNone/>
            </a:pPr>
            <a:r>
              <a:rPr lang="en-US" sz="1300" dirty="0">
                <a:solidFill>
                  <a:srgbClr val="1A2233"/>
                </a:solidFill>
                <a:latin typeface="Calibri" pitchFamily="34" charset="0"/>
              </a:rPr>
              <a:t>schemeUrl &gt; applinkUrl &gt;</a:t>
            </a:r>
          </a:p>
          <a:p>
            <a:pPr>
              <a:buNone/>
            </a:pPr>
            <a:r>
              <a:rPr lang="en-US" sz="1300" dirty="0">
                <a:solidFill>
                  <a:srgbClr val="1A2233"/>
                </a:solidFill>
                <a:latin typeface="Calibri" pitchFamily="34" charset="0"/>
              </a:rPr>
              <a:t>normalUrl</a:t>
            </a:r>
          </a:p>
        </p:txBody>
      </p:sp>
      <p:sp>
        <p:nvSpPr>
          <p:cNvPr id="5177" name="Box"/>
          <p:cNvSpPr/>
          <p:nvPr/>
        </p:nvSpPr>
        <p:spPr>
          <a:xfrm>
            <a:off x="8148640" y="1700000"/>
            <a:ext cx="3600000" cy="1700000"/>
          </a:xfrm>
          <a:prstGeom prst="roundRect">
            <a:avLst>
              <a:gd name="adj" fmla="val 2500"/>
            </a:avLst>
          </a:prstGeom>
          <a:solidFill>
            <a:srgbClr val="F5F8FA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5178" name="TB"/>
          <p:cNvSpPr/>
          <p:nvPr/>
        </p:nvSpPr>
        <p:spPr>
          <a:xfrm>
            <a:off x="8328640" y="1820000"/>
            <a:ext cx="3240000" cy="30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>
              <a:buNone/>
            </a:pPr>
            <a:r>
              <a:rPr lang="en-US" sz="1150" b="1" dirty="0">
                <a:solidFill>
                  <a:srgbClr val="065A82"/>
                </a:solidFill>
                <a:latin typeface="Calibri" pitchFamily="34" charset="0"/>
              </a:rPr>
              <a:t>Alipay+ wallet redirection</a:t>
            </a:r>
          </a:p>
        </p:txBody>
      </p:sp>
      <p:sp>
        <p:nvSpPr>
          <p:cNvPr id="5179" name="TB"/>
          <p:cNvSpPr/>
          <p:nvPr/>
        </p:nvSpPr>
        <p:spPr>
          <a:xfrm>
            <a:off x="8328640" y="2130000"/>
            <a:ext cx="3240000" cy="115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>
              <a:buNone/>
            </a:pPr>
            <a:r>
              <a:rPr lang="en-US" sz="1300" dirty="0">
                <a:solidFill>
                  <a:srgbClr val="1A2233"/>
                </a:solidFill>
                <a:latin typeface="Calibri" pitchFamily="34" charset="0"/>
              </a:rPr>
              <a:t>Canonical priority:</a:t>
            </a:r>
          </a:p>
          <a:p>
            <a:pPr>
              <a:buNone/>
            </a:pPr>
            <a:r>
              <a:rPr lang="en-US" sz="1300" dirty="0">
                <a:solidFill>
                  <a:srgbClr val="1A2233"/>
                </a:solidFill>
                <a:latin typeface="Calibri" pitchFamily="34" charset="0"/>
              </a:rPr>
              <a:t>schemeUrl &gt; applinkUrl &gt;</a:t>
            </a:r>
          </a:p>
          <a:p>
            <a:pPr>
              <a:buNone/>
            </a:pPr>
            <a:r>
              <a:rPr lang="en-US" sz="1300" dirty="0">
                <a:solidFill>
                  <a:srgbClr val="1A2233"/>
                </a:solidFill>
                <a:latin typeface="Calibri" pitchFamily="34" charset="0"/>
              </a:rPr>
              <a:t>normalUrl</a:t>
            </a:r>
          </a:p>
        </p:txBody>
      </p:sp>
      <p:sp>
        <p:nvSpPr>
          <p:cNvPr id="5180" name="Box"/>
          <p:cNvSpPr/>
          <p:nvPr/>
        </p:nvSpPr>
        <p:spPr>
          <a:xfrm>
            <a:off x="548640" y="3650000"/>
            <a:ext cx="11094720" cy="1900000"/>
          </a:xfrm>
          <a:prstGeom prst="roundRect">
            <a:avLst>
              <a:gd name="adj" fmla="val 3000"/>
            </a:avLst>
          </a:prstGeom>
          <a:solidFill>
            <a:srgbClr val="21295C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5181" name="TB"/>
          <p:cNvSpPr/>
          <p:nvPr/>
        </p:nvSpPr>
        <p:spPr>
          <a:xfrm>
            <a:off x="748640" y="3780000"/>
            <a:ext cx="10694720" cy="30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>
              <a:buNone/>
            </a:pPr>
            <a:r>
              <a:rPr lang="en-US" sz="1150" b="1" dirty="0">
                <a:solidFill>
                  <a:srgbClr val="5EEAD4"/>
                </a:solidFill>
                <a:latin typeface="Calibri" pitchFamily="34" charset="0"/>
              </a:rPr>
              <a:t>Example Alipay HK applinkUrl</a:t>
            </a:r>
          </a:p>
        </p:txBody>
      </p:sp>
      <p:sp>
        <p:nvSpPr>
          <p:cNvPr id="5182" name="TB"/>
          <p:cNvSpPr/>
          <p:nvPr/>
        </p:nvSpPr>
        <p:spPr>
          <a:xfrm>
            <a:off x="748640" y="4110000"/>
            <a:ext cx="10694720" cy="132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>
              <a:buNone/>
            </a:pPr>
            <a:r>
              <a:rPr lang="en-US" sz="1000" dirty="0">
                <a:solidFill>
                  <a:srgbClr val="E8ECEF"/>
                </a:solidFill>
                <a:latin typeface="Courier New" pitchFamily="34" charset="0"/>
              </a:rPr>
              <a:t>https://render.alipay.hk/p/w/hk-ulink/?path=/mobile</a:t>
            </a:r>
          </a:p>
          <a:p>
            <a:pPr>
              <a:buNone/>
            </a:pPr>
            <a:r>
              <a:rPr lang="en-US" sz="1000" dirty="0">
                <a:solidFill>
                  <a:srgbClr val="E8ECEF"/>
                </a:solidFill>
                <a:latin typeface="Courier New" pitchFamily="34" charset="0"/>
              </a:rPr>
              <a:t>  &amp;scheme=alipayhk://platformapi/startApp?appId=85200168</a:t>
            </a:r>
          </a:p>
          <a:p>
            <a:pPr>
              <a:buNone/>
            </a:pPr>
            <a:r>
              <a:rPr lang="en-US" sz="1000" dirty="0">
                <a:solidFill>
                  <a:srgbClr val="E8ECEF"/>
                </a:solidFill>
                <a:latin typeface="Courier New" pitchFamily="34" charset="0"/>
              </a:rPr>
              <a:t>  &amp;CashierAction=tradePay&amp;orderCode=https://global.alipay.com/&lt;id&gt;</a:t>
            </a:r>
          </a:p>
          <a:p>
            <a:pPr>
              <a:buNone/>
            </a:pPr>
            <a:r>
              <a:rPr lang="en-US" sz="1000" dirty="0">
                <a:solidFill>
                  <a:srgbClr val="E8ECEF"/>
                </a:solidFill>
                <a:latin typeface="Courier New" pitchFamily="34" charset="0"/>
              </a:rPr>
              <a:t>  &amp;paymentRedirectUrl=&lt;merchant return&gt;&amp;wallet=ALIPAY_HK&amp;terminalType=WAP</a:t>
            </a:r>
          </a:p>
        </p:txBody>
      </p:sp>
      <p:sp>
        <p:nvSpPr>
          <p:cNvPr id="5183" name="Box"/>
          <p:cNvSpPr/>
          <p:nvPr/>
        </p:nvSpPr>
        <p:spPr>
          <a:xfrm>
            <a:off x="548640" y="5700000"/>
            <a:ext cx="11094720" cy="700000"/>
          </a:xfrm>
          <a:prstGeom prst="roundRect">
            <a:avLst>
              <a:gd name="adj" fmla="val 2500"/>
            </a:avLst>
          </a:prstGeom>
          <a:solidFill>
            <a:srgbClr val="FFF3E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5184" name="TB"/>
          <p:cNvSpPr/>
          <p:nvPr/>
        </p:nvSpPr>
        <p:spPr>
          <a:xfrm>
            <a:off x="728640" y="5820000"/>
            <a:ext cx="10734720" cy="30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>
              <a:buNone/>
            </a:pPr>
            <a:r>
              <a:rPr lang="en-US" sz="1150" b="1" dirty="0">
                <a:solidFill>
                  <a:srgbClr val="8A5A00"/>
                </a:solidFill>
                <a:latin typeface="Calibri" pitchFamily="34" charset="0"/>
              </a:rPr>
              <a:t>Best practice</a:t>
            </a:r>
          </a:p>
        </p:txBody>
      </p:sp>
      <p:sp>
        <p:nvSpPr>
          <p:cNvPr id="5185" name="TB"/>
          <p:cNvSpPr/>
          <p:nvPr/>
        </p:nvSpPr>
        <p:spPr>
          <a:xfrm>
            <a:off x="728640" y="6130000"/>
            <a:ext cx="10734720" cy="15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>
              <a:buNone/>
            </a:pPr>
            <a:r>
              <a:rPr lang="en-US" sz="1050" dirty="0">
                <a:solidFill>
                  <a:srgbClr val="1A2233"/>
                </a:solidFill>
                <a:latin typeface="Calibri" pitchFamily="34" charset="0"/>
              </a:rPr>
              <a:t>SFSafariViewController (iOS) / Chrome Custom Tabs (Android) for normalUrl. schemeUrl requires the wallet's scheme in LSApplicationQueriesSchemes (iOS).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WeChatTradeTypes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86" name="TB"/>
          <p:cNvSpPr/>
          <p:nvPr/>
        </p:nvSpPr>
        <p:spPr>
          <a:xfrm>
            <a:off x="548640" y="150000"/>
            <a:ext cx="11094720" cy="30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>
              <a:buNone/>
            </a:pPr>
            <a:r>
              <a:rPr lang="en-US" sz="1050" b="1" dirty="0">
                <a:solidFill>
                  <a:srgbClr val="C9A227"/>
                </a:solidFill>
                <a:latin typeface="Calibri" pitchFamily="34" charset="0"/>
              </a:rPr>
              <a:t>CHINA — ALIPAY &amp; WECHAT PAY</a:t>
            </a:r>
          </a:p>
        </p:txBody>
      </p:sp>
      <p:sp>
        <p:nvSpPr>
          <p:cNvPr id="5187" name="TB"/>
          <p:cNvSpPr/>
          <p:nvPr/>
        </p:nvSpPr>
        <p:spPr>
          <a:xfrm>
            <a:off x="548640" y="650000"/>
            <a:ext cx="11094720" cy="56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>
              <a:buNone/>
            </a:pPr>
            <a:r>
              <a:rPr lang="en-US" sz="2000" b="1" dirty="0">
                <a:solidFill>
                  <a:srgbClr val="21295C"/>
                </a:solidFill>
                <a:latin typeface="Cambria" pitchFamily="34" charset="0"/>
              </a:rPr>
              <a:t>WeChat Pay Trade Types &amp; Returned Artifacts</a:t>
            </a:r>
          </a:p>
        </p:txBody>
      </p:sp>
      <p:sp>
        <p:nvSpPr>
          <p:cNvPr id="5188" name="THead"/>
          <p:cNvSpPr/>
          <p:nvPr/>
        </p:nvSpPr>
        <p:spPr>
          <a:xfrm>
            <a:off x="548640" y="1500000"/>
            <a:ext cx="2000000" cy="420000"/>
          </a:xfrm>
          <a:prstGeom prst="rect">
            <a:avLst/>
          </a:prstGeom>
          <a:solidFill>
            <a:srgbClr val="21295C"/>
          </a:solidFill>
          <a:ln>
            <a:noFill/>
          </a:ln>
        </p:spPr>
        <p:txBody>
          <a:bodyPr wrap="square" lIns="60000" tIns="30000" rIns="60000" bIns="3000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</a:rPr>
              <a:t>trade_type</a:t>
            </a:r>
          </a:p>
        </p:txBody>
      </p:sp>
      <p:sp>
        <p:nvSpPr>
          <p:cNvPr id="5189" name="THead"/>
          <p:cNvSpPr/>
          <p:nvPr/>
        </p:nvSpPr>
        <p:spPr>
          <a:xfrm>
            <a:off x="2548640" y="1500000"/>
            <a:ext cx="4500000" cy="420000"/>
          </a:xfrm>
          <a:prstGeom prst="rect">
            <a:avLst/>
          </a:prstGeom>
          <a:solidFill>
            <a:srgbClr val="21295C"/>
          </a:solidFill>
          <a:ln>
            <a:noFill/>
          </a:ln>
        </p:spPr>
        <p:txBody>
          <a:bodyPr wrap="square" lIns="60000" tIns="30000" rIns="60000" bIns="3000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</a:rPr>
              <a:t>Returned artifact</a:t>
            </a:r>
          </a:p>
        </p:txBody>
      </p:sp>
      <p:sp>
        <p:nvSpPr>
          <p:cNvPr id="5190" name="THead"/>
          <p:cNvSpPr/>
          <p:nvPr/>
        </p:nvSpPr>
        <p:spPr>
          <a:xfrm>
            <a:off x="7048640" y="1500000"/>
            <a:ext cx="4594720" cy="420000"/>
          </a:xfrm>
          <a:prstGeom prst="rect">
            <a:avLst/>
          </a:prstGeom>
          <a:solidFill>
            <a:srgbClr val="21295C"/>
          </a:solidFill>
          <a:ln>
            <a:noFill/>
          </a:ln>
        </p:spPr>
        <p:txBody>
          <a:bodyPr wrap="square" lIns="60000" tIns="30000" rIns="60000" bIns="3000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</a:rPr>
              <a:t>How it is used</a:t>
            </a:r>
          </a:p>
        </p:txBody>
      </p:sp>
      <p:sp>
        <p:nvSpPr>
          <p:cNvPr id="5191" name="TCell"/>
          <p:cNvSpPr/>
          <p:nvPr/>
        </p:nvSpPr>
        <p:spPr>
          <a:xfrm>
            <a:off x="548640" y="1920000"/>
            <a:ext cx="2000000" cy="5500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</p:spPr>
        <p:txBody>
          <a:bodyPr wrap="square" lIns="60000" tIns="25000" rIns="60000" bIns="2500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233"/>
                </a:solidFill>
                <a:latin typeface="Calibri" pitchFamily="34" charset="0"/>
              </a:rPr>
              <a:t>NATIVE</a:t>
            </a:r>
          </a:p>
        </p:txBody>
      </p:sp>
      <p:sp>
        <p:nvSpPr>
          <p:cNvPr id="5192" name="TCell"/>
          <p:cNvSpPr/>
          <p:nvPr/>
        </p:nvSpPr>
        <p:spPr>
          <a:xfrm>
            <a:off x="2548640" y="1920000"/>
            <a:ext cx="4500000" cy="5500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</p:spPr>
        <p:txBody>
          <a:bodyPr wrap="square" lIns="60000" tIns="25000" rIns="60000" bIns="2500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2233"/>
                </a:solidFill>
                <a:latin typeface="Calibri" pitchFamily="34" charset="0"/>
              </a:rPr>
              <a:t>code_url = weixin://wxpay/bizpayurl?pr=</a:t>
            </a:r>
          </a:p>
        </p:txBody>
      </p:sp>
      <p:sp>
        <p:nvSpPr>
          <p:cNvPr id="5193" name="TCell"/>
          <p:cNvSpPr/>
          <p:nvPr/>
        </p:nvSpPr>
        <p:spPr>
          <a:xfrm>
            <a:off x="7048640" y="1920000"/>
            <a:ext cx="4594720" cy="5500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</p:spPr>
        <p:txBody>
          <a:bodyPr wrap="square" lIns="60000" tIns="25000" rIns="60000" bIns="2500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2233"/>
                </a:solidFill>
                <a:latin typeface="Calibri" pitchFamily="34" charset="0"/>
              </a:rPr>
              <a:t>Rendered as merchant QR; customer scans</a:t>
            </a:r>
          </a:p>
        </p:txBody>
      </p:sp>
      <p:sp>
        <p:nvSpPr>
          <p:cNvPr id="5194" name="TCell"/>
          <p:cNvSpPr/>
          <p:nvPr/>
        </p:nvSpPr>
        <p:spPr>
          <a:xfrm>
            <a:off x="548640" y="2470000"/>
            <a:ext cx="2000000" cy="550000"/>
          </a:xfrm>
          <a:prstGeom prst="rect">
            <a:avLst/>
          </a:prstGeom>
          <a:solidFill>
            <a:srgbClr val="F5F8FA"/>
          </a:solidFill>
          <a:ln w="6350">
            <a:solidFill>
              <a:srgbClr val="D9D9D9"/>
            </a:solidFill>
          </a:ln>
        </p:spPr>
        <p:txBody>
          <a:bodyPr wrap="square" lIns="60000" tIns="25000" rIns="60000" bIns="2500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233"/>
                </a:solidFill>
                <a:latin typeface="Calibri" pitchFamily="34" charset="0"/>
              </a:rPr>
              <a:t>JSAPI</a:t>
            </a:r>
          </a:p>
        </p:txBody>
      </p:sp>
      <p:sp>
        <p:nvSpPr>
          <p:cNvPr id="5195" name="TCell"/>
          <p:cNvSpPr/>
          <p:nvPr/>
        </p:nvSpPr>
        <p:spPr>
          <a:xfrm>
            <a:off x="2548640" y="2470000"/>
            <a:ext cx="4500000" cy="550000"/>
          </a:xfrm>
          <a:prstGeom prst="rect">
            <a:avLst/>
          </a:prstGeom>
          <a:solidFill>
            <a:srgbClr val="F5F8FA"/>
          </a:solidFill>
          <a:ln w="6350">
            <a:solidFill>
              <a:srgbClr val="D9D9D9"/>
            </a:solidFill>
          </a:ln>
        </p:spPr>
        <p:txBody>
          <a:bodyPr wrap="square" lIns="60000" tIns="25000" rIns="60000" bIns="2500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2233"/>
                </a:solidFill>
                <a:latin typeface="Calibri" pitchFamily="34" charset="0"/>
              </a:rPr>
              <a:t>prepay_id</a:t>
            </a:r>
          </a:p>
        </p:txBody>
      </p:sp>
      <p:sp>
        <p:nvSpPr>
          <p:cNvPr id="5196" name="TCell"/>
          <p:cNvSpPr/>
          <p:nvPr/>
        </p:nvSpPr>
        <p:spPr>
          <a:xfrm>
            <a:off x="7048640" y="2470000"/>
            <a:ext cx="4594720" cy="550000"/>
          </a:xfrm>
          <a:prstGeom prst="rect">
            <a:avLst/>
          </a:prstGeom>
          <a:solidFill>
            <a:srgbClr val="F5F8FA"/>
          </a:solidFill>
          <a:ln w="6350">
            <a:solidFill>
              <a:srgbClr val="D9D9D9"/>
            </a:solidFill>
          </a:ln>
        </p:spPr>
        <p:txBody>
          <a:bodyPr wrap="square" lIns="60000" tIns="25000" rIns="60000" bIns="2500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2233"/>
                </a:solidFill>
                <a:latin typeface="Calibri" pitchFamily="34" charset="0"/>
              </a:rPr>
              <a:t>wx.requestPayment inside WeChat / mini-program</a:t>
            </a:r>
          </a:p>
        </p:txBody>
      </p:sp>
      <p:sp>
        <p:nvSpPr>
          <p:cNvPr id="5197" name="TCell"/>
          <p:cNvSpPr/>
          <p:nvPr/>
        </p:nvSpPr>
        <p:spPr>
          <a:xfrm>
            <a:off x="548640" y="3020000"/>
            <a:ext cx="2000000" cy="5500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</p:spPr>
        <p:txBody>
          <a:bodyPr wrap="square" lIns="60000" tIns="25000" rIns="60000" bIns="2500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233"/>
                </a:solidFill>
                <a:latin typeface="Calibri" pitchFamily="34" charset="0"/>
              </a:rPr>
              <a:t>APP</a:t>
            </a:r>
          </a:p>
        </p:txBody>
      </p:sp>
      <p:sp>
        <p:nvSpPr>
          <p:cNvPr id="5198" name="TCell"/>
          <p:cNvSpPr/>
          <p:nvPr/>
        </p:nvSpPr>
        <p:spPr>
          <a:xfrm>
            <a:off x="2548640" y="3020000"/>
            <a:ext cx="4500000" cy="5500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</p:spPr>
        <p:txBody>
          <a:bodyPr wrap="square" lIns="60000" tIns="25000" rIns="60000" bIns="2500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2233"/>
                </a:solidFill>
                <a:latin typeface="Calibri" pitchFamily="34" charset="0"/>
              </a:rPr>
              <a:t>prepay_id</a:t>
            </a:r>
          </a:p>
        </p:txBody>
      </p:sp>
      <p:sp>
        <p:nvSpPr>
          <p:cNvPr id="5199" name="TCell"/>
          <p:cNvSpPr/>
          <p:nvPr/>
        </p:nvSpPr>
        <p:spPr>
          <a:xfrm>
            <a:off x="7048640" y="3020000"/>
            <a:ext cx="4594720" cy="5500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</p:spPr>
        <p:txBody>
          <a:bodyPr wrap="square" lIns="60000" tIns="25000" rIns="60000" bIns="2500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2233"/>
                </a:solidFill>
                <a:latin typeface="Calibri" pitchFamily="34" charset="0"/>
              </a:rPr>
              <a:t>Native app builds signed PayReq</a:t>
            </a:r>
          </a:p>
        </p:txBody>
      </p:sp>
      <p:sp>
        <p:nvSpPr>
          <p:cNvPr id="5200" name="TCell"/>
          <p:cNvSpPr/>
          <p:nvPr/>
        </p:nvSpPr>
        <p:spPr>
          <a:xfrm>
            <a:off x="548640" y="3570000"/>
            <a:ext cx="2000000" cy="550000"/>
          </a:xfrm>
          <a:prstGeom prst="rect">
            <a:avLst/>
          </a:prstGeom>
          <a:solidFill>
            <a:srgbClr val="F5F8FA"/>
          </a:solidFill>
          <a:ln w="6350">
            <a:solidFill>
              <a:srgbClr val="D9D9D9"/>
            </a:solidFill>
          </a:ln>
        </p:spPr>
        <p:txBody>
          <a:bodyPr wrap="square" lIns="60000" tIns="25000" rIns="60000" bIns="2500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233"/>
                </a:solidFill>
                <a:latin typeface="Calibri" pitchFamily="34" charset="0"/>
              </a:rPr>
              <a:t>MWEB (H5)</a:t>
            </a:r>
          </a:p>
        </p:txBody>
      </p:sp>
      <p:sp>
        <p:nvSpPr>
          <p:cNvPr id="5201" name="TCell"/>
          <p:cNvSpPr/>
          <p:nvPr/>
        </p:nvSpPr>
        <p:spPr>
          <a:xfrm>
            <a:off x="2548640" y="3570000"/>
            <a:ext cx="4500000" cy="550000"/>
          </a:xfrm>
          <a:prstGeom prst="rect">
            <a:avLst/>
          </a:prstGeom>
          <a:solidFill>
            <a:srgbClr val="F5F8FA"/>
          </a:solidFill>
          <a:ln w="6350">
            <a:solidFill>
              <a:srgbClr val="D9D9D9"/>
            </a:solidFill>
          </a:ln>
        </p:spPr>
        <p:txBody>
          <a:bodyPr wrap="square" lIns="60000" tIns="25000" rIns="60000" bIns="2500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2233"/>
                </a:solidFill>
                <a:latin typeface="Calibri" pitchFamily="34" charset="0"/>
              </a:rPr>
              <a:t>mweb_url</a:t>
            </a:r>
          </a:p>
        </p:txBody>
      </p:sp>
      <p:sp>
        <p:nvSpPr>
          <p:cNvPr id="5202" name="TCell"/>
          <p:cNvSpPr/>
          <p:nvPr/>
        </p:nvSpPr>
        <p:spPr>
          <a:xfrm>
            <a:off x="7048640" y="3570000"/>
            <a:ext cx="4594720" cy="550000"/>
          </a:xfrm>
          <a:prstGeom prst="rect">
            <a:avLst/>
          </a:prstGeom>
          <a:solidFill>
            <a:srgbClr val="F5F8FA"/>
          </a:solidFill>
          <a:ln w="6350">
            <a:solidFill>
              <a:srgbClr val="D9D9D9"/>
            </a:solidFill>
          </a:ln>
        </p:spPr>
        <p:txBody>
          <a:bodyPr wrap="square" lIns="60000" tIns="25000" rIns="60000" bIns="2500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2233"/>
                </a:solidFill>
                <a:latin typeface="Calibri" pitchFamily="34" charset="0"/>
              </a:rPr>
              <a:t>Mobile browser redirect to WeChat and back</a:t>
            </a:r>
          </a:p>
        </p:txBody>
      </p:sp>
      <p:sp>
        <p:nvSpPr>
          <p:cNvPr id="5203" name="TCell"/>
          <p:cNvSpPr/>
          <p:nvPr/>
        </p:nvSpPr>
        <p:spPr>
          <a:xfrm>
            <a:off x="548640" y="4120000"/>
            <a:ext cx="2000000" cy="5500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</p:spPr>
        <p:txBody>
          <a:bodyPr wrap="square" lIns="60000" tIns="25000" rIns="60000" bIns="2500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233"/>
                </a:solidFill>
                <a:latin typeface="Calibri" pitchFamily="34" charset="0"/>
              </a:rPr>
              <a:t>Mini-program</a:t>
            </a:r>
          </a:p>
        </p:txBody>
      </p:sp>
      <p:sp>
        <p:nvSpPr>
          <p:cNvPr id="5204" name="TCell"/>
          <p:cNvSpPr/>
          <p:nvPr/>
        </p:nvSpPr>
        <p:spPr>
          <a:xfrm>
            <a:off x="2548640" y="4120000"/>
            <a:ext cx="4500000" cy="5500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</p:spPr>
        <p:txBody>
          <a:bodyPr wrap="square" lIns="60000" tIns="25000" rIns="60000" bIns="2500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2233"/>
                </a:solidFill>
                <a:latin typeface="Calibri" pitchFamily="34" charset="0"/>
              </a:rPr>
              <a:t>prepay_id</a:t>
            </a:r>
          </a:p>
        </p:txBody>
      </p:sp>
      <p:sp>
        <p:nvSpPr>
          <p:cNvPr id="5205" name="TCell"/>
          <p:cNvSpPr/>
          <p:nvPr/>
        </p:nvSpPr>
        <p:spPr>
          <a:xfrm>
            <a:off x="7048640" y="4120000"/>
            <a:ext cx="4594720" cy="5500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</p:spPr>
        <p:txBody>
          <a:bodyPr wrap="square" lIns="60000" tIns="25000" rIns="60000" bIns="2500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2233"/>
                </a:solidFill>
                <a:latin typeface="Calibri" pitchFamily="34" charset="0"/>
              </a:rPr>
              <a:t>wx.requestPayment</a:t>
            </a:r>
          </a:p>
        </p:txBody>
      </p:sp>
      <p:sp>
        <p:nvSpPr>
          <p:cNvPr id="5206" name="Box"/>
          <p:cNvSpPr/>
          <p:nvPr/>
        </p:nvSpPr>
        <p:spPr>
          <a:xfrm>
            <a:off x="548640" y="4870000"/>
            <a:ext cx="11094720" cy="1000000"/>
          </a:xfrm>
          <a:prstGeom prst="roundRect">
            <a:avLst>
              <a:gd name="adj" fmla="val 3000"/>
            </a:avLst>
          </a:prstGeom>
          <a:solidFill>
            <a:srgbClr val="21295C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5207" name="TB"/>
          <p:cNvSpPr/>
          <p:nvPr/>
        </p:nvSpPr>
        <p:spPr>
          <a:xfrm>
            <a:off x="748640" y="5000000"/>
            <a:ext cx="10694720" cy="30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>
              <a:buNone/>
            </a:pPr>
            <a:r>
              <a:rPr lang="en-US" sz="1150" b="1" dirty="0">
                <a:solidFill>
                  <a:srgbClr val="5EEAD4"/>
                </a:solidFill>
                <a:latin typeface="Calibri" pitchFamily="34" charset="0"/>
              </a:rPr>
              <a:t>MWEB URL form</a:t>
            </a:r>
          </a:p>
        </p:txBody>
      </p:sp>
      <p:sp>
        <p:nvSpPr>
          <p:cNvPr id="5208" name="TB"/>
          <p:cNvSpPr/>
          <p:nvPr/>
        </p:nvSpPr>
        <p:spPr>
          <a:xfrm>
            <a:off x="748640" y="5330000"/>
            <a:ext cx="10694720" cy="42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</a:rPr>
              <a:t>https://wx.tenpay.com/cgi-bin/mmpayweb-bin/checkmweb?prepay_id=...&amp;package=...</a:t>
            </a:r>
          </a:p>
          <a:p>
            <a:pPr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</a:rPr>
              <a:t>(append redirect_url for return)</a:t>
            </a:r>
          </a:p>
        </p:txBody>
      </p:sp>
      <p:sp>
        <p:nvSpPr>
          <p:cNvPr id="5209" name="TB"/>
          <p:cNvSpPr/>
          <p:nvPr/>
        </p:nvSpPr>
        <p:spPr>
          <a:xfrm>
            <a:off x="548640" y="6550000"/>
            <a:ext cx="11094720" cy="25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>
              <a:buNone/>
            </a:pPr>
            <a:r>
              <a:rPr lang="en-US" sz="900" i="1" dirty="0">
                <a:solidFill>
                  <a:srgbClr val="5B6B79"/>
                </a:solidFill>
                <a:latin typeface="Calibri" pitchFamily="34" charset="0"/>
              </a:rPr>
              <a:t>Source: WeChat Pay Open Platform (pay.weixin.qq.com)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WeChatSigning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10" name="TB"/>
          <p:cNvSpPr/>
          <p:nvPr/>
        </p:nvSpPr>
        <p:spPr>
          <a:xfrm>
            <a:off x="548640" y="150000"/>
            <a:ext cx="11094720" cy="30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>
              <a:buNone/>
            </a:pPr>
            <a:r>
              <a:rPr lang="en-US" sz="1050" b="1" dirty="0">
                <a:solidFill>
                  <a:srgbClr val="C9A227"/>
                </a:solidFill>
                <a:latin typeface="Calibri" pitchFamily="34" charset="0"/>
              </a:rPr>
              <a:t>CHINA — ALIPAY &amp; WECHAT PAY</a:t>
            </a:r>
          </a:p>
        </p:txBody>
      </p:sp>
      <p:sp>
        <p:nvSpPr>
          <p:cNvPr id="5211" name="TB"/>
          <p:cNvSpPr/>
          <p:nvPr/>
        </p:nvSpPr>
        <p:spPr>
          <a:xfrm>
            <a:off x="548640" y="650000"/>
            <a:ext cx="11094720" cy="56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>
              <a:buNone/>
            </a:pPr>
            <a:r>
              <a:rPr lang="en-US" sz="2000" b="1" dirty="0">
                <a:solidFill>
                  <a:srgbClr val="21295C"/>
                </a:solidFill>
                <a:latin typeface="Cambria" pitchFamily="34" charset="0"/>
              </a:rPr>
              <a:t>WeChat APP SDK: PayReq and Signing</a:t>
            </a:r>
          </a:p>
        </p:txBody>
      </p:sp>
      <p:sp>
        <p:nvSpPr>
          <p:cNvPr id="5212" name="Box"/>
          <p:cNvSpPr/>
          <p:nvPr/>
        </p:nvSpPr>
        <p:spPr>
          <a:xfrm>
            <a:off x="548640" y="1500000"/>
            <a:ext cx="5450000" cy="2350000"/>
          </a:xfrm>
          <a:prstGeom prst="roundRect">
            <a:avLst>
              <a:gd name="adj" fmla="val 3000"/>
            </a:avLst>
          </a:prstGeom>
          <a:solidFill>
            <a:srgbClr val="21295C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5213" name="TB"/>
          <p:cNvSpPr/>
          <p:nvPr/>
        </p:nvSpPr>
        <p:spPr>
          <a:xfrm>
            <a:off x="748640" y="1630000"/>
            <a:ext cx="5050000" cy="30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>
              <a:buNone/>
            </a:pPr>
            <a:r>
              <a:rPr lang="en-US" sz="1150" b="1" dirty="0">
                <a:solidFill>
                  <a:srgbClr val="5EEAD4"/>
                </a:solidFill>
                <a:latin typeface="Calibri" pitchFamily="34" charset="0"/>
              </a:rPr>
              <a:t>PayReq fields</a:t>
            </a:r>
          </a:p>
        </p:txBody>
      </p:sp>
      <p:sp>
        <p:nvSpPr>
          <p:cNvPr id="5214" name="TB"/>
          <p:cNvSpPr/>
          <p:nvPr/>
        </p:nvSpPr>
        <p:spPr>
          <a:xfrm>
            <a:off x="748640" y="1960000"/>
            <a:ext cx="5050000" cy="177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>
              <a:buNone/>
            </a:pPr>
            <a:r>
              <a:rPr lang="en-US" sz="1100" dirty="0">
                <a:solidFill>
                  <a:srgbClr val="E8ECEF"/>
                </a:solidFill>
                <a:latin typeface="Courier New" pitchFamily="34" charset="0"/>
              </a:rPr>
              <a:t>appId, partnerId (mch_id), prepayId,</a:t>
            </a:r>
          </a:p>
          <a:p>
            <a:pPr>
              <a:buNone/>
            </a:pPr>
            <a:r>
              <a:rPr lang="en-US" sz="1100" dirty="0">
                <a:solidFill>
                  <a:srgbClr val="E8ECEF"/>
                </a:solidFill>
                <a:latin typeface="Courier New" pitchFamily="34" charset="0"/>
              </a:rPr>
              <a:t>packageValue = "Sign=WXPay" (fixed),</a:t>
            </a:r>
          </a:p>
          <a:p>
            <a:pPr>
              <a:buNone/>
            </a:pPr>
            <a:r>
              <a:rPr lang="en-US" sz="1100" dirty="0">
                <a:solidFill>
                  <a:srgbClr val="E8ECEF"/>
                </a:solidFill>
                <a:latin typeface="Courier New" pitchFamily="34" charset="0"/>
              </a:rPr>
              <a:t>nonceStr, timeStamp, sign</a:t>
            </a:r>
          </a:p>
        </p:txBody>
      </p:sp>
      <p:sp>
        <p:nvSpPr>
          <p:cNvPr id="5215" name="Box"/>
          <p:cNvSpPr/>
          <p:nvPr/>
        </p:nvSpPr>
        <p:spPr>
          <a:xfrm>
            <a:off x="6193360" y="1500000"/>
            <a:ext cx="5450000" cy="2350000"/>
          </a:xfrm>
          <a:prstGeom prst="roundRect">
            <a:avLst>
              <a:gd name="adj" fmla="val 2500"/>
            </a:avLst>
          </a:prstGeom>
          <a:solidFill>
            <a:srgbClr val="F5F8FA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5216" name="TB"/>
          <p:cNvSpPr/>
          <p:nvPr/>
        </p:nvSpPr>
        <p:spPr>
          <a:xfrm>
            <a:off x="6373360" y="1620000"/>
            <a:ext cx="5090000" cy="30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>
              <a:buNone/>
            </a:pPr>
            <a:r>
              <a:rPr lang="en-US" sz="1150" b="1" dirty="0">
                <a:solidFill>
                  <a:srgbClr val="065A82"/>
                </a:solidFill>
                <a:latin typeface="Calibri" pitchFamily="34" charset="0"/>
              </a:rPr>
              <a:t>Signing algorithm</a:t>
            </a:r>
          </a:p>
        </p:txBody>
      </p:sp>
      <p:sp>
        <p:nvSpPr>
          <p:cNvPr id="5217" name="TB"/>
          <p:cNvSpPr/>
          <p:nvPr/>
        </p:nvSpPr>
        <p:spPr>
          <a:xfrm>
            <a:off x="6373360" y="1930000"/>
            <a:ext cx="5090000" cy="180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>
              <a:buNone/>
            </a:pPr>
            <a:r>
              <a:rPr lang="en-US" sz="1100" dirty="0">
                <a:solidFill>
                  <a:srgbClr val="1A2233"/>
                </a:solidFill>
                <a:latin typeface="Calibri" pitchFamily="34" charset="0"/>
              </a:rPr>
              <a:t>Sort appid, noncestr, package,</a:t>
            </a:r>
          </a:p>
          <a:p>
            <a:pPr>
              <a:buNone/>
            </a:pPr>
            <a:r>
              <a:rPr lang="en-US" sz="1100" dirty="0">
                <a:solidFill>
                  <a:srgbClr val="1A2233"/>
                </a:solidFill>
                <a:latin typeface="Calibri" pitchFamily="34" charset="0"/>
              </a:rPr>
              <a:t>partnerid, prepayid, timestamp</a:t>
            </a:r>
          </a:p>
          <a:p>
            <a:pPr>
              <a:buNone/>
            </a:pPr>
            <a:r>
              <a:rPr lang="en-US" sz="1100" dirty="0">
                <a:solidFill>
                  <a:srgbClr val="1A2233"/>
                </a:solidFill>
                <a:latin typeface="Calibri" pitchFamily="34" charset="0"/>
              </a:rPr>
              <a:t>ASCII-ascending, join as k=v&amp;...,</a:t>
            </a:r>
          </a:p>
          <a:p>
            <a:pPr>
              <a:buNone/>
            </a:pPr>
            <a:r>
              <a:rPr lang="en-US" sz="1100" dirty="0">
                <a:solidFill>
                  <a:srgbClr val="1A2233"/>
                </a:solidFill>
                <a:latin typeface="Calibri" pitchFamily="34" charset="0"/>
              </a:rPr>
              <a:t>append &amp;key=&lt;API key&gt;, then:</a:t>
            </a:r>
          </a:p>
          <a:p>
            <a:pPr>
              <a:buNone/>
            </a:pPr>
            <a:r>
              <a:rPr lang="en-US" sz="1100" dirty="0">
                <a:solidFill>
                  <a:srgbClr val="1A2233"/>
                </a:solidFill>
                <a:latin typeface="Calibri" pitchFamily="34" charset="0"/>
              </a:rPr>
              <a:t>MD5 (v2, uppercased) or HMAC-SHA256.</a:t>
            </a:r>
          </a:p>
          <a:p>
            <a:pPr>
              <a:buNone/>
            </a:pPr>
            <a:r>
              <a:rPr lang="en-US" sz="1100" dirty="0">
                <a:solidFill>
                  <a:srgbClr val="1A2233"/>
                </a:solidFill>
                <a:latin typeface="Calibri" pitchFamily="34" charset="0"/>
              </a:rPr>
              <a:t>Callback: onResp() in WXPayEntryActivity</a:t>
            </a:r>
          </a:p>
        </p:txBody>
      </p:sp>
      <p:sp>
        <p:nvSpPr>
          <p:cNvPr id="5218" name="Box"/>
          <p:cNvSpPr/>
          <p:nvPr/>
        </p:nvSpPr>
        <p:spPr>
          <a:xfrm>
            <a:off x="548640" y="4050000"/>
            <a:ext cx="11094720" cy="1900000"/>
          </a:xfrm>
          <a:prstGeom prst="roundRect">
            <a:avLst>
              <a:gd name="adj" fmla="val 2500"/>
            </a:avLst>
          </a:prstGeom>
          <a:solidFill>
            <a:srgbClr val="FFF3E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5219" name="TB"/>
          <p:cNvSpPr/>
          <p:nvPr/>
        </p:nvSpPr>
        <p:spPr>
          <a:xfrm>
            <a:off x="728640" y="4170000"/>
            <a:ext cx="10734720" cy="30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>
              <a:buNone/>
            </a:pPr>
            <a:r>
              <a:rPr lang="en-US" sz="1150" b="1" dirty="0">
                <a:solidFill>
                  <a:srgbClr val="8A5A00"/>
                </a:solidFill>
                <a:latin typeface="Calibri" pitchFamily="34" charset="0"/>
              </a:rPr>
              <a:t>Mini-program deep links</a:t>
            </a:r>
          </a:p>
        </p:txBody>
      </p:sp>
      <p:sp>
        <p:nvSpPr>
          <p:cNvPr id="5220" name="TB"/>
          <p:cNvSpPr/>
          <p:nvPr/>
        </p:nvSpPr>
        <p:spPr>
          <a:xfrm>
            <a:off x="728640" y="4480000"/>
            <a:ext cx="10734720" cy="135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>
              <a:buNone/>
            </a:pPr>
            <a:r>
              <a:rPr lang="en-US" sz="1000" dirty="0">
                <a:solidFill>
                  <a:srgbClr val="1A2233"/>
                </a:solidFill>
                <a:latin typeface="Calibri" pitchFamily="34" charset="0"/>
              </a:rPr>
              <a:t>URL Scheme → weixin://dl/business/?t=&lt;TICKET&gt; (scene 1065). Since Dec 2023, plaintext form after</a:t>
            </a:r>
          </a:p>
          <a:p>
            <a:pPr>
              <a:buNone/>
            </a:pPr>
            <a:r>
              <a:rPr lang="en-US" sz="1000" dirty="0">
                <a:solidFill>
                  <a:srgbClr val="1A2233"/>
                </a:solidFill>
                <a:latin typeface="Calibri" pitchFamily="34" charset="0"/>
              </a:rPr>
              <a:t>declaration: weixin://dl/business/?appid=&lt;APPID&gt;&amp;path=&lt;PATH&gt;&amp;query=&lt;QUERY&gt;&amp;env_version=&lt;ENV&gt;</a:t>
            </a:r>
          </a:p>
          <a:p>
            <a:pPr>
              <a:buNone/>
            </a:pPr>
            <a:r>
              <a:rPr lang="en-US" sz="1000" dirty="0">
                <a:solidFill>
                  <a:srgbClr val="1A2233"/>
                </a:solidFill>
                <a:latin typeface="Calibri" pitchFamily="34" charset="0"/>
              </a:rPr>
              <a:t>(scene 1286). Android can't recognize the scheme directly — transits via an H5 page setting location.href.</a:t>
            </a:r>
          </a:p>
          <a:p>
            <a:pPr>
              <a:buNone/>
            </a:pPr>
            <a:r>
              <a:rPr lang="en-US" sz="1000" dirty="0">
                <a:solidFill>
                  <a:srgbClr val="1A2233"/>
                </a:solidFill>
                <a:latin typeface="Calibri" pitchFamily="34" charset="0"/>
              </a:rPr>
              <a:t>URL Link → https://wxaurl.cn/&lt;TICKET&gt; (HTTPS). Cap: 500,000 Scheme+Link/day, 3M/day open cap per program.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UPIParams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21" name="TB"/>
          <p:cNvSpPr/>
          <p:nvPr/>
        </p:nvSpPr>
        <p:spPr>
          <a:xfrm>
            <a:off x="548640" y="150000"/>
            <a:ext cx="11094720" cy="30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>
              <a:buNone/>
            </a:pPr>
            <a:r>
              <a:rPr lang="en-US" sz="1050" b="1" dirty="0">
                <a:solidFill>
                  <a:srgbClr val="C9A227"/>
                </a:solidFill>
                <a:latin typeface="Calibri" pitchFamily="34" charset="0"/>
              </a:rPr>
              <a:t>INDIA — UPI (NPCI)</a:t>
            </a:r>
          </a:p>
        </p:txBody>
      </p:sp>
      <p:sp>
        <p:nvSpPr>
          <p:cNvPr id="5222" name="TB"/>
          <p:cNvSpPr/>
          <p:nvPr/>
        </p:nvSpPr>
        <p:spPr>
          <a:xfrm>
            <a:off x="548640" y="650000"/>
            <a:ext cx="11094720" cy="56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>
              <a:buNone/>
            </a:pPr>
            <a:r>
              <a:rPr lang="en-US" sz="2000" b="1" dirty="0">
                <a:solidFill>
                  <a:srgbClr val="21295C"/>
                </a:solidFill>
                <a:latin typeface="Cambria" pitchFamily="34" charset="0"/>
              </a:rPr>
              <a:t>UPI Linking Specification Parameters</a:t>
            </a:r>
          </a:p>
        </p:txBody>
      </p:sp>
      <p:sp>
        <p:nvSpPr>
          <p:cNvPr id="5223" name="TB"/>
          <p:cNvSpPr/>
          <p:nvPr/>
        </p:nvSpPr>
        <p:spPr>
          <a:xfrm>
            <a:off x="548640" y="1200000"/>
            <a:ext cx="11094720" cy="38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>
              <a:buNone/>
            </a:pPr>
            <a:r>
              <a:rPr lang="en-US" sz="1150" i="1" dirty="0">
                <a:solidFill>
                  <a:srgbClr val="5B6B79"/>
                </a:solidFill>
                <a:latin typeface="Calibri" pitchFamily="34" charset="0"/>
              </a:rPr>
              <a:t>upi://pay?&lt;param&gt;=&lt;value&gt;&amp;... — every PSP app must listen for it (QR, intent, NFC, BLE)</a:t>
            </a:r>
          </a:p>
        </p:txBody>
      </p:sp>
      <p:sp>
        <p:nvSpPr>
          <p:cNvPr id="5224" name="THead"/>
          <p:cNvSpPr/>
          <p:nvPr/>
        </p:nvSpPr>
        <p:spPr>
          <a:xfrm>
            <a:off x="548640" y="1700000"/>
            <a:ext cx="2500000" cy="420000"/>
          </a:xfrm>
          <a:prstGeom prst="rect">
            <a:avLst/>
          </a:prstGeom>
          <a:solidFill>
            <a:srgbClr val="21295C"/>
          </a:solidFill>
          <a:ln>
            <a:noFill/>
          </a:ln>
        </p:spPr>
        <p:txBody>
          <a:bodyPr wrap="square" lIns="60000" tIns="30000" rIns="60000" bIns="3000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</a:rPr>
              <a:t>Param</a:t>
            </a:r>
          </a:p>
        </p:txBody>
      </p:sp>
      <p:sp>
        <p:nvSpPr>
          <p:cNvPr id="5225" name="THead"/>
          <p:cNvSpPr/>
          <p:nvPr/>
        </p:nvSpPr>
        <p:spPr>
          <a:xfrm>
            <a:off x="3048640" y="1700000"/>
            <a:ext cx="6994720" cy="420000"/>
          </a:xfrm>
          <a:prstGeom prst="rect">
            <a:avLst/>
          </a:prstGeom>
          <a:solidFill>
            <a:srgbClr val="21295C"/>
          </a:solidFill>
          <a:ln>
            <a:noFill/>
          </a:ln>
        </p:spPr>
        <p:txBody>
          <a:bodyPr wrap="square" lIns="60000" tIns="30000" rIns="60000" bIns="3000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</a:rPr>
              <a:t>Meaning</a:t>
            </a:r>
          </a:p>
        </p:txBody>
      </p:sp>
      <p:sp>
        <p:nvSpPr>
          <p:cNvPr id="5226" name="THead"/>
          <p:cNvSpPr/>
          <p:nvPr/>
        </p:nvSpPr>
        <p:spPr>
          <a:xfrm>
            <a:off x="10043360" y="1700000"/>
            <a:ext cx="1600000" cy="420000"/>
          </a:xfrm>
          <a:prstGeom prst="rect">
            <a:avLst/>
          </a:prstGeom>
          <a:solidFill>
            <a:srgbClr val="21295C"/>
          </a:solidFill>
          <a:ln>
            <a:noFill/>
          </a:ln>
        </p:spPr>
        <p:txBody>
          <a:bodyPr wrap="square" lIns="60000" tIns="30000" rIns="60000" bIns="3000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</a:rPr>
              <a:t>Req</a:t>
            </a:r>
          </a:p>
        </p:txBody>
      </p:sp>
      <p:sp>
        <p:nvSpPr>
          <p:cNvPr id="5227" name="TCell"/>
          <p:cNvSpPr/>
          <p:nvPr/>
        </p:nvSpPr>
        <p:spPr>
          <a:xfrm>
            <a:off x="548640" y="2120000"/>
            <a:ext cx="2500000" cy="4300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</p:spPr>
        <p:txBody>
          <a:bodyPr wrap="square" lIns="60000" tIns="25000" rIns="60000" bIns="2500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233"/>
                </a:solidFill>
                <a:latin typeface="Calibri" pitchFamily="34" charset="0"/>
              </a:rPr>
              <a:t>pa / pn</a:t>
            </a:r>
          </a:p>
        </p:txBody>
      </p:sp>
      <p:sp>
        <p:nvSpPr>
          <p:cNvPr id="5228" name="TCell"/>
          <p:cNvSpPr/>
          <p:nvPr/>
        </p:nvSpPr>
        <p:spPr>
          <a:xfrm>
            <a:off x="3048640" y="2120000"/>
            <a:ext cx="6994720" cy="4300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</p:spPr>
        <p:txBody>
          <a:bodyPr wrap="square" lIns="60000" tIns="25000" rIns="60000" bIns="2500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2233"/>
                </a:solidFill>
                <a:latin typeface="Calibri" pitchFamily="34" charset="0"/>
              </a:rPr>
              <a:t>Payee VPA / address, Payee name</a:t>
            </a:r>
          </a:p>
        </p:txBody>
      </p:sp>
      <p:sp>
        <p:nvSpPr>
          <p:cNvPr id="5229" name="TCell"/>
          <p:cNvSpPr/>
          <p:nvPr/>
        </p:nvSpPr>
        <p:spPr>
          <a:xfrm>
            <a:off x="10043360" y="2120000"/>
            <a:ext cx="1600000" cy="4300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</p:spPr>
        <p:txBody>
          <a:bodyPr wrap="square" lIns="60000" tIns="25000" rIns="60000" bIns="2500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2233"/>
                </a:solidFill>
                <a:latin typeface="Calibri" pitchFamily="34" charset="0"/>
              </a:rPr>
              <a:t>M</a:t>
            </a:r>
          </a:p>
        </p:txBody>
      </p:sp>
      <p:sp>
        <p:nvSpPr>
          <p:cNvPr id="5230" name="TCell"/>
          <p:cNvSpPr/>
          <p:nvPr/>
        </p:nvSpPr>
        <p:spPr>
          <a:xfrm>
            <a:off x="548640" y="2550000"/>
            <a:ext cx="2500000" cy="430000"/>
          </a:xfrm>
          <a:prstGeom prst="rect">
            <a:avLst/>
          </a:prstGeom>
          <a:solidFill>
            <a:srgbClr val="F5F8FA"/>
          </a:solidFill>
          <a:ln w="6350">
            <a:solidFill>
              <a:srgbClr val="D9D9D9"/>
            </a:solidFill>
          </a:ln>
        </p:spPr>
        <p:txBody>
          <a:bodyPr wrap="square" lIns="60000" tIns="25000" rIns="60000" bIns="2500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233"/>
                </a:solidFill>
                <a:latin typeface="Calibri" pitchFamily="34" charset="0"/>
              </a:rPr>
              <a:t>mc</a:t>
            </a:r>
          </a:p>
        </p:txBody>
      </p:sp>
      <p:sp>
        <p:nvSpPr>
          <p:cNvPr id="5231" name="TCell"/>
          <p:cNvSpPr/>
          <p:nvPr/>
        </p:nvSpPr>
        <p:spPr>
          <a:xfrm>
            <a:off x="3048640" y="2550000"/>
            <a:ext cx="6994720" cy="430000"/>
          </a:xfrm>
          <a:prstGeom prst="rect">
            <a:avLst/>
          </a:prstGeom>
          <a:solidFill>
            <a:srgbClr val="F5F8FA"/>
          </a:solidFill>
          <a:ln w="6350">
            <a:solidFill>
              <a:srgbClr val="D9D9D9"/>
            </a:solidFill>
          </a:ln>
        </p:spPr>
        <p:txBody>
          <a:bodyPr wrap="square" lIns="60000" tIns="25000" rIns="60000" bIns="2500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2233"/>
                </a:solidFill>
                <a:latin typeface="Calibri" pitchFamily="34" charset="0"/>
              </a:rPr>
              <a:t>Payee merchant code (MCC)</a:t>
            </a:r>
          </a:p>
        </p:txBody>
      </p:sp>
      <p:sp>
        <p:nvSpPr>
          <p:cNvPr id="5232" name="TCell"/>
          <p:cNvSpPr/>
          <p:nvPr/>
        </p:nvSpPr>
        <p:spPr>
          <a:xfrm>
            <a:off x="10043360" y="2550000"/>
            <a:ext cx="1600000" cy="430000"/>
          </a:xfrm>
          <a:prstGeom prst="rect">
            <a:avLst/>
          </a:prstGeom>
          <a:solidFill>
            <a:srgbClr val="F5F8FA"/>
          </a:solidFill>
          <a:ln w="6350">
            <a:solidFill>
              <a:srgbClr val="D9D9D9"/>
            </a:solidFill>
          </a:ln>
        </p:spPr>
        <p:txBody>
          <a:bodyPr wrap="square" lIns="60000" tIns="25000" rIns="60000" bIns="2500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2233"/>
                </a:solidFill>
                <a:latin typeface="Calibri" pitchFamily="34" charset="0"/>
              </a:rPr>
              <a:t>C</a:t>
            </a:r>
          </a:p>
        </p:txBody>
      </p:sp>
      <p:sp>
        <p:nvSpPr>
          <p:cNvPr id="5233" name="TCell"/>
          <p:cNvSpPr/>
          <p:nvPr/>
        </p:nvSpPr>
        <p:spPr>
          <a:xfrm>
            <a:off x="548640" y="2980000"/>
            <a:ext cx="2500000" cy="4300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</p:spPr>
        <p:txBody>
          <a:bodyPr wrap="square" lIns="60000" tIns="25000" rIns="60000" bIns="2500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233"/>
                </a:solidFill>
                <a:latin typeface="Calibri" pitchFamily="34" charset="0"/>
              </a:rPr>
              <a:t>tid / tr</a:t>
            </a:r>
          </a:p>
        </p:txBody>
      </p:sp>
      <p:sp>
        <p:nvSpPr>
          <p:cNvPr id="5234" name="TCell"/>
          <p:cNvSpPr/>
          <p:nvPr/>
        </p:nvSpPr>
        <p:spPr>
          <a:xfrm>
            <a:off x="3048640" y="2980000"/>
            <a:ext cx="6994720" cy="4300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</p:spPr>
        <p:txBody>
          <a:bodyPr wrap="square" lIns="60000" tIns="25000" rIns="60000" bIns="2500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2233"/>
                </a:solidFill>
                <a:latin typeface="Calibri" pitchFamily="34" charset="0"/>
              </a:rPr>
              <a:t>Transaction ID (PSP) / reference (order)</a:t>
            </a:r>
          </a:p>
        </p:txBody>
      </p:sp>
      <p:sp>
        <p:nvSpPr>
          <p:cNvPr id="5235" name="TCell"/>
          <p:cNvSpPr/>
          <p:nvPr/>
        </p:nvSpPr>
        <p:spPr>
          <a:xfrm>
            <a:off x="10043360" y="2980000"/>
            <a:ext cx="1600000" cy="4300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</p:spPr>
        <p:txBody>
          <a:bodyPr wrap="square" lIns="60000" tIns="25000" rIns="60000" bIns="2500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2233"/>
                </a:solidFill>
                <a:latin typeface="Calibri" pitchFamily="34" charset="0"/>
              </a:rPr>
              <a:t>C</a:t>
            </a:r>
          </a:p>
        </p:txBody>
      </p:sp>
      <p:sp>
        <p:nvSpPr>
          <p:cNvPr id="5236" name="TCell"/>
          <p:cNvSpPr/>
          <p:nvPr/>
        </p:nvSpPr>
        <p:spPr>
          <a:xfrm>
            <a:off x="548640" y="3410000"/>
            <a:ext cx="2500000" cy="430000"/>
          </a:xfrm>
          <a:prstGeom prst="rect">
            <a:avLst/>
          </a:prstGeom>
          <a:solidFill>
            <a:srgbClr val="F5F8FA"/>
          </a:solidFill>
          <a:ln w="6350">
            <a:solidFill>
              <a:srgbClr val="D9D9D9"/>
            </a:solidFill>
          </a:ln>
        </p:spPr>
        <p:txBody>
          <a:bodyPr wrap="square" lIns="60000" tIns="25000" rIns="60000" bIns="2500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233"/>
                </a:solidFill>
                <a:latin typeface="Calibri" pitchFamily="34" charset="0"/>
              </a:rPr>
              <a:t>am / mam</a:t>
            </a:r>
          </a:p>
        </p:txBody>
      </p:sp>
      <p:sp>
        <p:nvSpPr>
          <p:cNvPr id="5237" name="TCell"/>
          <p:cNvSpPr/>
          <p:nvPr/>
        </p:nvSpPr>
        <p:spPr>
          <a:xfrm>
            <a:off x="3048640" y="3410000"/>
            <a:ext cx="6994720" cy="430000"/>
          </a:xfrm>
          <a:prstGeom prst="rect">
            <a:avLst/>
          </a:prstGeom>
          <a:solidFill>
            <a:srgbClr val="F5F8FA"/>
          </a:solidFill>
          <a:ln w="6350">
            <a:solidFill>
              <a:srgbClr val="D9D9D9"/>
            </a:solidFill>
          </a:ln>
        </p:spPr>
        <p:txBody>
          <a:bodyPr wrap="square" lIns="60000" tIns="25000" rIns="60000" bIns="2500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2233"/>
                </a:solidFill>
                <a:latin typeface="Calibri" pitchFamily="34" charset="0"/>
              </a:rPr>
              <a:t>Amount / minimum amount (mam=null ⇒ fixed)</a:t>
            </a:r>
          </a:p>
        </p:txBody>
      </p:sp>
      <p:sp>
        <p:nvSpPr>
          <p:cNvPr id="5238" name="TCell"/>
          <p:cNvSpPr/>
          <p:nvPr/>
        </p:nvSpPr>
        <p:spPr>
          <a:xfrm>
            <a:off x="10043360" y="3410000"/>
            <a:ext cx="1600000" cy="430000"/>
          </a:xfrm>
          <a:prstGeom prst="rect">
            <a:avLst/>
          </a:prstGeom>
          <a:solidFill>
            <a:srgbClr val="F5F8FA"/>
          </a:solidFill>
          <a:ln w="6350">
            <a:solidFill>
              <a:srgbClr val="D9D9D9"/>
            </a:solidFill>
          </a:ln>
        </p:spPr>
        <p:txBody>
          <a:bodyPr wrap="square" lIns="60000" tIns="25000" rIns="60000" bIns="2500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2233"/>
                </a:solidFill>
                <a:latin typeface="Calibri" pitchFamily="34" charset="0"/>
              </a:rPr>
              <a:t>O/C</a:t>
            </a:r>
          </a:p>
        </p:txBody>
      </p:sp>
      <p:sp>
        <p:nvSpPr>
          <p:cNvPr id="5239" name="TCell"/>
          <p:cNvSpPr/>
          <p:nvPr/>
        </p:nvSpPr>
        <p:spPr>
          <a:xfrm>
            <a:off x="548640" y="3840000"/>
            <a:ext cx="2500000" cy="4300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</p:spPr>
        <p:txBody>
          <a:bodyPr wrap="square" lIns="60000" tIns="25000" rIns="60000" bIns="2500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233"/>
                </a:solidFill>
                <a:latin typeface="Calibri" pitchFamily="34" charset="0"/>
              </a:rPr>
              <a:t>cu</a:t>
            </a:r>
          </a:p>
        </p:txBody>
      </p:sp>
      <p:sp>
        <p:nvSpPr>
          <p:cNvPr id="5240" name="TCell"/>
          <p:cNvSpPr/>
          <p:nvPr/>
        </p:nvSpPr>
        <p:spPr>
          <a:xfrm>
            <a:off x="3048640" y="3840000"/>
            <a:ext cx="6994720" cy="4300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</p:spPr>
        <p:txBody>
          <a:bodyPr wrap="square" lIns="60000" tIns="25000" rIns="60000" bIns="2500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2233"/>
                </a:solidFill>
                <a:latin typeface="Calibri" pitchFamily="34" charset="0"/>
              </a:rPr>
              <a:t>Currency — only INR</a:t>
            </a:r>
          </a:p>
        </p:txBody>
      </p:sp>
      <p:sp>
        <p:nvSpPr>
          <p:cNvPr id="5241" name="TCell"/>
          <p:cNvSpPr/>
          <p:nvPr/>
        </p:nvSpPr>
        <p:spPr>
          <a:xfrm>
            <a:off x="10043360" y="3840000"/>
            <a:ext cx="1600000" cy="4300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</p:spPr>
        <p:txBody>
          <a:bodyPr wrap="square" lIns="60000" tIns="25000" rIns="60000" bIns="2500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2233"/>
                </a:solidFill>
                <a:latin typeface="Calibri" pitchFamily="34" charset="0"/>
              </a:rPr>
              <a:t>M</a:t>
            </a:r>
          </a:p>
        </p:txBody>
      </p:sp>
      <p:sp>
        <p:nvSpPr>
          <p:cNvPr id="5242" name="TCell"/>
          <p:cNvSpPr/>
          <p:nvPr/>
        </p:nvSpPr>
        <p:spPr>
          <a:xfrm>
            <a:off x="548640" y="4270000"/>
            <a:ext cx="2500000" cy="430000"/>
          </a:xfrm>
          <a:prstGeom prst="rect">
            <a:avLst/>
          </a:prstGeom>
          <a:solidFill>
            <a:srgbClr val="F5F8FA"/>
          </a:solidFill>
          <a:ln w="6350">
            <a:solidFill>
              <a:srgbClr val="D9D9D9"/>
            </a:solidFill>
          </a:ln>
        </p:spPr>
        <p:txBody>
          <a:bodyPr wrap="square" lIns="60000" tIns="25000" rIns="60000" bIns="2500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233"/>
                </a:solidFill>
                <a:latin typeface="Calibri" pitchFamily="34" charset="0"/>
              </a:rPr>
              <a:t>mode</a:t>
            </a:r>
          </a:p>
        </p:txBody>
      </p:sp>
      <p:sp>
        <p:nvSpPr>
          <p:cNvPr id="5243" name="TCell"/>
          <p:cNvSpPr/>
          <p:nvPr/>
        </p:nvSpPr>
        <p:spPr>
          <a:xfrm>
            <a:off x="3048640" y="4270000"/>
            <a:ext cx="6994720" cy="430000"/>
          </a:xfrm>
          <a:prstGeom prst="rect">
            <a:avLst/>
          </a:prstGeom>
          <a:solidFill>
            <a:srgbClr val="F5F8FA"/>
          </a:solidFill>
          <a:ln w="6350">
            <a:solidFill>
              <a:srgbClr val="D9D9D9"/>
            </a:solidFill>
          </a:ln>
        </p:spPr>
        <p:txBody>
          <a:bodyPr wrap="square" lIns="60000" tIns="25000" rIns="60000" bIns="2500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2233"/>
                </a:solidFill>
                <a:latin typeface="Calibri" pitchFamily="34" charset="0"/>
              </a:rPr>
              <a:t>05 dynamic-QR intent · 15 SEBI IPO/ASBA</a:t>
            </a:r>
          </a:p>
        </p:txBody>
      </p:sp>
      <p:sp>
        <p:nvSpPr>
          <p:cNvPr id="5244" name="TCell"/>
          <p:cNvSpPr/>
          <p:nvPr/>
        </p:nvSpPr>
        <p:spPr>
          <a:xfrm>
            <a:off x="10043360" y="4270000"/>
            <a:ext cx="1600000" cy="430000"/>
          </a:xfrm>
          <a:prstGeom prst="rect">
            <a:avLst/>
          </a:prstGeom>
          <a:solidFill>
            <a:srgbClr val="F5F8FA"/>
          </a:solidFill>
          <a:ln w="6350">
            <a:solidFill>
              <a:srgbClr val="D9D9D9"/>
            </a:solidFill>
          </a:ln>
        </p:spPr>
        <p:txBody>
          <a:bodyPr wrap="square" lIns="60000" tIns="25000" rIns="60000" bIns="2500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2233"/>
                </a:solidFill>
                <a:latin typeface="Calibri" pitchFamily="34" charset="0"/>
              </a:rPr>
              <a:t>O</a:t>
            </a:r>
          </a:p>
        </p:txBody>
      </p:sp>
      <p:sp>
        <p:nvSpPr>
          <p:cNvPr id="5245" name="TCell"/>
          <p:cNvSpPr/>
          <p:nvPr/>
        </p:nvSpPr>
        <p:spPr>
          <a:xfrm>
            <a:off x="548640" y="4700000"/>
            <a:ext cx="2500000" cy="4300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</p:spPr>
        <p:txBody>
          <a:bodyPr wrap="square" lIns="60000" tIns="25000" rIns="60000" bIns="2500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233"/>
                </a:solidFill>
                <a:latin typeface="Calibri" pitchFamily="34" charset="0"/>
              </a:rPr>
              <a:t>orgid</a:t>
            </a:r>
          </a:p>
        </p:txBody>
      </p:sp>
      <p:sp>
        <p:nvSpPr>
          <p:cNvPr id="5246" name="TCell"/>
          <p:cNvSpPr/>
          <p:nvPr/>
        </p:nvSpPr>
        <p:spPr>
          <a:xfrm>
            <a:off x="3048640" y="4700000"/>
            <a:ext cx="6994720" cy="4300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</p:spPr>
        <p:txBody>
          <a:bodyPr wrap="square" lIns="60000" tIns="25000" rIns="60000" bIns="2500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2233"/>
                </a:solidFill>
                <a:latin typeface="Calibri" pitchFamily="34" charset="0"/>
              </a:rPr>
              <a:t>000000 for merchant-generated intents</a:t>
            </a:r>
          </a:p>
        </p:txBody>
      </p:sp>
      <p:sp>
        <p:nvSpPr>
          <p:cNvPr id="5247" name="TCell"/>
          <p:cNvSpPr/>
          <p:nvPr/>
        </p:nvSpPr>
        <p:spPr>
          <a:xfrm>
            <a:off x="10043360" y="4700000"/>
            <a:ext cx="1600000" cy="4300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</p:spPr>
        <p:txBody>
          <a:bodyPr wrap="square" lIns="60000" tIns="25000" rIns="60000" bIns="2500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2233"/>
                </a:solidFill>
                <a:latin typeface="Calibri" pitchFamily="34" charset="0"/>
              </a:rPr>
              <a:t>O</a:t>
            </a:r>
          </a:p>
        </p:txBody>
      </p:sp>
      <p:sp>
        <p:nvSpPr>
          <p:cNvPr id="5248" name="TCell"/>
          <p:cNvSpPr/>
          <p:nvPr/>
        </p:nvSpPr>
        <p:spPr>
          <a:xfrm>
            <a:off x="548640" y="5130000"/>
            <a:ext cx="2500000" cy="430000"/>
          </a:xfrm>
          <a:prstGeom prst="rect">
            <a:avLst/>
          </a:prstGeom>
          <a:solidFill>
            <a:srgbClr val="F5F8FA"/>
          </a:solidFill>
          <a:ln w="6350">
            <a:solidFill>
              <a:srgbClr val="D9D9D9"/>
            </a:solidFill>
          </a:ln>
        </p:spPr>
        <p:txBody>
          <a:bodyPr wrap="square" lIns="60000" tIns="25000" rIns="60000" bIns="2500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233"/>
                </a:solidFill>
                <a:latin typeface="Calibri" pitchFamily="34" charset="0"/>
              </a:rPr>
              <a:t>sign</a:t>
            </a:r>
          </a:p>
        </p:txBody>
      </p:sp>
      <p:sp>
        <p:nvSpPr>
          <p:cNvPr id="5249" name="TCell"/>
          <p:cNvSpPr/>
          <p:nvPr/>
        </p:nvSpPr>
        <p:spPr>
          <a:xfrm>
            <a:off x="3048640" y="5130000"/>
            <a:ext cx="6994720" cy="430000"/>
          </a:xfrm>
          <a:prstGeom prst="rect">
            <a:avLst/>
          </a:prstGeom>
          <a:solidFill>
            <a:srgbClr val="F5F8FA"/>
          </a:solidFill>
          <a:ln w="6350">
            <a:solidFill>
              <a:srgbClr val="D9D9D9"/>
            </a:solidFill>
          </a:ln>
        </p:spPr>
        <p:txBody>
          <a:bodyPr wrap="square" lIns="60000" tIns="25000" rIns="60000" bIns="2500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2233"/>
                </a:solidFill>
                <a:latin typeface="Calibri" pitchFamily="34" charset="0"/>
              </a:rPr>
              <a:t>Base64 signature over the intent</a:t>
            </a:r>
          </a:p>
        </p:txBody>
      </p:sp>
      <p:sp>
        <p:nvSpPr>
          <p:cNvPr id="5250" name="TCell"/>
          <p:cNvSpPr/>
          <p:nvPr/>
        </p:nvSpPr>
        <p:spPr>
          <a:xfrm>
            <a:off x="10043360" y="5130000"/>
            <a:ext cx="1600000" cy="430000"/>
          </a:xfrm>
          <a:prstGeom prst="rect">
            <a:avLst/>
          </a:prstGeom>
          <a:solidFill>
            <a:srgbClr val="F5F8FA"/>
          </a:solidFill>
          <a:ln w="6350">
            <a:solidFill>
              <a:srgbClr val="D9D9D9"/>
            </a:solidFill>
          </a:ln>
        </p:spPr>
        <p:txBody>
          <a:bodyPr wrap="square" lIns="60000" tIns="25000" rIns="60000" bIns="2500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2233"/>
                </a:solidFill>
                <a:latin typeface="Calibri" pitchFamily="34" charset="0"/>
              </a:rPr>
              <a:t>O</a:t>
            </a:r>
          </a:p>
        </p:txBody>
      </p:sp>
      <p:sp>
        <p:nvSpPr>
          <p:cNvPr id="5251" name="TCell"/>
          <p:cNvSpPr/>
          <p:nvPr/>
        </p:nvSpPr>
        <p:spPr>
          <a:xfrm>
            <a:off x="548640" y="5560000"/>
            <a:ext cx="2500000" cy="4300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</p:spPr>
        <p:txBody>
          <a:bodyPr wrap="square" lIns="60000" tIns="25000" rIns="60000" bIns="2500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233"/>
                </a:solidFill>
                <a:latin typeface="Calibri" pitchFamily="34" charset="0"/>
              </a:rPr>
              <a:t>mid / msid / mtid</a:t>
            </a:r>
          </a:p>
        </p:txBody>
      </p:sp>
      <p:sp>
        <p:nvSpPr>
          <p:cNvPr id="5252" name="TCell"/>
          <p:cNvSpPr/>
          <p:nvPr/>
        </p:nvSpPr>
        <p:spPr>
          <a:xfrm>
            <a:off x="3048640" y="5560000"/>
            <a:ext cx="6994720" cy="4300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</p:spPr>
        <p:txBody>
          <a:bodyPr wrap="square" lIns="60000" tIns="25000" rIns="60000" bIns="2500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2233"/>
                </a:solidFill>
                <a:latin typeface="Calibri" pitchFamily="34" charset="0"/>
              </a:rPr>
              <a:t>Merchant / sub-merchant / terminal IDs</a:t>
            </a:r>
          </a:p>
        </p:txBody>
      </p:sp>
      <p:sp>
        <p:nvSpPr>
          <p:cNvPr id="5253" name="TCell"/>
          <p:cNvSpPr/>
          <p:nvPr/>
        </p:nvSpPr>
        <p:spPr>
          <a:xfrm>
            <a:off x="10043360" y="5560000"/>
            <a:ext cx="1600000" cy="4300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</p:spPr>
        <p:txBody>
          <a:bodyPr wrap="square" lIns="60000" tIns="25000" rIns="60000" bIns="2500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2233"/>
                </a:solidFill>
                <a:latin typeface="Calibri" pitchFamily="34" charset="0"/>
              </a:rPr>
              <a:t>O</a:t>
            </a:r>
          </a:p>
        </p:txBody>
      </p:sp>
      <p:sp>
        <p:nvSpPr>
          <p:cNvPr id="5254" name="TB"/>
          <p:cNvSpPr/>
          <p:nvPr/>
        </p:nvSpPr>
        <p:spPr>
          <a:xfrm>
            <a:off x="548640" y="6550000"/>
            <a:ext cx="11094720" cy="25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>
              <a:buNone/>
            </a:pPr>
            <a:r>
              <a:rPr lang="en-US" sz="900" i="1" dirty="0">
                <a:solidFill>
                  <a:srgbClr val="5B6B79"/>
                </a:solidFill>
                <a:latin typeface="Calibri" pitchFamily="34" charset="0"/>
              </a:rPr>
              <a:t>Source: NPCI UPI Linking Specifications v1.6/v1.7 (as reproduced by labnol, Juspay, Google Pay India)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UPISigning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55" name="TB"/>
          <p:cNvSpPr/>
          <p:nvPr/>
        </p:nvSpPr>
        <p:spPr>
          <a:xfrm>
            <a:off x="548640" y="150000"/>
            <a:ext cx="11094720" cy="30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>
              <a:buNone/>
            </a:pPr>
            <a:r>
              <a:rPr lang="en-US" sz="1050" b="1" dirty="0">
                <a:solidFill>
                  <a:srgbClr val="C9A227"/>
                </a:solidFill>
                <a:latin typeface="Calibri" pitchFamily="34" charset="0"/>
              </a:rPr>
              <a:t>INDIA — UPI (NPCI)</a:t>
            </a:r>
          </a:p>
        </p:txBody>
      </p:sp>
      <p:sp>
        <p:nvSpPr>
          <p:cNvPr id="5256" name="TB"/>
          <p:cNvSpPr/>
          <p:nvPr/>
        </p:nvSpPr>
        <p:spPr>
          <a:xfrm>
            <a:off x="548640" y="650000"/>
            <a:ext cx="11094720" cy="56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>
              <a:buNone/>
            </a:pPr>
            <a:r>
              <a:rPr lang="en-US" sz="2000" b="1" dirty="0">
                <a:solidFill>
                  <a:srgbClr val="21295C"/>
                </a:solidFill>
                <a:latin typeface="Cambria" pitchFamily="34" charset="0"/>
              </a:rPr>
              <a:t>Signature Construction: SHA256withRSA</a:t>
            </a:r>
          </a:p>
        </p:txBody>
      </p:sp>
      <p:sp>
        <p:nvSpPr>
          <p:cNvPr id="5257" name="Box"/>
          <p:cNvSpPr/>
          <p:nvPr/>
        </p:nvSpPr>
        <p:spPr>
          <a:xfrm>
            <a:off x="548640" y="1500000"/>
            <a:ext cx="11094720" cy="1100000"/>
          </a:xfrm>
          <a:prstGeom prst="roundRect">
            <a:avLst>
              <a:gd name="adj" fmla="val 2500"/>
            </a:avLst>
          </a:prstGeom>
          <a:solidFill>
            <a:srgbClr val="F5F8FA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5258" name="TB"/>
          <p:cNvSpPr/>
          <p:nvPr/>
        </p:nvSpPr>
        <p:spPr>
          <a:xfrm>
            <a:off x="728640" y="1620000"/>
            <a:ext cx="10734720" cy="30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>
              <a:buNone/>
            </a:pPr>
            <a:r>
              <a:rPr lang="en-US" sz="1150" b="1" dirty="0">
                <a:solidFill>
                  <a:srgbClr val="065A82"/>
                </a:solidFill>
                <a:latin typeface="Calibri" pitchFamily="34" charset="0"/>
              </a:rPr>
              <a:t>Per NPCI UPI Linking Specifications v1.6 (Nov 2017)</a:t>
            </a:r>
          </a:p>
        </p:txBody>
      </p:sp>
      <p:sp>
        <p:nvSpPr>
          <p:cNvPr id="5259" name="TB"/>
          <p:cNvSpPr/>
          <p:nvPr/>
        </p:nvSpPr>
        <p:spPr>
          <a:xfrm>
            <a:off x="728640" y="1930000"/>
            <a:ext cx="10734720" cy="55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>
              <a:buNone/>
            </a:pPr>
            <a:r>
              <a:rPr lang="en-US" sz="1050" dirty="0">
                <a:solidFill>
                  <a:srgbClr val="1A2233"/>
                </a:solidFill>
                <a:latin typeface="Calibri" pitchFamily="34" charset="0"/>
              </a:rPr>
              <a:t>The payee PSP signs the intent with its private key using SHA256withRSA. The entire string except &amp;sign= is</a:t>
            </a:r>
          </a:p>
          <a:p>
            <a:pPr>
              <a:buNone/>
            </a:pPr>
            <a:r>
              <a:rPr lang="en-US" sz="1050" dirty="0">
                <a:solidFill>
                  <a:srgbClr val="1A2233"/>
                </a:solidFill>
                <a:latin typeface="Calibri" pitchFamily="34" charset="0"/>
              </a:rPr>
              <a:t>passed to the signing function; the Base64 output is appended as sign=. Verification uses the public key</a:t>
            </a:r>
          </a:p>
          <a:p>
            <a:pPr>
              <a:buNone/>
            </a:pPr>
            <a:r>
              <a:rPr lang="en-US" sz="1050" dirty="0">
                <a:solidFill>
                  <a:srgbClr val="1A2233"/>
                </a:solidFill>
                <a:latin typeface="Calibri" pitchFamily="34" charset="0"/>
              </a:rPr>
              <a:t>looked up via the List Keys API, keyed on orgid — orgid=000000 is reserved for merchant-generated intents.</a:t>
            </a:r>
          </a:p>
        </p:txBody>
      </p:sp>
      <p:sp>
        <p:nvSpPr>
          <p:cNvPr id="5260" name="Box"/>
          <p:cNvSpPr/>
          <p:nvPr/>
        </p:nvSpPr>
        <p:spPr>
          <a:xfrm>
            <a:off x="548640" y="2800000"/>
            <a:ext cx="11094720" cy="2200000"/>
          </a:xfrm>
          <a:prstGeom prst="roundRect">
            <a:avLst>
              <a:gd name="adj" fmla="val 3000"/>
            </a:avLst>
          </a:prstGeom>
          <a:solidFill>
            <a:srgbClr val="21295C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5261" name="TB"/>
          <p:cNvSpPr/>
          <p:nvPr/>
        </p:nvSpPr>
        <p:spPr>
          <a:xfrm>
            <a:off x="748640" y="2930000"/>
            <a:ext cx="10694720" cy="30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>
              <a:buNone/>
            </a:pPr>
            <a:r>
              <a:rPr lang="en-US" sz="1150" b="1" dirty="0">
                <a:solidFill>
                  <a:srgbClr val="5EEAD4"/>
                </a:solidFill>
                <a:latin typeface="Calibri" pitchFamily="34" charset="0"/>
              </a:rPr>
              <a:t>Canonical signed string</a:t>
            </a:r>
          </a:p>
        </p:txBody>
      </p:sp>
      <p:sp>
        <p:nvSpPr>
          <p:cNvPr id="5262" name="TB"/>
          <p:cNvSpPr/>
          <p:nvPr/>
        </p:nvSpPr>
        <p:spPr>
          <a:xfrm>
            <a:off x="748640" y="3260000"/>
            <a:ext cx="10694720" cy="162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>
              <a:buNone/>
            </a:pPr>
            <a:r>
              <a:rPr lang="en-US" sz="1100" dirty="0">
                <a:solidFill>
                  <a:srgbClr val="E8ECEF"/>
                </a:solidFill>
                <a:latin typeface="Courier New" pitchFamily="34" charset="0"/>
              </a:rPr>
              <a:t>upi://pay?pa=bivek@npci&amp;pn=bivek rath&amp;mc=9999&amp;tid=...</a:t>
            </a:r>
          </a:p>
          <a:p>
            <a:pPr>
              <a:buNone/>
            </a:pPr>
            <a:r>
              <a:rPr lang="en-US" sz="1100" dirty="0">
                <a:solidFill>
                  <a:srgbClr val="E8ECEF"/>
                </a:solidFill>
                <a:latin typeface="Courier New" pitchFamily="34" charset="0"/>
              </a:rPr>
              <a:t>  &amp;tr=...&amp;tn=Pay to mystar store&amp;am=10&amp;mam=null&amp;cu=INR</a:t>
            </a:r>
          </a:p>
          <a:p>
            <a:pPr>
              <a:buNone/>
            </a:pPr>
            <a:r>
              <a:rPr lang="en-US" sz="1100" dirty="0">
                <a:solidFill>
                  <a:srgbClr val="E8ECEF"/>
                </a:solidFill>
                <a:latin typeface="Courier New" pitchFamily="34" charset="0"/>
              </a:rPr>
              <a:t>  &amp;url=https://mystar.com&amp;mode=05&amp;orgid=000000</a:t>
            </a:r>
          </a:p>
          <a:p>
            <a:pPr>
              <a:buNone/>
            </a:pPr>
            <a:r>
              <a:rPr lang="en-US" sz="1100" dirty="0">
                <a:solidFill>
                  <a:srgbClr val="E8ECEF"/>
                </a:solidFill>
                <a:latin typeface="Courier New" pitchFamily="34" charset="0"/>
              </a:rPr>
              <a:t>  &amp;mid=1234&amp;msid=3432&amp;mtid=1212&amp;sign=&lt;base64&gt;</a:t>
            </a:r>
          </a:p>
        </p:txBody>
      </p:sp>
      <p:sp>
        <p:nvSpPr>
          <p:cNvPr id="5263" name="TB"/>
          <p:cNvSpPr/>
          <p:nvPr/>
        </p:nvSpPr>
        <p:spPr>
          <a:xfrm>
            <a:off x="548640" y="6550000"/>
            <a:ext cx="11094720" cy="25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>
              <a:buNone/>
            </a:pPr>
            <a:r>
              <a:rPr lang="en-US" sz="900" i="1" dirty="0">
                <a:solidFill>
                  <a:srgbClr val="5B6B79"/>
                </a:solidFill>
                <a:latin typeface="Calibri" pitchFamily="34" charset="0"/>
              </a:rPr>
              <a:t>Source: NPCI UPI Linking Specifications v1.6/v1.7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UPIIntentAndroid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64" name="TB"/>
          <p:cNvSpPr/>
          <p:nvPr/>
        </p:nvSpPr>
        <p:spPr>
          <a:xfrm>
            <a:off x="548640" y="150000"/>
            <a:ext cx="11094720" cy="30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>
              <a:buNone/>
            </a:pPr>
            <a:r>
              <a:rPr lang="en-US" sz="1050" b="1" dirty="0">
                <a:solidFill>
                  <a:srgbClr val="C9A227"/>
                </a:solidFill>
                <a:latin typeface="Calibri" pitchFamily="34" charset="0"/>
              </a:rPr>
              <a:t>INDIA — UPI (NPCI)  ·  DIRECT PARALLEL TO THIS PROJECT</a:t>
            </a:r>
          </a:p>
        </p:txBody>
      </p:sp>
      <p:sp>
        <p:nvSpPr>
          <p:cNvPr id="5265" name="TB"/>
          <p:cNvSpPr/>
          <p:nvPr/>
        </p:nvSpPr>
        <p:spPr>
          <a:xfrm>
            <a:off x="548640" y="650000"/>
            <a:ext cx="11094720" cy="56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>
              <a:buNone/>
            </a:pPr>
            <a:r>
              <a:rPr lang="en-US" sz="2000" b="1" dirty="0">
                <a:solidFill>
                  <a:srgbClr val="21295C"/>
                </a:solidFill>
                <a:latin typeface="Cambria" pitchFamily="34" charset="0"/>
              </a:rPr>
              <a:t>Intent, Collect &amp; QR — Android/iOS Specifics</a:t>
            </a:r>
          </a:p>
        </p:txBody>
      </p:sp>
      <p:sp>
        <p:nvSpPr>
          <p:cNvPr id="5266" name="Box"/>
          <p:cNvSpPr/>
          <p:nvPr/>
        </p:nvSpPr>
        <p:spPr>
          <a:xfrm>
            <a:off x="548640" y="1500000"/>
            <a:ext cx="5450000" cy="2450000"/>
          </a:xfrm>
          <a:prstGeom prst="roundRect">
            <a:avLst>
              <a:gd name="adj" fmla="val 2500"/>
            </a:avLst>
          </a:prstGeom>
          <a:solidFill>
            <a:srgbClr val="F5F8FA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5267" name="TB"/>
          <p:cNvSpPr/>
          <p:nvPr/>
        </p:nvSpPr>
        <p:spPr>
          <a:xfrm>
            <a:off x="728640" y="1620000"/>
            <a:ext cx="5090000" cy="30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>
              <a:buNone/>
            </a:pPr>
            <a:r>
              <a:rPr lang="en-US" sz="1150" b="1" dirty="0">
                <a:solidFill>
                  <a:srgbClr val="065A82"/>
                </a:solidFill>
                <a:latin typeface="Calibri" pitchFamily="34" charset="0"/>
              </a:rPr>
              <a:t>Intent (push) / Collect (pull) / QR</a:t>
            </a:r>
          </a:p>
        </p:txBody>
      </p:sp>
      <p:sp>
        <p:nvSpPr>
          <p:cNvPr id="5268" name="TB"/>
          <p:cNvSpPr/>
          <p:nvPr/>
        </p:nvSpPr>
        <p:spPr>
          <a:xfrm>
            <a:off x="728640" y="1930000"/>
            <a:ext cx="5090000" cy="190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>
              <a:buNone/>
            </a:pPr>
            <a:r>
              <a:rPr lang="en-US" sz="1050" dirty="0">
                <a:solidFill>
                  <a:srgbClr val="1A2233"/>
                </a:solidFill>
                <a:latin typeface="Calibri" pitchFamily="34" charset="0"/>
              </a:rPr>
              <a:t>Intent: merchant app or QR hands a</a:t>
            </a:r>
          </a:p>
          <a:p>
            <a:pPr>
              <a:buNone/>
            </a:pPr>
            <a:r>
              <a:rPr lang="en-US" sz="1050" dirty="0">
                <a:solidFill>
                  <a:srgbClr val="1A2233"/>
                </a:solidFill>
                <a:latin typeface="Calibri" pitchFamily="34" charset="0"/>
              </a:rPr>
              <a:t>upi://pay URI to a chosen PSP app</a:t>
            </a:r>
          </a:p>
          <a:p>
            <a:pPr>
              <a:buNone/>
            </a:pPr>
            <a:r>
              <a:rPr lang="en-US" sz="1050" dirty="0">
                <a:solidFill>
                  <a:srgbClr val="1A2233"/>
                </a:solidFill>
                <a:latin typeface="Calibri" pitchFamily="34" charset="0"/>
              </a:rPr>
              <a:t>on-device; payer authenticates</a:t>
            </a:r>
          </a:p>
          <a:p>
            <a:pPr>
              <a:buNone/>
            </a:pPr>
            <a:r>
              <a:rPr lang="en-US" sz="1050" dirty="0">
                <a:solidFill>
                  <a:srgbClr val="1A2233"/>
                </a:solidFill>
                <a:latin typeface="Calibri" pitchFamily="34" charset="0"/>
              </a:rPr>
              <a:t>with UPI PIN.</a:t>
            </a:r>
          </a:p>
          <a:p>
            <a:pPr>
              <a:buNone/>
            </a:pPr>
            <a:r>
              <a:rPr lang="en-US" sz="1050" dirty="0">
                <a:solidFill>
                  <a:srgbClr val="1A2233"/>
                </a:solidFill>
                <a:latin typeface="Calibri" pitchFamily="34" charset="0"/>
              </a:rPr>
              <a:t>Collect: payee sends a collect</a:t>
            </a:r>
          </a:p>
          <a:p>
            <a:pPr>
              <a:buNone/>
            </a:pPr>
            <a:r>
              <a:rPr lang="en-US" sz="1050" dirty="0">
                <a:solidFill>
                  <a:srgbClr val="1A2233"/>
                </a:solidFill>
                <a:latin typeface="Calibri" pitchFamily="34" charset="0"/>
              </a:rPr>
              <a:t>request via the NPCI switch to the</a:t>
            </a:r>
          </a:p>
          <a:p>
            <a:pPr>
              <a:buNone/>
            </a:pPr>
            <a:r>
              <a:rPr lang="en-US" sz="1050" dirty="0">
                <a:solidFill>
                  <a:srgbClr val="1A2233"/>
                </a:solidFill>
                <a:latin typeface="Calibri" pitchFamily="34" charset="0"/>
              </a:rPr>
              <a:t>payer's PSP.</a:t>
            </a:r>
          </a:p>
          <a:p>
            <a:pPr>
              <a:buNone/>
            </a:pPr>
            <a:r>
              <a:rPr lang="en-US" sz="1050" dirty="0">
                <a:solidFill>
                  <a:srgbClr val="1A2233"/>
                </a:solidFill>
                <a:latin typeface="Calibri" pitchFamily="34" charset="0"/>
              </a:rPr>
              <a:t>QR: static (user enters amount) or</a:t>
            </a:r>
          </a:p>
          <a:p>
            <a:pPr>
              <a:buNone/>
            </a:pPr>
            <a:r>
              <a:rPr lang="en-US" sz="1050" dirty="0">
                <a:solidFill>
                  <a:srgbClr val="1A2233"/>
                </a:solidFill>
                <a:latin typeface="Calibri" pitchFamily="34" charset="0"/>
              </a:rPr>
              <a:t>dynamic (adds am, tr, sign).</a:t>
            </a:r>
          </a:p>
        </p:txBody>
      </p:sp>
      <p:sp>
        <p:nvSpPr>
          <p:cNvPr id="5269" name="Box"/>
          <p:cNvSpPr/>
          <p:nvPr/>
        </p:nvSpPr>
        <p:spPr>
          <a:xfrm>
            <a:off x="6193360" y="1500000"/>
            <a:ext cx="5450000" cy="2450000"/>
          </a:xfrm>
          <a:prstGeom prst="roundRect">
            <a:avLst>
              <a:gd name="adj" fmla="val 3000"/>
            </a:avLst>
          </a:prstGeom>
          <a:solidFill>
            <a:srgbClr val="21295C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5270" name="TB"/>
          <p:cNvSpPr/>
          <p:nvPr/>
        </p:nvSpPr>
        <p:spPr>
          <a:xfrm>
            <a:off x="6393360" y="1630000"/>
            <a:ext cx="5050000" cy="30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>
              <a:buNone/>
            </a:pPr>
            <a:r>
              <a:rPr lang="en-US" sz="1150" b="1" dirty="0">
                <a:solidFill>
                  <a:srgbClr val="5EEAD4"/>
                </a:solidFill>
                <a:latin typeface="Calibri" pitchFamily="34" charset="0"/>
              </a:rPr>
              <a:t>Android specifics</a:t>
            </a:r>
          </a:p>
        </p:txBody>
      </p:sp>
      <p:sp>
        <p:nvSpPr>
          <p:cNvPr id="5271" name="TB"/>
          <p:cNvSpPr/>
          <p:nvPr/>
        </p:nvSpPr>
        <p:spPr>
          <a:xfrm>
            <a:off x="6393360" y="1960000"/>
            <a:ext cx="5050000" cy="187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>
              <a:buNone/>
            </a:pPr>
            <a:r>
              <a:rPr lang="en-US" sz="1000" dirty="0">
                <a:solidFill>
                  <a:srgbClr val="E8ECEF"/>
                </a:solidFill>
                <a:latin typeface="Courier New" pitchFamily="34" charset="0"/>
              </a:rPr>
              <a:t>Generic intent: scheme=upi,</a:t>
            </a:r>
          </a:p>
          <a:p>
            <a:pPr>
              <a:buNone/>
            </a:pPr>
            <a:r>
              <a:rPr lang="en-US" sz="1000" dirty="0">
                <a:solidFill>
                  <a:srgbClr val="E8ECEF"/>
                </a:solidFill>
                <a:latin typeface="Courier New" pitchFamily="34" charset="0"/>
              </a:rPr>
              <a:t>authority=pay, fired via</a:t>
            </a:r>
          </a:p>
          <a:p>
            <a:pPr>
              <a:buNone/>
            </a:pPr>
            <a:r>
              <a:rPr lang="en-US" sz="1000" dirty="0">
                <a:solidFill>
                  <a:srgbClr val="E8ECEF"/>
                </a:solidFill>
                <a:latin typeface="Courier New" pitchFamily="34" charset="0"/>
              </a:rPr>
              <a:t>Intent.ACTION_VIEW</a:t>
            </a:r>
          </a:p>
          <a:p>
            <a:pPr>
              <a:buNone/>
            </a:pPr>
            <a:r>
              <a:rPr lang="en-US" sz="1000" dirty="0">
                <a:solidFill>
                  <a:srgbClr val="E8ECEF"/>
                </a:solidFill>
                <a:latin typeface="Courier New" pitchFamily="34" charset="0"/>
              </a:rPr>
              <a:t/>
            </a:r>
          </a:p>
          <a:p>
            <a:pPr>
              <a:buNone/>
            </a:pPr>
            <a:r>
              <a:rPr lang="en-US" sz="1000" dirty="0">
                <a:solidFill>
                  <a:srgbClr val="E8ECEF"/>
                </a:solidFill>
                <a:latin typeface="Courier New" pitchFamily="34" charset="0"/>
              </a:rPr>
              <a:t>setPackage() targets a specific</a:t>
            </a:r>
          </a:p>
          <a:p>
            <a:pPr>
              <a:buNone/>
            </a:pPr>
            <a:r>
              <a:rPr lang="en-US" sz="1000" dirty="0">
                <a:solidFill>
                  <a:srgbClr val="E8ECEF"/>
                </a:solidFill>
                <a:latin typeface="Courier New" pitchFamily="34" charset="0"/>
              </a:rPr>
              <a:t>app e.g. Google Pay =</a:t>
            </a:r>
          </a:p>
          <a:p>
            <a:pPr>
              <a:buNone/>
            </a:pPr>
            <a:r>
              <a:rPr lang="en-US" sz="1000" dirty="0">
                <a:solidFill>
                  <a:srgbClr val="E8ECEF"/>
                </a:solidFill>
                <a:latin typeface="Courier New" pitchFamily="34" charset="0"/>
              </a:rPr>
              <a:t>com.google.apps.nbu.paisa.user</a:t>
            </a:r>
          </a:p>
          <a:p>
            <a:pPr>
              <a:buNone/>
            </a:pPr>
            <a:r>
              <a:rPr lang="en-US" sz="1000" dirty="0">
                <a:solidFill>
                  <a:srgbClr val="E8ECEF"/>
                </a:solidFill>
                <a:latin typeface="Courier New" pitchFamily="34" charset="0"/>
              </a:rPr>
              <a:t/>
            </a:r>
          </a:p>
          <a:p>
            <a:pPr>
              <a:buNone/>
            </a:pPr>
            <a:r>
              <a:rPr lang="en-US" sz="1000" dirty="0">
                <a:solidFill>
                  <a:srgbClr val="E8ECEF"/>
                </a:solidFill>
                <a:latin typeface="Courier New" pitchFamily="34" charset="0"/>
              </a:rPr>
              <a:t>App schemes: tez://, gpay://,</a:t>
            </a:r>
          </a:p>
          <a:p>
            <a:pPr>
              <a:buNone/>
            </a:pPr>
            <a:r>
              <a:rPr lang="en-US" sz="1000" dirty="0">
                <a:solidFill>
                  <a:srgbClr val="E8ECEF"/>
                </a:solidFill>
                <a:latin typeface="Courier New" pitchFamily="34" charset="0"/>
              </a:rPr>
              <a:t>phonepe://, paytmmp://, bhim://</a:t>
            </a:r>
          </a:p>
        </p:txBody>
      </p:sp>
      <p:sp>
        <p:nvSpPr>
          <p:cNvPr id="5272" name="Box"/>
          <p:cNvSpPr/>
          <p:nvPr/>
        </p:nvSpPr>
        <p:spPr>
          <a:xfrm>
            <a:off x="548640" y="4150000"/>
            <a:ext cx="11094720" cy="1100000"/>
          </a:xfrm>
          <a:prstGeom prst="roundRect">
            <a:avLst>
              <a:gd name="adj" fmla="val 2500"/>
            </a:avLst>
          </a:prstGeom>
          <a:solidFill>
            <a:srgbClr val="E8F5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5273" name="TB"/>
          <p:cNvSpPr/>
          <p:nvPr/>
        </p:nvSpPr>
        <p:spPr>
          <a:xfrm>
            <a:off x="728640" y="4270000"/>
            <a:ext cx="10734720" cy="30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>
              <a:buNone/>
            </a:pPr>
            <a:r>
              <a:rPr lang="en-US" sz="1150" b="1" dirty="0">
                <a:solidFill>
                  <a:srgbClr val="0B5D3B"/>
                </a:solidFill>
                <a:latin typeface="Calibri" pitchFamily="34" charset="0"/>
              </a:rPr>
              <a:t>This is exactly Bank 4's mechanism, at national scale</a:t>
            </a:r>
          </a:p>
        </p:txBody>
      </p:sp>
      <p:sp>
        <p:nvSpPr>
          <p:cNvPr id="5274" name="TB"/>
          <p:cNvSpPr/>
          <p:nvPr/>
        </p:nvSpPr>
        <p:spPr>
          <a:xfrm>
            <a:off x="728640" y="4580000"/>
            <a:ext cx="10734720" cy="55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>
              <a:buNone/>
            </a:pPr>
            <a:r>
              <a:rPr lang="en-US" sz="1050" dirty="0">
                <a:solidFill>
                  <a:srgbClr val="1A2233"/>
                </a:solidFill>
                <a:latin typeface="Calibri" pitchFamily="34" charset="0"/>
              </a:rPr>
              <a:t>setPackage() on an Android Intent is precisely how Bank 4 (Explicit-Package Intent) works — naming the exact</a:t>
            </a:r>
          </a:p>
          <a:p>
            <a:pPr>
              <a:buNone/>
            </a:pPr>
            <a:r>
              <a:rPr lang="en-US" sz="1050" dirty="0">
                <a:solidFill>
                  <a:srgbClr val="1A2233"/>
                </a:solidFill>
                <a:latin typeface="Calibri" pitchFamily="34" charset="0"/>
              </a:rPr>
              <a:t>app directly removes all ambiguity, so no chooser appears. UPI does this in production for app-specific integrations.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UPIAutoPa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75" name="TB"/>
          <p:cNvSpPr/>
          <p:nvPr/>
        </p:nvSpPr>
        <p:spPr>
          <a:xfrm>
            <a:off x="548640" y="150000"/>
            <a:ext cx="11094720" cy="30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>
              <a:buNone/>
            </a:pPr>
            <a:r>
              <a:rPr lang="en-US" sz="1050" b="1" dirty="0">
                <a:solidFill>
                  <a:srgbClr val="C9A227"/>
                </a:solidFill>
                <a:latin typeface="Calibri" pitchFamily="34" charset="0"/>
              </a:rPr>
              <a:t>INDIA — UPI (NPCI)</a:t>
            </a:r>
          </a:p>
        </p:txBody>
      </p:sp>
      <p:sp>
        <p:nvSpPr>
          <p:cNvPr id="5276" name="TB"/>
          <p:cNvSpPr/>
          <p:nvPr/>
        </p:nvSpPr>
        <p:spPr>
          <a:xfrm>
            <a:off x="548640" y="650000"/>
            <a:ext cx="11094720" cy="56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>
              <a:buNone/>
            </a:pPr>
            <a:r>
              <a:rPr lang="en-US" sz="2000" b="1" dirty="0">
                <a:solidFill>
                  <a:srgbClr val="21295C"/>
                </a:solidFill>
                <a:latin typeface="Cambria" pitchFamily="34" charset="0"/>
              </a:rPr>
              <a:t>UPI AutoPay / Mandate Deep Links</a:t>
            </a:r>
          </a:p>
        </p:txBody>
      </p:sp>
      <p:sp>
        <p:nvSpPr>
          <p:cNvPr id="5277" name="Box"/>
          <p:cNvSpPr/>
          <p:nvPr/>
        </p:nvSpPr>
        <p:spPr>
          <a:xfrm>
            <a:off x="548640" y="1500000"/>
            <a:ext cx="11094720" cy="1350000"/>
          </a:xfrm>
          <a:prstGeom prst="roundRect">
            <a:avLst>
              <a:gd name="adj" fmla="val 3000"/>
            </a:avLst>
          </a:prstGeom>
          <a:solidFill>
            <a:srgbClr val="21295C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5278" name="TB"/>
          <p:cNvSpPr/>
          <p:nvPr/>
        </p:nvSpPr>
        <p:spPr>
          <a:xfrm>
            <a:off x="748640" y="1630000"/>
            <a:ext cx="10694720" cy="30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>
              <a:buNone/>
            </a:pPr>
            <a:r>
              <a:rPr lang="en-US" sz="1150" b="1" dirty="0">
                <a:solidFill>
                  <a:srgbClr val="5EEAD4"/>
                </a:solidFill>
                <a:latin typeface="Calibri" pitchFamily="34" charset="0"/>
              </a:rPr>
              <a:t>Scheme: upi://mandate?...</a:t>
            </a:r>
          </a:p>
        </p:txBody>
      </p:sp>
      <p:sp>
        <p:nvSpPr>
          <p:cNvPr id="5279" name="TB"/>
          <p:cNvSpPr/>
          <p:nvPr/>
        </p:nvSpPr>
        <p:spPr>
          <a:xfrm>
            <a:off x="748640" y="1960000"/>
            <a:ext cx="10694720" cy="77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</a:rPr>
              <a:t>Added params: validitystart, validityend (DDMMYYYY), amrule (MAX/EXACT),</a:t>
            </a:r>
          </a:p>
          <a:p>
            <a:pPr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</a:rPr>
              <a:t>recur (ONETIME/DAILY/.../ASPRESENTED), rev/revokeable (Y/N), txnType (CREATE/UPDATE/REVOKE),</a:t>
            </a:r>
          </a:p>
          <a:p>
            <a:pPr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</a:rPr>
              <a:t>purpose (01 one-time, 14 block-funds, 77 single-block-multiple-debit e.g. IPO/ASBA)</a:t>
            </a:r>
          </a:p>
        </p:txBody>
      </p:sp>
      <p:sp>
        <p:nvSpPr>
          <p:cNvPr id="5280" name="Box"/>
          <p:cNvSpPr/>
          <p:nvPr/>
        </p:nvSpPr>
        <p:spPr>
          <a:xfrm>
            <a:off x="548640" y="3000000"/>
            <a:ext cx="11094720" cy="1650000"/>
          </a:xfrm>
          <a:prstGeom prst="roundRect">
            <a:avLst>
              <a:gd name="adj" fmla="val 3000"/>
            </a:avLst>
          </a:prstGeom>
          <a:solidFill>
            <a:srgbClr val="21295C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5281" name="TB"/>
          <p:cNvSpPr/>
          <p:nvPr/>
        </p:nvSpPr>
        <p:spPr>
          <a:xfrm>
            <a:off x="748640" y="3130000"/>
            <a:ext cx="10694720" cy="30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>
              <a:buNone/>
            </a:pPr>
            <a:r>
              <a:rPr lang="en-US" sz="1150" b="1" dirty="0">
                <a:solidFill>
                  <a:srgbClr val="5EEAD4"/>
                </a:solidFill>
                <a:latin typeface="Calibri" pitchFamily="34" charset="0"/>
              </a:rPr>
              <a:t>Example</a:t>
            </a:r>
          </a:p>
        </p:txBody>
      </p:sp>
      <p:sp>
        <p:nvSpPr>
          <p:cNvPr id="5282" name="TB"/>
          <p:cNvSpPr/>
          <p:nvPr/>
        </p:nvSpPr>
        <p:spPr>
          <a:xfrm>
            <a:off x="748640" y="3460000"/>
            <a:ext cx="10694720" cy="107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>
              <a:buNone/>
            </a:pPr>
            <a:r>
              <a:rPr lang="en-US" sz="1000" dirty="0">
                <a:solidFill>
                  <a:srgbClr val="E8ECEF"/>
                </a:solidFill>
                <a:latin typeface="Courier New" pitchFamily="34" charset="0"/>
              </a:rPr>
              <a:t>upi://mandate?amrule=MAX&amp;tn=Merchantmandate&amp;validityend=09112026</a:t>
            </a:r>
          </a:p>
          <a:p>
            <a:pPr>
              <a:buNone/>
            </a:pPr>
            <a:r>
              <a:rPr lang="en-US" sz="1000" dirty="0">
                <a:solidFill>
                  <a:srgbClr val="E8ECEF"/>
                </a:solidFill>
                <a:latin typeface="Courier New" pitchFamily="34" charset="0"/>
              </a:rPr>
              <a:t>  &amp;mode=04&amp;mn=Merchantmandate&amp;cu=INR&amp;pn=MerchantMandate&amp;purpose=14</a:t>
            </a:r>
          </a:p>
          <a:p>
            <a:pPr>
              <a:buNone/>
            </a:pPr>
            <a:r>
              <a:rPr lang="en-US" sz="1000" dirty="0">
                <a:solidFill>
                  <a:srgbClr val="E8ECEF"/>
                </a:solidFill>
                <a:latin typeface="Courier New" pitchFamily="34" charset="0"/>
              </a:rPr>
              <a:t>  &amp;fam=1.00&amp;tid=...&amp;pa=merchant@yespay&amp;am=10.00&amp;validitystart=27102023</a:t>
            </a:r>
          </a:p>
          <a:p>
            <a:pPr>
              <a:buNone/>
            </a:pPr>
            <a:r>
              <a:rPr lang="en-US" sz="1000" dirty="0">
                <a:solidFill>
                  <a:srgbClr val="E8ECEF"/>
                </a:solidFill>
                <a:latin typeface="Courier New" pitchFamily="34" charset="0"/>
              </a:rPr>
              <a:t>  &amp;recur=ASPRESENTED&amp;tr=...&amp;mc=7322&amp;txnType=CREATE&amp;orgid=000000&amp;rev=N</a:t>
            </a:r>
          </a:p>
        </p:txBody>
      </p:sp>
      <p:sp>
        <p:nvSpPr>
          <p:cNvPr id="5283" name="TB"/>
          <p:cNvSpPr/>
          <p:nvPr/>
        </p:nvSpPr>
        <p:spPr>
          <a:xfrm>
            <a:off x="548640" y="6550000"/>
            <a:ext cx="11094720" cy="25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>
              <a:buNone/>
            </a:pPr>
            <a:r>
              <a:rPr lang="en-US" sz="900" i="1" dirty="0">
                <a:solidFill>
                  <a:srgbClr val="5B6B79"/>
                </a:solidFill>
                <a:latin typeface="Calibri" pitchFamily="34" charset="0"/>
              </a:rPr>
              <a:t>Source: NPCI UPI Linking Specifications v1.6/v1.7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olicyIntro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84" name="TB"/>
          <p:cNvSpPr/>
          <p:nvPr/>
        </p:nvSpPr>
        <p:spPr>
          <a:xfrm>
            <a:off x="548640" y="150000"/>
            <a:ext cx="11094720" cy="30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>
              <a:buNone/>
            </a:pPr>
            <a:r>
              <a:rPr lang="en-US" sz="1050" b="1" dirty="0">
                <a:solidFill>
                  <a:srgbClr val="C9A227"/>
                </a:solidFill>
                <a:latin typeface="Calibri" pitchFamily="34" charset="0"/>
              </a:rPr>
              <a:t>POLICY WATCH  ·  DIRECT VALIDATION OF THIS PROJECT'S THESIS</a:t>
            </a:r>
          </a:p>
        </p:txBody>
      </p:sp>
      <p:sp>
        <p:nvSpPr>
          <p:cNvPr id="5285" name="TB"/>
          <p:cNvSpPr/>
          <p:nvPr/>
        </p:nvSpPr>
        <p:spPr>
          <a:xfrm>
            <a:off x="548640" y="650000"/>
            <a:ext cx="11094720" cy="56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>
              <a:buNone/>
            </a:pPr>
            <a:r>
              <a:rPr lang="en-US" sz="2000" b="1" dirty="0">
                <a:solidFill>
                  <a:srgbClr val="21295C"/>
                </a:solidFill>
                <a:latin typeface="Cambria" pitchFamily="34" charset="0"/>
              </a:rPr>
              <a:t>UPI "One-Click Checkout" and the Chooser Bypass</a:t>
            </a:r>
          </a:p>
        </p:txBody>
      </p:sp>
      <p:sp>
        <p:nvSpPr>
          <p:cNvPr id="5286" name="Box"/>
          <p:cNvSpPr/>
          <p:nvPr/>
        </p:nvSpPr>
        <p:spPr>
          <a:xfrm>
            <a:off x="548640" y="1550000"/>
            <a:ext cx="11094720" cy="900000"/>
          </a:xfrm>
          <a:prstGeom prst="roundRect">
            <a:avLst>
              <a:gd name="adj" fmla="val 2500"/>
            </a:avLst>
          </a:prstGeom>
          <a:solidFill>
            <a:srgbClr val="FBEAEA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5287" name="TB"/>
          <p:cNvSpPr/>
          <p:nvPr/>
        </p:nvSpPr>
        <p:spPr>
          <a:xfrm>
            <a:off x="728640" y="1670000"/>
            <a:ext cx="10734720" cy="30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>
              <a:buNone/>
            </a:pPr>
            <a:r>
              <a:rPr lang="en-US" sz="1150" b="1" dirty="0">
                <a:solidFill>
                  <a:srgbClr val="7A1F1F"/>
                </a:solidFill>
                <a:latin typeface="Calibri" pitchFamily="34" charset="0"/>
              </a:rPr>
              <a:t>Developing story — as of late July 2026</a:t>
            </a:r>
          </a:p>
        </p:txBody>
      </p:sp>
      <p:sp>
        <p:nvSpPr>
          <p:cNvPr id="5288" name="TB"/>
          <p:cNvSpPr/>
          <p:nvPr/>
        </p:nvSpPr>
        <p:spPr>
          <a:xfrm>
            <a:off x="728640" y="1980000"/>
            <a:ext cx="10734720" cy="35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>
              <a:buNone/>
            </a:pPr>
            <a:r>
              <a:rPr lang="en-US" sz="1100" dirty="0">
                <a:solidFill>
                  <a:srgbClr val="1A2233"/>
                </a:solidFill>
                <a:latin typeface="Calibri" pitchFamily="34" charset="0"/>
              </a:rPr>
              <a:t>No published NPCI circular or technical specification exists yet. The July 23, 2026 industry letter is</a:t>
            </a:r>
          </a:p>
          <a:p>
            <a:pPr>
              <a:buNone/>
            </a:pPr>
            <a:r>
              <a:rPr lang="en-US" sz="1100" dirty="0">
                <a:solidFill>
                  <a:srgbClr val="1A2233"/>
                </a:solidFill>
                <a:latin typeface="Calibri" pitchFamily="34" charset="0"/>
              </a:rPr>
              <a:t>confirmed by three independent outlets; most downstream detail is single-sourced and flagged as such.</a:t>
            </a:r>
          </a:p>
        </p:txBody>
      </p:sp>
      <p:sp>
        <p:nvSpPr>
          <p:cNvPr id="5289" name="Box"/>
          <p:cNvSpPr/>
          <p:nvPr/>
        </p:nvSpPr>
        <p:spPr>
          <a:xfrm>
            <a:off x="548640" y="2650000"/>
            <a:ext cx="11094720" cy="1500000"/>
          </a:xfrm>
          <a:prstGeom prst="roundRect">
            <a:avLst>
              <a:gd name="adj" fmla="val 2500"/>
            </a:avLst>
          </a:prstGeom>
          <a:solidFill>
            <a:srgbClr val="F5F8FA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5290" name="TB"/>
          <p:cNvSpPr/>
          <p:nvPr/>
        </p:nvSpPr>
        <p:spPr>
          <a:xfrm>
            <a:off x="728640" y="2770000"/>
            <a:ext cx="10734720" cy="30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>
              <a:buNone/>
            </a:pPr>
            <a:r>
              <a:rPr lang="en-US" sz="1150" b="1" dirty="0">
                <a:solidFill>
                  <a:srgbClr val="065A82"/>
                </a:solidFill>
                <a:latin typeface="Calibri" pitchFamily="34" charset="0"/>
              </a:rPr>
              <a:t>What UPI Meta proposes</a:t>
            </a:r>
          </a:p>
        </p:txBody>
      </p:sp>
      <p:sp>
        <p:nvSpPr>
          <p:cNvPr id="5291" name="TB"/>
          <p:cNvSpPr/>
          <p:nvPr/>
        </p:nvSpPr>
        <p:spPr>
          <a:xfrm>
            <a:off x="728640" y="3080000"/>
            <a:ext cx="10734720" cy="95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>
              <a:buNone/>
            </a:pPr>
            <a:r>
              <a:rPr lang="en-US" sz="1150" dirty="0">
                <a:solidFill>
                  <a:srgbClr val="1A2233"/>
                </a:solidFill>
                <a:latin typeface="Calibri" pitchFamily="34" charset="0"/>
              </a:rPr>
              <a:t>Merchants would store a customer's preferred UPI handle or linked bank account — much like a saved card —</a:t>
            </a:r>
          </a:p>
          <a:p>
            <a:pPr>
              <a:buNone/>
            </a:pPr>
            <a:r>
              <a:rPr lang="en-US" sz="1150" dirty="0">
                <a:solidFill>
                  <a:srgbClr val="1A2233"/>
                </a:solidFill>
                <a:latin typeface="Calibri" pitchFamily="34" charset="0"/>
              </a:rPr>
              <a:t>so a repeat purchase proceeds straight to PIN or biometric authentication.</a:t>
            </a:r>
          </a:p>
          <a:p>
            <a:pPr>
              <a:buNone/>
            </a:pPr>
            <a:r>
              <a:rPr lang="en-US" sz="1150" dirty="0">
                <a:solidFill>
                  <a:srgbClr val="1A2233"/>
                </a:solidFill>
                <a:latin typeface="Calibri" pitchFamily="34" charset="0"/>
              </a:rPr>
              <a:t>Architecturally, its core effect is to remove the per-transaction Android intent chooser through which</a:t>
            </a:r>
          </a:p>
          <a:p>
            <a:pPr>
              <a:buNone/>
            </a:pPr>
            <a:r>
              <a:rPr lang="en-US" sz="1150" dirty="0">
                <a:solidFill>
                  <a:srgbClr val="1A2233"/>
                </a:solidFill>
                <a:latin typeface="Calibri" pitchFamily="34" charset="0"/>
              </a:rPr>
              <a:t>upi://pay is currently resolved.</a:t>
            </a:r>
          </a:p>
        </p:txBody>
      </p:sp>
      <p:sp>
        <p:nvSpPr>
          <p:cNvPr id="5292" name="Box"/>
          <p:cNvSpPr/>
          <p:nvPr/>
        </p:nvSpPr>
        <p:spPr>
          <a:xfrm>
            <a:off x="548640" y="4350000"/>
            <a:ext cx="11094720" cy="1900000"/>
          </a:xfrm>
          <a:prstGeom prst="roundRect">
            <a:avLst>
              <a:gd name="adj" fmla="val 2500"/>
            </a:avLst>
          </a:prstGeom>
          <a:solidFill>
            <a:srgbClr val="FFF3E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5293" name="TB"/>
          <p:cNvSpPr/>
          <p:nvPr/>
        </p:nvSpPr>
        <p:spPr>
          <a:xfrm>
            <a:off x="728640" y="4470000"/>
            <a:ext cx="10734720" cy="30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>
              <a:buNone/>
            </a:pPr>
            <a:r>
              <a:rPr lang="en-US" sz="1150" b="1" dirty="0">
                <a:solidFill>
                  <a:srgbClr val="8A5A00"/>
                </a:solidFill>
                <a:latin typeface="Calibri" pitchFamily="34" charset="0"/>
              </a:rPr>
              <a:t>Why this matters to this project</a:t>
            </a:r>
          </a:p>
        </p:txBody>
      </p:sp>
      <p:sp>
        <p:nvSpPr>
          <p:cNvPr id="5294" name="TB"/>
          <p:cNvSpPr/>
          <p:nvPr/>
        </p:nvSpPr>
        <p:spPr>
          <a:xfrm>
            <a:off x="728640" y="4780000"/>
            <a:ext cx="10734720" cy="135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>
              <a:buNone/>
            </a:pPr>
            <a:r>
              <a:rPr lang="en-US" sz="1100" dirty="0">
                <a:solidFill>
                  <a:srgbClr val="1A2233"/>
                </a:solidFill>
                <a:latin typeface="Calibri" pitchFamily="34" charset="0"/>
              </a:rPr>
              <a:t>UPI's current production implementation resolves upi://pay through exactly this project's core mechanism:</a:t>
            </a:r>
          </a:p>
          <a:p>
            <a:pPr>
              <a:buNone/>
            </a:pPr>
            <a:r>
              <a:rPr lang="en-US" sz="1100" dirty="0">
                <a:solidFill>
                  <a:srgbClr val="1A2233"/>
                </a:solidFill>
                <a:latin typeface="Calibri" pitchFamily="34" charset="0"/>
              </a:rPr>
              <a:t>an unregistered generic intent, wrapped in Intent.createChooser(...), presenting every installed UPI app as</a:t>
            </a:r>
          </a:p>
          <a:p>
            <a:pPr>
              <a:buNone/>
            </a:pPr>
            <a:r>
              <a:rPr lang="en-US" sz="1100" dirty="0">
                <a:solidFill>
                  <a:srgbClr val="1A2233"/>
                </a:solidFill>
                <a:latin typeface="Calibri" pitchFamily="34" charset="0"/>
              </a:rPr>
              <a:t>an equal candidate. NPCI even mandates a generic "Pay by any UPI App" option alongside app-specific intents.</a:t>
            </a:r>
          </a:p>
          <a:p>
            <a:pPr>
              <a:buNone/>
            </a:pPr>
            <a:r>
              <a:rPr lang="en-US" sz="1100" dirty="0">
                <a:solidFill>
                  <a:srgbClr val="1A2233"/>
                </a:solidFill>
                <a:latin typeface="Calibri" pitchFamily="34" charset="0"/>
              </a:rPr>
              <a:t>UPI Meta is a live, national-scale case study of a payments regulator weighing whether to remove that</a:t>
            </a:r>
          </a:p>
          <a:p>
            <a:pPr>
              <a:buNone/>
            </a:pPr>
            <a:r>
              <a:rPr lang="en-US" sz="1100" dirty="0">
                <a:solidFill>
                  <a:srgbClr val="1A2233"/>
                </a:solidFill>
                <a:latin typeface="Calibri" pitchFamily="34" charset="0"/>
              </a:rPr>
              <a:t>exact chooser in favor of a stored default — the same trade-off this project explored with Bank 1/2/4.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olicyFlowChang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95" name="TB"/>
          <p:cNvSpPr/>
          <p:nvPr/>
        </p:nvSpPr>
        <p:spPr>
          <a:xfrm>
            <a:off x="548640" y="150000"/>
            <a:ext cx="11094720" cy="30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>
              <a:buNone/>
            </a:pPr>
            <a:r>
              <a:rPr lang="en-US" sz="1050" b="1" dirty="0">
                <a:solidFill>
                  <a:srgbClr val="C9A227"/>
                </a:solidFill>
                <a:latin typeface="Calibri" pitchFamily="34" charset="0"/>
              </a:rPr>
              <a:t>POLICY WATCH — UPI META</a:t>
            </a:r>
          </a:p>
        </p:txBody>
      </p:sp>
      <p:sp>
        <p:nvSpPr>
          <p:cNvPr id="5296" name="TB"/>
          <p:cNvSpPr/>
          <p:nvPr/>
        </p:nvSpPr>
        <p:spPr>
          <a:xfrm>
            <a:off x="548640" y="650000"/>
            <a:ext cx="11094720" cy="56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>
              <a:buNone/>
            </a:pPr>
            <a:r>
              <a:rPr lang="en-US" sz="2000" b="1" dirty="0">
                <a:solidFill>
                  <a:srgbClr val="21295C"/>
                </a:solidFill>
                <a:latin typeface="Cambria" pitchFamily="34" charset="0"/>
              </a:rPr>
              <a:t>What Changes in the Deep-Link Flow</a:t>
            </a:r>
          </a:p>
        </p:txBody>
      </p:sp>
      <p:sp>
        <p:nvSpPr>
          <p:cNvPr id="5297" name="Box"/>
          <p:cNvSpPr/>
          <p:nvPr/>
        </p:nvSpPr>
        <p:spPr>
          <a:xfrm>
            <a:off x="548640" y="1550000"/>
            <a:ext cx="5450000" cy="2600000"/>
          </a:xfrm>
          <a:prstGeom prst="roundRect">
            <a:avLst>
              <a:gd name="adj" fmla="val 2500"/>
            </a:avLst>
          </a:prstGeom>
          <a:solidFill>
            <a:srgbClr val="E8F5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5298" name="TB"/>
          <p:cNvSpPr/>
          <p:nvPr/>
        </p:nvSpPr>
        <p:spPr>
          <a:xfrm>
            <a:off x="728640" y="1670000"/>
            <a:ext cx="5090000" cy="30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>
              <a:buNone/>
            </a:pPr>
            <a:r>
              <a:rPr lang="en-US" sz="1150" b="1" dirty="0">
                <a:solidFill>
                  <a:srgbClr val="0B5D3B"/>
                </a:solidFill>
                <a:latin typeface="Calibri" pitchFamily="34" charset="0"/>
              </a:rPr>
              <a:t>Today</a:t>
            </a:r>
          </a:p>
        </p:txBody>
      </p:sp>
      <p:sp>
        <p:nvSpPr>
          <p:cNvPr id="5299" name="TB"/>
          <p:cNvSpPr/>
          <p:nvPr/>
        </p:nvSpPr>
        <p:spPr>
          <a:xfrm>
            <a:off x="728640" y="1980000"/>
            <a:ext cx="5090000" cy="205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>
              <a:buNone/>
            </a:pPr>
            <a:r>
              <a:rPr lang="en-US" sz="1100" dirty="0">
                <a:solidFill>
                  <a:srgbClr val="1A2233"/>
                </a:solidFill>
                <a:latin typeface="Calibri" pitchFamily="34" charset="0"/>
              </a:rPr>
              <a:t>Merchant fires Intent.ACTION_VIEW</a:t>
            </a:r>
          </a:p>
          <a:p>
            <a:pPr>
              <a:buNone/>
            </a:pPr>
            <a:r>
              <a:rPr lang="en-US" sz="1100" dirty="0">
                <a:solidFill>
                  <a:srgbClr val="1A2233"/>
                </a:solidFill>
                <a:latin typeface="Calibri" pitchFamily="34" charset="0"/>
              </a:rPr>
              <a:t>on a upi://pay?... URI, typically</a:t>
            </a:r>
          </a:p>
          <a:p>
            <a:pPr>
              <a:buNone/>
            </a:pPr>
            <a:r>
              <a:rPr lang="en-US" sz="1100" dirty="0">
                <a:solidFill>
                  <a:srgbClr val="1A2233"/>
                </a:solidFill>
                <a:latin typeface="Calibri" pitchFamily="34" charset="0"/>
              </a:rPr>
              <a:t>wrapped in Intent.createChooser(...).</a:t>
            </a:r>
          </a:p>
          <a:p>
            <a:pPr>
              <a:buNone/>
            </a:pPr>
            <a:r>
              <a:rPr lang="en-US" sz="1100" dirty="0">
                <a:solidFill>
                  <a:srgbClr val="1A2233"/>
                </a:solidFill>
                <a:latin typeface="Calibri" pitchFamily="34" charset="0"/>
              </a:rPr>
              <a:t>Android presents a tray listing</a:t>
            </a:r>
          </a:p>
          <a:p>
            <a:pPr>
              <a:buNone/>
            </a:pPr>
            <a:r>
              <a:rPr lang="en-US" sz="1100" dirty="0">
                <a:solidFill>
                  <a:srgbClr val="1A2233"/>
                </a:solidFill>
                <a:latin typeface="Calibri" pitchFamily="34" charset="0"/>
              </a:rPr>
              <a:t>every installed UPI-capable app.</a:t>
            </a:r>
          </a:p>
          <a:p>
            <a:pPr>
              <a:buNone/>
            </a:pPr>
            <a:r>
              <a:rPr lang="en-US" sz="1100" dirty="0">
                <a:solidFill>
                  <a:srgbClr val="1A2233"/>
                </a:solidFill>
                <a:latin typeface="Calibri" pitchFamily="34" charset="0"/>
              </a:rPr>
              <a:t>NPCI mandates a generic "Pay by</a:t>
            </a:r>
          </a:p>
          <a:p>
            <a:pPr>
              <a:buNone/>
            </a:pPr>
            <a:r>
              <a:rPr lang="en-US" sz="1100" dirty="0">
                <a:solidFill>
                  <a:srgbClr val="1A2233"/>
                </a:solidFill>
                <a:latin typeface="Calibri" pitchFamily="34" charset="0"/>
              </a:rPr>
              <a:t>any UPI App" option alongside any</a:t>
            </a:r>
          </a:p>
          <a:p>
            <a:pPr>
              <a:buNone/>
            </a:pPr>
            <a:r>
              <a:rPr lang="en-US" sz="1100" dirty="0">
                <a:solidFill>
                  <a:srgbClr val="1A2233"/>
                </a:solidFill>
                <a:latin typeface="Calibri" pitchFamily="34" charset="0"/>
              </a:rPr>
              <a:t>app-specific intent (setPackage()).</a:t>
            </a:r>
          </a:p>
        </p:txBody>
      </p:sp>
      <p:sp>
        <p:nvSpPr>
          <p:cNvPr id="5300" name="Box"/>
          <p:cNvSpPr/>
          <p:nvPr/>
        </p:nvSpPr>
        <p:spPr>
          <a:xfrm>
            <a:off x="6193360" y="1550000"/>
            <a:ext cx="5450000" cy="2600000"/>
          </a:xfrm>
          <a:prstGeom prst="roundRect">
            <a:avLst>
              <a:gd name="adj" fmla="val 2500"/>
            </a:avLst>
          </a:prstGeom>
          <a:solidFill>
            <a:srgbClr val="FBEAEA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5301" name="TB"/>
          <p:cNvSpPr/>
          <p:nvPr/>
        </p:nvSpPr>
        <p:spPr>
          <a:xfrm>
            <a:off x="6373360" y="1670000"/>
            <a:ext cx="5090000" cy="30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>
              <a:buNone/>
            </a:pPr>
            <a:r>
              <a:rPr lang="en-US" sz="1150" b="1" dirty="0">
                <a:solidFill>
                  <a:srgbClr val="7A1F1F"/>
                </a:solidFill>
                <a:latin typeface="Calibri" pitchFamily="34" charset="0"/>
              </a:rPr>
              <a:t>Under UPI Meta</a:t>
            </a:r>
          </a:p>
        </p:txBody>
      </p:sp>
      <p:sp>
        <p:nvSpPr>
          <p:cNvPr id="5302" name="TB"/>
          <p:cNvSpPr/>
          <p:nvPr/>
        </p:nvSpPr>
        <p:spPr>
          <a:xfrm>
            <a:off x="6373360" y="1980000"/>
            <a:ext cx="5090000" cy="205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>
              <a:buNone/>
            </a:pPr>
            <a:r>
              <a:rPr lang="en-US" sz="1100" dirty="0">
                <a:solidFill>
                  <a:srgbClr val="1A2233"/>
                </a:solidFill>
                <a:latin typeface="Calibri" pitchFamily="34" charset="0"/>
              </a:rPr>
              <a:t>The merchant instead reads a</a:t>
            </a:r>
          </a:p>
          <a:p>
            <a:pPr>
              <a:buNone/>
            </a:pPr>
            <a:r>
              <a:rPr lang="en-US" sz="1100" dirty="0">
                <a:solidFill>
                  <a:srgbClr val="1A2233"/>
                </a:solidFill>
                <a:latin typeface="Calibri" pitchFamily="34" charset="0"/>
              </a:rPr>
              <a:t>stored credential.</a:t>
            </a:r>
          </a:p>
          <a:p>
            <a:pPr>
              <a:buNone/>
            </a:pPr>
            <a:r>
              <a:rPr lang="en-US" sz="1100" dirty="0">
                <a:solidFill>
                  <a:srgbClr val="1A2233"/>
                </a:solidFill>
                <a:latin typeface="Calibri" pitchFamily="34" charset="0"/>
              </a:rPr>
              <a:t>The chosen TPAP's app never</a:t>
            </a:r>
          </a:p>
          <a:p>
            <a:pPr>
              <a:buNone/>
            </a:pPr>
            <a:r>
              <a:rPr lang="en-US" sz="1100" dirty="0">
                <a:solidFill>
                  <a:srgbClr val="1A2233"/>
                </a:solidFill>
                <a:latin typeface="Calibri" pitchFamily="34" charset="0"/>
              </a:rPr>
              <a:t>opens on repeat purchases —</a:t>
            </a:r>
          </a:p>
          <a:p>
            <a:pPr>
              <a:buNone/>
            </a:pPr>
            <a:r>
              <a:rPr lang="en-US" sz="1100" dirty="0">
                <a:solidFill>
                  <a:srgbClr val="1A2233"/>
                </a:solidFill>
                <a:latin typeface="Calibri" pitchFamily="34" charset="0"/>
              </a:rPr>
              <a:t>the chooser is skipped entirely.</a:t>
            </a:r>
          </a:p>
          <a:p>
            <a:pPr>
              <a:buNone/>
            </a:pPr>
            <a:r>
              <a:rPr lang="en-US" sz="1100" dirty="0">
                <a:solidFill>
                  <a:srgbClr val="1A2233"/>
                </a:solidFill>
                <a:latin typeface="Calibri" pitchFamily="34" charset="0"/>
              </a:rPr>
              <a:t>App selection moves from a</a:t>
            </a:r>
          </a:p>
          <a:p>
            <a:pPr>
              <a:buNone/>
            </a:pPr>
            <a:r>
              <a:rPr lang="en-US" sz="1100" dirty="0">
                <a:solidFill>
                  <a:srgbClr val="1A2233"/>
                </a:solidFill>
                <a:latin typeface="Calibri" pitchFamily="34" charset="0"/>
              </a:rPr>
              <a:t>repeated per-transaction decision</a:t>
            </a:r>
          </a:p>
          <a:p>
            <a:pPr>
              <a:buNone/>
            </a:pPr>
            <a:r>
              <a:rPr lang="en-US" sz="1100" dirty="0">
                <a:solidFill>
                  <a:srgbClr val="1A2233"/>
                </a:solidFill>
                <a:latin typeface="Calibri" pitchFamily="34" charset="0"/>
              </a:rPr>
              <a:t>to a one-time stored default.</a:t>
            </a:r>
          </a:p>
        </p:txBody>
      </p:sp>
      <p:sp>
        <p:nvSpPr>
          <p:cNvPr id="5303" name="Box"/>
          <p:cNvSpPr/>
          <p:nvPr/>
        </p:nvSpPr>
        <p:spPr>
          <a:xfrm>
            <a:off x="548640" y="4350000"/>
            <a:ext cx="11094720" cy="1150000"/>
          </a:xfrm>
          <a:prstGeom prst="roundRect">
            <a:avLst>
              <a:gd name="adj" fmla="val 2500"/>
            </a:avLst>
          </a:prstGeom>
          <a:solidFill>
            <a:srgbClr val="F5F8FA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5304" name="TB"/>
          <p:cNvSpPr/>
          <p:nvPr/>
        </p:nvSpPr>
        <p:spPr>
          <a:xfrm>
            <a:off x="728640" y="4470000"/>
            <a:ext cx="10734720" cy="30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>
              <a:buNone/>
            </a:pPr>
            <a:r>
              <a:rPr lang="en-US" sz="1150" b="1" dirty="0">
                <a:solidFill>
                  <a:srgbClr val="065A82"/>
                </a:solidFill>
                <a:latin typeface="Calibri" pitchFamily="34" charset="0"/>
              </a:rPr>
              <a:t>Not card tokenization</a:t>
            </a:r>
          </a:p>
        </p:txBody>
      </p:sp>
      <p:sp>
        <p:nvSpPr>
          <p:cNvPr id="5305" name="TB"/>
          <p:cNvSpPr/>
          <p:nvPr/>
        </p:nvSpPr>
        <p:spPr>
          <a:xfrm>
            <a:off x="728640" y="4780000"/>
            <a:ext cx="10734720" cy="60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>
              <a:buNone/>
            </a:pPr>
            <a:r>
              <a:rPr lang="en-US" sz="1050" dirty="0">
                <a:solidFill>
                  <a:srgbClr val="1A2233"/>
                </a:solidFill>
                <a:latin typeface="Calibri" pitchFamily="34" charset="0"/>
              </a:rPr>
              <a:t>RBI-mandated card tokenization stores a token for an instrument. UPI Meta would store a preference for an</a:t>
            </a:r>
          </a:p>
          <a:p>
            <a:pPr>
              <a:buNone/>
            </a:pPr>
            <a:r>
              <a:rPr lang="en-US" sz="1050" dirty="0">
                <a:solidFill>
                  <a:srgbClr val="1A2233"/>
                </a:solidFill>
                <a:latin typeface="Calibri" pitchFamily="34" charset="0"/>
              </a:rPr>
              <a:t>application and its sponsor-bank handle — parity with tokenized cards, paired with biometric one-click checkout.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olicyLett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06" name="TB"/>
          <p:cNvSpPr/>
          <p:nvPr/>
        </p:nvSpPr>
        <p:spPr>
          <a:xfrm>
            <a:off x="548640" y="150000"/>
            <a:ext cx="11094720" cy="30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>
              <a:buNone/>
            </a:pPr>
            <a:r>
              <a:rPr lang="en-US" sz="1050" b="1" dirty="0">
                <a:solidFill>
                  <a:srgbClr val="C9A227"/>
                </a:solidFill>
                <a:latin typeface="Calibri" pitchFamily="34" charset="0"/>
              </a:rPr>
              <a:t>POLICY WATCH — UPI META</a:t>
            </a:r>
          </a:p>
        </p:txBody>
      </p:sp>
      <p:sp>
        <p:nvSpPr>
          <p:cNvPr id="5307" name="TB"/>
          <p:cNvSpPr/>
          <p:nvPr/>
        </p:nvSpPr>
        <p:spPr>
          <a:xfrm>
            <a:off x="548640" y="650000"/>
            <a:ext cx="11094720" cy="56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>
              <a:buNone/>
            </a:pPr>
            <a:r>
              <a:rPr lang="en-US" sz="2000" b="1" dirty="0">
                <a:solidFill>
                  <a:srgbClr val="21295C"/>
                </a:solidFill>
                <a:latin typeface="Cambria" pitchFamily="34" charset="0"/>
              </a:rPr>
              <a:t>The July 23, 2026 Industry Letter</a:t>
            </a:r>
          </a:p>
        </p:txBody>
      </p:sp>
      <p:sp>
        <p:nvSpPr>
          <p:cNvPr id="5308" name="Box"/>
          <p:cNvSpPr/>
          <p:nvPr/>
        </p:nvSpPr>
        <p:spPr>
          <a:xfrm>
            <a:off x="548640" y="1550000"/>
            <a:ext cx="11094720" cy="900000"/>
          </a:xfrm>
          <a:prstGeom prst="roundRect">
            <a:avLst>
              <a:gd name="adj" fmla="val 2500"/>
            </a:avLst>
          </a:prstGeom>
          <a:solidFill>
            <a:srgbClr val="F5F8FA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5309" name="TB"/>
          <p:cNvSpPr/>
          <p:nvPr/>
        </p:nvSpPr>
        <p:spPr>
          <a:xfrm>
            <a:off x="728640" y="1670000"/>
            <a:ext cx="10734720" cy="30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>
              <a:buNone/>
            </a:pPr>
            <a:r>
              <a:rPr lang="en-US" sz="1150" b="1" dirty="0">
                <a:solidFill>
                  <a:srgbClr val="065A82"/>
                </a:solidFill>
                <a:latin typeface="Calibri" pitchFamily="34" charset="0"/>
              </a:rPr>
              <a:t>Reuters, Mumbai — July 23, 2026</a:t>
            </a:r>
          </a:p>
        </p:txBody>
      </p:sp>
      <p:sp>
        <p:nvSpPr>
          <p:cNvPr id="5310" name="TB"/>
          <p:cNvSpPr/>
          <p:nvPr/>
        </p:nvSpPr>
        <p:spPr>
          <a:xfrm>
            <a:off x="728640" y="1980000"/>
            <a:ext cx="10734720" cy="35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>
              <a:buNone/>
            </a:pPr>
            <a:r>
              <a:rPr lang="en-US" sz="1100" dirty="0">
                <a:solidFill>
                  <a:srgbClr val="1A2233"/>
                </a:solidFill>
                <a:latin typeface="Calibri" pitchFamily="34" charset="0"/>
              </a:rPr>
              <a:t>Several digital payments firms sent a joint representation to NPCI opposing the framework, saying it could</a:t>
            </a:r>
          </a:p>
          <a:p>
            <a:pPr>
              <a:buNone/>
            </a:pPr>
            <a:r>
              <a:rPr lang="en-US" sz="1100" dirty="0">
                <a:solidFill>
                  <a:srgbClr val="1A2233"/>
                </a:solidFill>
                <a:latin typeface="Calibri" pitchFamily="34" charset="0"/>
              </a:rPr>
              <a:t>"adversely impact" competition. Signatories include Paytm, Meta-backed CRED, and Flipkart's Super.money.</a:t>
            </a:r>
          </a:p>
        </p:txBody>
      </p:sp>
      <p:sp>
        <p:nvSpPr>
          <p:cNvPr id="5311" name="TB"/>
          <p:cNvSpPr/>
          <p:nvPr/>
        </p:nvSpPr>
        <p:spPr>
          <a:xfrm>
            <a:off x="548640" y="2650000"/>
            <a:ext cx="11094720" cy="340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228600" indent="-228600">
              <a:buFont typeface="Arial"/>
              <a:buChar char="•"/>
            </a:pPr>
            <a:r>
              <a:rPr lang="en-US" sz="1050" dirty="0">
                <a:solidFill>
                  <a:srgbClr val="1A2233"/>
                </a:solidFill>
                <a:latin typeface="Calibri" pitchFamily="34" charset="0"/>
              </a:rPr>
              <a:t>Lacks "compelling customer benefits to justify the significant ecosystem, competitive, operational, and architectural implications"; no evidence current checkout causes significant drop-offs.</a:t>
            </a:r>
          </a:p>
          <a:p>
            <a:pPr marL="228600" indent="-228600">
              <a:buFont typeface="Arial"/>
              <a:buChar char="•"/>
            </a:pPr>
            <a:r>
              <a:rPr lang="en-US" sz="1050" dirty="0">
                <a:solidFill>
                  <a:srgbClr val="1A2233"/>
                </a:solidFill>
                <a:latin typeface="Calibri" pitchFamily="34" charset="0"/>
              </a:rPr>
              <a:t>Would "materially increase persistence of customer preference towards" the app selected during initial setup — once a UPI ID is saved it's unlikely to change, harder for smaller apps to compete.</a:t>
            </a:r>
          </a:p>
          <a:p>
            <a:pPr marL="228600" indent="-228600">
              <a:buFont typeface="Arial"/>
              <a:buChar char="•"/>
            </a:pPr>
            <a:r>
              <a:rPr lang="en-US" sz="1050" dirty="0">
                <a:solidFill>
                  <a:srgbClr val="1A2233"/>
                </a:solidFill>
                <a:latin typeface="Calibri" pitchFamily="34" charset="0"/>
              </a:rPr>
              <a:t>Reduced per-transaction TPAP visibility would blunt incentives to invest in transaction success rates, fraud prevention, and newer capabilities (UPI Circle, Credit Line on UPI, UPI Lite).</a:t>
            </a:r>
          </a:p>
          <a:p>
            <a:pPr marL="228600" indent="-228600">
              <a:buFont typeface="Arial"/>
              <a:buChar char="•"/>
            </a:pPr>
            <a:r>
              <a:rPr lang="en-US" sz="1050" dirty="0">
                <a:solidFill>
                  <a:srgbClr val="1A2233"/>
                </a:solidFill>
                <a:latin typeface="Calibri" pitchFamily="34" charset="0"/>
              </a:rPr>
              <a:t>Bypassing the TPAP interface removes balance checks, issuer-bank health indicators, account linking, RuPay card linkage — and demands guardrails for stale data, consent mismatches, disputes.</a:t>
            </a:r>
          </a:p>
          <a:p>
            <a:pPr marL="228600" indent="-228600">
              <a:buFont typeface="Arial"/>
              <a:buChar char="•"/>
            </a:pPr>
            <a:r>
              <a:rPr lang="en-US" sz="1050" dirty="0">
                <a:solidFill>
                  <a:srgbClr val="1A2233"/>
                </a:solidFill>
                <a:latin typeface="Calibri" pitchFamily="34" charset="0"/>
              </a:rPr>
              <a:t>Requested NPCI hold broader TPAP consultation before proceeding.</a:t>
            </a:r>
          </a:p>
        </p:txBody>
      </p:sp>
      <p:sp>
        <p:nvSpPr>
          <p:cNvPr id="5312" name="Box"/>
          <p:cNvSpPr/>
          <p:nvPr/>
        </p:nvSpPr>
        <p:spPr>
          <a:xfrm>
            <a:off x="548640" y="6100000"/>
            <a:ext cx="11094720" cy="650000"/>
          </a:xfrm>
          <a:prstGeom prst="roundRect">
            <a:avLst>
              <a:gd name="adj" fmla="val 2500"/>
            </a:avLst>
          </a:prstGeom>
          <a:solidFill>
            <a:srgbClr val="FFF3E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5313" name="TB"/>
          <p:cNvSpPr/>
          <p:nvPr/>
        </p:nvSpPr>
        <p:spPr>
          <a:xfrm>
            <a:off x="728640" y="6220000"/>
            <a:ext cx="10734720" cy="30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>
              <a:buNone/>
            </a:pPr>
            <a:r>
              <a:rPr lang="en-US" sz="1150" b="1" dirty="0">
                <a:solidFill>
                  <a:srgbClr val="8A5A00"/>
                </a:solidFill>
                <a:latin typeface="Calibri" pitchFamily="34" charset="0"/>
              </a:rPr>
              <a:t>The core competitive thesis</a:t>
            </a:r>
          </a:p>
        </p:txBody>
      </p:sp>
      <p:sp>
        <p:nvSpPr>
          <p:cNvPr id="5314" name="TB"/>
          <p:cNvSpPr/>
          <p:nvPr/>
        </p:nvSpPr>
        <p:spPr>
          <a:xfrm>
            <a:off x="728640" y="6530000"/>
            <a:ext cx="10734720" cy="10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>
              <a:buNone/>
            </a:pPr>
            <a:r>
              <a:rPr lang="en-US" sz="1000" dirty="0">
                <a:solidFill>
                  <a:srgbClr val="1A2233"/>
                </a:solidFill>
                <a:latin typeface="Calibri" pitchFamily="34" charset="0"/>
              </a:rPr>
              <a:t>The harm alleged is about default persistence, not per-transaction steering: a one-time setup choice becomes effectively permanent.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olicyConcentra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15" name="TB"/>
          <p:cNvSpPr/>
          <p:nvPr/>
        </p:nvSpPr>
        <p:spPr>
          <a:xfrm>
            <a:off x="548640" y="150000"/>
            <a:ext cx="11094720" cy="30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>
              <a:buNone/>
            </a:pPr>
            <a:r>
              <a:rPr lang="en-US" sz="1050" b="1" dirty="0">
                <a:solidFill>
                  <a:srgbClr val="C9A227"/>
                </a:solidFill>
                <a:latin typeface="Calibri" pitchFamily="34" charset="0"/>
              </a:rPr>
              <a:t>POLICY WATCH — UPI META</a:t>
            </a:r>
          </a:p>
        </p:txBody>
      </p:sp>
      <p:sp>
        <p:nvSpPr>
          <p:cNvPr id="5316" name="TB"/>
          <p:cNvSpPr/>
          <p:nvPr/>
        </p:nvSpPr>
        <p:spPr>
          <a:xfrm>
            <a:off x="548640" y="650000"/>
            <a:ext cx="11094720" cy="56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>
              <a:buNone/>
            </a:pPr>
            <a:r>
              <a:rPr lang="en-US" sz="2000" b="1" dirty="0">
                <a:solidFill>
                  <a:srgbClr val="21295C"/>
                </a:solidFill>
                <a:latin typeface="Cambria" pitchFamily="34" charset="0"/>
              </a:rPr>
              <a:t>Market Concentration and the 30% Cap</a:t>
            </a:r>
          </a:p>
        </p:txBody>
      </p:sp>
      <p:sp>
        <p:nvSpPr>
          <p:cNvPr id="5317" name="Box"/>
          <p:cNvSpPr/>
          <p:nvPr/>
        </p:nvSpPr>
        <p:spPr>
          <a:xfrm>
            <a:off x="548640" y="1550000"/>
            <a:ext cx="11094720" cy="1000000"/>
          </a:xfrm>
          <a:prstGeom prst="roundRect">
            <a:avLst>
              <a:gd name="adj" fmla="val 2500"/>
            </a:avLst>
          </a:prstGeom>
          <a:solidFill>
            <a:srgbClr val="F5F8FA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5318" name="TB"/>
          <p:cNvSpPr/>
          <p:nvPr/>
        </p:nvSpPr>
        <p:spPr>
          <a:xfrm>
            <a:off x="728640" y="1670000"/>
            <a:ext cx="10734720" cy="30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>
              <a:buNone/>
            </a:pPr>
            <a:r>
              <a:rPr lang="en-US" sz="1150" b="1" dirty="0">
                <a:solidFill>
                  <a:srgbClr val="065A82"/>
                </a:solidFill>
                <a:latin typeface="Calibri" pitchFamily="34" charset="0"/>
              </a:rPr>
              <a:t>Scale</a:t>
            </a:r>
          </a:p>
        </p:txBody>
      </p:sp>
      <p:sp>
        <p:nvSpPr>
          <p:cNvPr id="5319" name="TB"/>
          <p:cNvSpPr/>
          <p:nvPr/>
        </p:nvSpPr>
        <p:spPr>
          <a:xfrm>
            <a:off x="728640" y="1980000"/>
            <a:ext cx="10734720" cy="45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>
              <a:buNone/>
            </a:pPr>
            <a:r>
              <a:rPr lang="en-US" sz="1100" dirty="0">
                <a:solidFill>
                  <a:srgbClr val="1A2233"/>
                </a:solidFill>
                <a:latin typeface="Calibri" pitchFamily="34" charset="0"/>
              </a:rPr>
              <a:t>UPI processed 22.72 billion transactions worth ~₹28.92 lakh crore in June 2026 (~757M/day, up ~23% YoY).</a:t>
            </a:r>
          </a:p>
          <a:p>
            <a:pPr>
              <a:buNone/>
            </a:pPr>
            <a:r>
              <a:rPr lang="en-US" sz="1100" dirty="0">
                <a:solidFill>
                  <a:srgbClr val="1A2233"/>
                </a:solidFill>
                <a:latin typeface="Calibri" pitchFamily="34" charset="0"/>
              </a:rPr>
              <a:t>FY2025-26 annual total: ~241.6 billion transactions.</a:t>
            </a:r>
          </a:p>
        </p:txBody>
      </p:sp>
      <p:sp>
        <p:nvSpPr>
          <p:cNvPr id="5320" name="Box"/>
          <p:cNvSpPr/>
          <p:nvPr/>
        </p:nvSpPr>
        <p:spPr>
          <a:xfrm>
            <a:off x="548640" y="2650000"/>
            <a:ext cx="11094720" cy="1900000"/>
          </a:xfrm>
          <a:prstGeom prst="roundRect">
            <a:avLst>
              <a:gd name="adj" fmla="val 2500"/>
            </a:avLst>
          </a:prstGeom>
          <a:solidFill>
            <a:srgbClr val="FFF3E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5321" name="TB"/>
          <p:cNvSpPr/>
          <p:nvPr/>
        </p:nvSpPr>
        <p:spPr>
          <a:xfrm>
            <a:off x="728640" y="2770000"/>
            <a:ext cx="10734720" cy="30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>
              <a:buNone/>
            </a:pPr>
            <a:r>
              <a:rPr lang="en-US" sz="1150" b="1" dirty="0">
                <a:solidFill>
                  <a:srgbClr val="8A5A00"/>
                </a:solidFill>
                <a:latin typeface="Calibri" pitchFamily="34" charset="0"/>
              </a:rPr>
              <a:t>The 30% cap</a:t>
            </a:r>
          </a:p>
        </p:txBody>
      </p:sp>
      <p:sp>
        <p:nvSpPr>
          <p:cNvPr id="5322" name="TB"/>
          <p:cNvSpPr/>
          <p:nvPr/>
        </p:nvSpPr>
        <p:spPr>
          <a:xfrm>
            <a:off x="728640" y="3080000"/>
            <a:ext cx="10734720" cy="135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>
              <a:buNone/>
            </a:pPr>
            <a:r>
              <a:rPr lang="en-US" sz="1050" dirty="0">
                <a:solidFill>
                  <a:srgbClr val="1A2233"/>
                </a:solidFill>
                <a:latin typeface="Calibri" pitchFamily="34" charset="0"/>
              </a:rPr>
              <a:t>NPCI capped any single TPAP at 30% of UPI volume (rolling 3-month) in circular NPCI/UPI/OC-97/2020-21</a:t>
            </a:r>
          </a:p>
          <a:p>
            <a:pPr>
              <a:buNone/>
            </a:pPr>
            <a:r>
              <a:rPr lang="en-US" sz="1050" dirty="0">
                <a:solidFill>
                  <a:srgbClr val="1A2233"/>
                </a:solidFill>
                <a:latin typeface="Calibri" pitchFamily="34" charset="0"/>
              </a:rPr>
              <a:t>(Nov 5, 2020, effective Jan 1, 2021). A breaching app must stop onboarding new users — no other enforcement</a:t>
            </a:r>
          </a:p>
          <a:p>
            <a:pPr>
              <a:buNone/>
            </a:pPr>
            <a:r>
              <a:rPr lang="en-US" sz="1050" dirty="0">
                <a:solidFill>
                  <a:srgbClr val="1A2233"/>
                </a:solidFill>
                <a:latin typeface="Calibri" pitchFamily="34" charset="0"/>
              </a:rPr>
              <a:t>consequence has ever been specified. Deadline extended three times: 2021 → Dec 2024 → Dec 2026.</a:t>
            </a:r>
          </a:p>
          <a:p>
            <a:pPr>
              <a:buNone/>
            </a:pPr>
            <a:r>
              <a:rPr lang="en-US" sz="1050" dirty="0">
                <a:solidFill>
                  <a:srgbClr val="1A2233"/>
                </a:solidFill>
                <a:latin typeface="Calibri" pitchFamily="34" charset="0"/>
              </a:rPr>
              <a:t>PhonePe (~46%) and Google Pay (~33%) both remain far above the threshold.</a:t>
            </a:r>
          </a:p>
        </p:txBody>
      </p:sp>
      <p:sp>
        <p:nvSpPr>
          <p:cNvPr id="5323" name="Box"/>
          <p:cNvSpPr/>
          <p:nvPr/>
        </p:nvSpPr>
        <p:spPr>
          <a:xfrm>
            <a:off x="548640" y="4750000"/>
            <a:ext cx="11094720" cy="1200000"/>
          </a:xfrm>
          <a:prstGeom prst="roundRect">
            <a:avLst>
              <a:gd name="adj" fmla="val 2500"/>
            </a:avLst>
          </a:prstGeom>
          <a:solidFill>
            <a:srgbClr val="E8F5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5324" name="TB"/>
          <p:cNvSpPr/>
          <p:nvPr/>
        </p:nvSpPr>
        <p:spPr>
          <a:xfrm>
            <a:off x="728640" y="4870000"/>
            <a:ext cx="10734720" cy="30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>
              <a:buNone/>
            </a:pPr>
            <a:r>
              <a:rPr lang="en-US" sz="1150" b="1" dirty="0">
                <a:solidFill>
                  <a:srgbClr val="0B5D3B"/>
                </a:solidFill>
                <a:latin typeface="Calibri" pitchFamily="34" charset="0"/>
              </a:rPr>
              <a:t>Slow easing</a:t>
            </a:r>
          </a:p>
        </p:txBody>
      </p:sp>
      <p:sp>
        <p:nvSpPr>
          <p:cNvPr id="5325" name="TB"/>
          <p:cNvSpPr/>
          <p:nvPr/>
        </p:nvSpPr>
        <p:spPr>
          <a:xfrm>
            <a:off x="728640" y="5180000"/>
            <a:ext cx="10734720" cy="65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>
              <a:buNone/>
            </a:pPr>
            <a:r>
              <a:rPr lang="en-US" sz="1050" dirty="0">
                <a:solidFill>
                  <a:srgbClr val="1A2233"/>
                </a:solidFill>
                <a:latin typeface="Calibri" pitchFamily="34" charset="0"/>
              </a:rPr>
              <a:t>Top 3 apps fell from 95.2% (Jan 2024) to ~87% (May 2026), with Navi reaching 3.55% and Super.money 1.8%</a:t>
            </a:r>
          </a:p>
          <a:p>
            <a:pPr>
              <a:buNone/>
            </a:pPr>
            <a:r>
              <a:rPr lang="en-US" sz="1050" dirty="0">
                <a:solidFill>
                  <a:srgbClr val="1A2233"/>
                </a:solidFill>
                <a:latin typeface="Calibri" pitchFamily="34" charset="0"/>
              </a:rPr>
              <a:t>within about a year of launch — concentration is easing, but slowly, and the cap has never been enforced.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olicyRegulator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26" name="TB"/>
          <p:cNvSpPr/>
          <p:nvPr/>
        </p:nvSpPr>
        <p:spPr>
          <a:xfrm>
            <a:off x="548640" y="150000"/>
            <a:ext cx="11094720" cy="30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>
              <a:buNone/>
            </a:pPr>
            <a:r>
              <a:rPr lang="en-US" sz="1050" b="1" dirty="0">
                <a:solidFill>
                  <a:srgbClr val="C9A227"/>
                </a:solidFill>
                <a:latin typeface="Calibri" pitchFamily="34" charset="0"/>
              </a:rPr>
              <a:t>POLICY WATCH — UPI META</a:t>
            </a:r>
          </a:p>
        </p:txBody>
      </p:sp>
      <p:sp>
        <p:nvSpPr>
          <p:cNvPr id="5327" name="TB"/>
          <p:cNvSpPr/>
          <p:nvPr/>
        </p:nvSpPr>
        <p:spPr>
          <a:xfrm>
            <a:off x="548640" y="650000"/>
            <a:ext cx="11094720" cy="56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>
              <a:buNone/>
            </a:pPr>
            <a:r>
              <a:rPr lang="en-US" sz="2000" b="1" dirty="0">
                <a:solidFill>
                  <a:srgbClr val="21295C"/>
                </a:solidFill>
                <a:latin typeface="Cambria" pitchFamily="34" charset="0"/>
              </a:rPr>
              <a:t>Regulatory Context and Precedents</a:t>
            </a:r>
          </a:p>
        </p:txBody>
      </p:sp>
      <p:sp>
        <p:nvSpPr>
          <p:cNvPr id="5328" name="TB"/>
          <p:cNvSpPr/>
          <p:nvPr/>
        </p:nvSpPr>
        <p:spPr>
          <a:xfrm>
            <a:off x="548640" y="1600000"/>
            <a:ext cx="11094720" cy="260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228600" indent="-228600">
              <a:buFont typeface="Arial"/>
              <a:buChar char="•"/>
            </a:pPr>
            <a:r>
              <a:rPr lang="en-US" sz="1150" dirty="0">
                <a:solidFill>
                  <a:srgbClr val="1A2233"/>
                </a:solidFill>
                <a:latin typeface="Calibri" pitchFamily="34" charset="0"/>
              </a:rPr>
              <a:t>Parliamentary scrutiny: Standing Committee on Communications &amp; IT (tabled Feb 8, 2024) found PhonePe at 46.91% and Google Pay at 36.39% (combined 83.3%) vs BHIM at 0.22%; urged support for domestic players.</a:t>
            </a:r>
          </a:p>
          <a:p>
            <a:pPr marL="228600" indent="-228600">
              <a:buFont typeface="Arial"/>
              <a:buChar char="•"/>
            </a:pPr>
            <a:r>
              <a:rPr lang="en-US" sz="1150" dirty="0">
                <a:solidFill>
                  <a:srgbClr val="1A2233"/>
                </a:solidFill>
                <a:latin typeface="Calibri" pitchFamily="34" charset="0"/>
              </a:rPr>
              <a:t>Competition authority: CCI has an active history investigating Google over Google Pay/Play Store conduct, though no CCI action specific to UPI Meta is confirmed.</a:t>
            </a:r>
          </a:p>
          <a:p>
            <a:pPr marL="228600" indent="-228600">
              <a:buFont typeface="Arial"/>
              <a:buChar char="•"/>
            </a:pPr>
            <a:r>
              <a:rPr lang="en-US" sz="1150" dirty="0">
                <a:solidFill>
                  <a:srgbClr val="1A2233"/>
                </a:solidFill>
                <a:latin typeface="Calibri" pitchFamily="34" charset="0"/>
              </a:rPr>
              <a:t>China as cautionary precedent: Alipay + WeChat Pay held ~54% and ~42% of China's mobile-payments market in 2024 (OECD, June 2025) — a duopoly built on wallets set as defaults inside dominant ecosystems.</a:t>
            </a:r>
          </a:p>
          <a:p>
            <a:pPr marL="228600" indent="-228600">
              <a:buFont typeface="Arial"/>
              <a:buChar char="•"/>
            </a:pPr>
            <a:r>
              <a:rPr lang="en-US" sz="1150" dirty="0">
                <a:solidFill>
                  <a:srgbClr val="1A2233"/>
                </a:solidFill>
                <a:latin typeface="Calibri" pitchFamily="34" charset="0"/>
              </a:rPr>
              <a:t>Brazil as contrast: Pix is central-bank-operated with mandatory participation, achieving ubiquity without a single private app owning the interface — the rail, not an app, holds the customer relationship.</a:t>
            </a:r>
          </a:p>
        </p:txBody>
      </p:sp>
      <p:sp>
        <p:nvSpPr>
          <p:cNvPr id="5329" name="Box"/>
          <p:cNvSpPr/>
          <p:nvPr/>
        </p:nvSpPr>
        <p:spPr>
          <a:xfrm>
            <a:off x="548640" y="4650000"/>
            <a:ext cx="11094720" cy="1300000"/>
          </a:xfrm>
          <a:prstGeom prst="roundRect">
            <a:avLst>
              <a:gd name="adj" fmla="val 2500"/>
            </a:avLst>
          </a:prstGeom>
          <a:solidFill>
            <a:srgbClr val="FFF3E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5330" name="TB"/>
          <p:cNvSpPr/>
          <p:nvPr/>
        </p:nvSpPr>
        <p:spPr>
          <a:xfrm>
            <a:off x="728640" y="4770000"/>
            <a:ext cx="10734720" cy="30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>
              <a:buNone/>
            </a:pPr>
            <a:r>
              <a:rPr lang="en-US" sz="1150" b="1" dirty="0">
                <a:solidFill>
                  <a:srgbClr val="8A5A00"/>
                </a:solidFill>
                <a:latin typeface="Calibri" pitchFamily="34" charset="0"/>
              </a:rPr>
              <a:t>What to monitor</a:t>
            </a:r>
          </a:p>
        </p:txBody>
      </p:sp>
      <p:sp>
        <p:nvSpPr>
          <p:cNvPr id="5331" name="TB"/>
          <p:cNvSpPr/>
          <p:nvPr/>
        </p:nvSpPr>
        <p:spPr>
          <a:xfrm>
            <a:off x="728640" y="5080000"/>
            <a:ext cx="10734720" cy="75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>
              <a:buNone/>
            </a:pPr>
            <a:r>
              <a:rPr lang="en-US" sz="1050" dirty="0">
                <a:solidFill>
                  <a:srgbClr val="1A2233"/>
                </a:solidFill>
                <a:latin typeface="Calibri" pitchFamily="34" charset="0"/>
              </a:rPr>
              <a:t>Publication of an NPCI circular/spec (currently absent) · unveiling at Global Fintech Fest 2026 (Sept 8-11) ·</a:t>
            </a:r>
          </a:p>
          <a:p>
            <a:pPr>
              <a:buNone/>
            </a:pPr>
            <a:r>
              <a:rPr lang="en-US" sz="1050" dirty="0">
                <a:solidFill>
                  <a:srgbClr val="1A2233"/>
                </a:solidFill>
                <a:latin typeface="Calibri" pitchFamily="34" charset="0"/>
              </a:rPr>
              <a:t>whether NPCI mandates a neutral, changeable app-selection UI, not buried in merchant settings ·</a:t>
            </a:r>
          </a:p>
          <a:p>
            <a:pPr>
              <a:buNone/>
            </a:pPr>
            <a:r>
              <a:rPr lang="en-US" sz="1050" dirty="0">
                <a:solidFill>
                  <a:srgbClr val="1A2233"/>
                </a:solidFill>
                <a:latin typeface="Calibri" pitchFamily="34" charset="0"/>
              </a:rPr>
              <a:t>the Dec 31, 2026 cap deadline — enforcement would de-risk concentration; a 4th extension confirms status quo.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ixBRCo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32" name="TB"/>
          <p:cNvSpPr/>
          <p:nvPr/>
        </p:nvSpPr>
        <p:spPr>
          <a:xfrm>
            <a:off x="548640" y="150000"/>
            <a:ext cx="11094720" cy="30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>
              <a:buNone/>
            </a:pPr>
            <a:r>
              <a:rPr lang="en-US" sz="1050" b="1" dirty="0">
                <a:solidFill>
                  <a:srgbClr val="C9A227"/>
                </a:solidFill>
                <a:latin typeface="Calibri" pitchFamily="34" charset="0"/>
              </a:rPr>
              <a:t>BRAZIL — PIX (BANCO CENTRAL DO BRASIL)</a:t>
            </a:r>
          </a:p>
        </p:txBody>
      </p:sp>
      <p:sp>
        <p:nvSpPr>
          <p:cNvPr id="5333" name="TB"/>
          <p:cNvSpPr/>
          <p:nvPr/>
        </p:nvSpPr>
        <p:spPr>
          <a:xfrm>
            <a:off x="548640" y="650000"/>
            <a:ext cx="11094720" cy="56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>
              <a:buNone/>
            </a:pPr>
            <a:r>
              <a:rPr lang="en-US" sz="2000" b="1" dirty="0">
                <a:solidFill>
                  <a:srgbClr val="21295C"/>
                </a:solidFill>
                <a:latin typeface="Cambria" pitchFamily="34" charset="0"/>
              </a:rPr>
              <a:t>BR Code: EMV QRCPS-MPM Structure</a:t>
            </a:r>
          </a:p>
        </p:txBody>
      </p:sp>
      <p:sp>
        <p:nvSpPr>
          <p:cNvPr id="5334" name="Box"/>
          <p:cNvSpPr/>
          <p:nvPr/>
        </p:nvSpPr>
        <p:spPr>
          <a:xfrm>
            <a:off x="548640" y="1500000"/>
            <a:ext cx="11094720" cy="1750000"/>
          </a:xfrm>
          <a:prstGeom prst="roundRect">
            <a:avLst>
              <a:gd name="adj" fmla="val 2500"/>
            </a:avLst>
          </a:prstGeom>
          <a:solidFill>
            <a:srgbClr val="F5F8FA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5335" name="TB"/>
          <p:cNvSpPr/>
          <p:nvPr/>
        </p:nvSpPr>
        <p:spPr>
          <a:xfrm>
            <a:off x="728640" y="1620000"/>
            <a:ext cx="10734720" cy="30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>
              <a:buNone/>
            </a:pPr>
            <a:r>
              <a:rPr lang="en-US" sz="1150" b="1" dirty="0">
                <a:solidFill>
                  <a:srgbClr val="065A82"/>
                </a:solidFill>
                <a:latin typeface="Calibri" pitchFamily="34" charset="0"/>
              </a:rPr>
              <a:t>Root fields (Brazilian EMVCo MPM profile)</a:t>
            </a:r>
          </a:p>
        </p:txBody>
      </p:sp>
      <p:sp>
        <p:nvSpPr>
          <p:cNvPr id="5336" name="TB"/>
          <p:cNvSpPr/>
          <p:nvPr/>
        </p:nvSpPr>
        <p:spPr>
          <a:xfrm>
            <a:off x="728640" y="1930000"/>
            <a:ext cx="10734720" cy="120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>
              <a:buNone/>
            </a:pPr>
            <a:r>
              <a:rPr lang="en-US" sz="1050" dirty="0">
                <a:solidFill>
                  <a:srgbClr val="1A2233"/>
                </a:solidFill>
                <a:latin typeface="Calibri" pitchFamily="34" charset="0"/>
              </a:rPr>
              <a:t>00 "01"  ·  01 "11" reusable / "12" single-use  ·  26 Merchant Account Info (Pix, nested)  ·  52 MCC</a:t>
            </a:r>
          </a:p>
          <a:p>
            <a:pPr>
              <a:buNone/>
            </a:pPr>
            <a:r>
              <a:rPr lang="en-US" sz="1050" dirty="0">
                <a:solidFill>
                  <a:srgbClr val="1A2233"/>
                </a:solidFill>
                <a:latin typeface="Calibri" pitchFamily="34" charset="0"/>
              </a:rPr>
              <a:t>53 "986" (BRL)  ·  54 Amount (optional)  ·  58 "BR"  ·  59 Name (≤25)  ·  60 City (≤15)</a:t>
            </a:r>
          </a:p>
          <a:p>
            <a:pPr>
              <a:buNone/>
            </a:pPr>
            <a:r>
              <a:rPr lang="en-US" sz="1050" dirty="0">
                <a:solidFill>
                  <a:srgbClr val="1A2233"/>
                </a:solidFill>
                <a:latin typeface="Calibri" pitchFamily="34" charset="0"/>
              </a:rPr>
              <a:t>62 Additional Data (sub-tag 05 = txid)  ·  63 CRC-16</a:t>
            </a:r>
          </a:p>
        </p:txBody>
      </p:sp>
      <p:sp>
        <p:nvSpPr>
          <p:cNvPr id="5337" name="Box"/>
          <p:cNvSpPr/>
          <p:nvPr/>
        </p:nvSpPr>
        <p:spPr>
          <a:xfrm>
            <a:off x="548640" y="3450000"/>
            <a:ext cx="11094720" cy="1350000"/>
          </a:xfrm>
          <a:prstGeom prst="roundRect">
            <a:avLst>
              <a:gd name="adj" fmla="val 3000"/>
            </a:avLst>
          </a:prstGeom>
          <a:solidFill>
            <a:srgbClr val="21295C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5338" name="TB"/>
          <p:cNvSpPr/>
          <p:nvPr/>
        </p:nvSpPr>
        <p:spPr>
          <a:xfrm>
            <a:off x="748640" y="3580000"/>
            <a:ext cx="10694720" cy="30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>
              <a:buNone/>
            </a:pPr>
            <a:r>
              <a:rPr lang="en-US" sz="1150" b="1" dirty="0">
                <a:solidFill>
                  <a:srgbClr val="5EEAD4"/>
                </a:solidFill>
                <a:latin typeface="Calibri" pitchFamily="34" charset="0"/>
              </a:rPr>
              <a:t>ID 26 — Pix sub-tags</a:t>
            </a:r>
          </a:p>
        </p:txBody>
      </p:sp>
      <p:sp>
        <p:nvSpPr>
          <p:cNvPr id="5339" name="TB"/>
          <p:cNvSpPr/>
          <p:nvPr/>
        </p:nvSpPr>
        <p:spPr>
          <a:xfrm>
            <a:off x="748640" y="3910000"/>
            <a:ext cx="10694720" cy="77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</a:rPr>
              <a:t>00 = GUI br.gov.bcb.pix   01 = chave (Pix key: CPF/CNPJ, email, phone, or EVP UUID) for static</a:t>
            </a:r>
          </a:p>
          <a:p>
            <a:pPr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</a:rPr>
              <a:t>25 = url/location for dynamic   02 = infoAdicional</a:t>
            </a:r>
          </a:p>
          <a:p>
            <a:pPr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</a:rPr>
              <a:t>"Pix Copia e Cola" = the textual materialization, beginning 00020126...</a:t>
            </a:r>
          </a:p>
        </p:txBody>
      </p:sp>
      <p:sp>
        <p:nvSpPr>
          <p:cNvPr id="5340" name="TB"/>
          <p:cNvSpPr/>
          <p:nvPr/>
        </p:nvSpPr>
        <p:spPr>
          <a:xfrm>
            <a:off x="548640" y="6550000"/>
            <a:ext cx="11094720" cy="25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>
              <a:buNone/>
            </a:pPr>
            <a:r>
              <a:rPr lang="en-US" sz="900" i="1" dirty="0">
                <a:solidFill>
                  <a:srgbClr val="5B6B79"/>
                </a:solidFill>
                <a:latin typeface="Calibri" pitchFamily="34" charset="0"/>
              </a:rPr>
              <a:t>Source: Banco Central do Brasil, Manual do BR Code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ixExampl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41" name="TB"/>
          <p:cNvSpPr/>
          <p:nvPr/>
        </p:nvSpPr>
        <p:spPr>
          <a:xfrm>
            <a:off x="548640" y="150000"/>
            <a:ext cx="11094720" cy="30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>
              <a:buNone/>
            </a:pPr>
            <a:r>
              <a:rPr lang="en-US" sz="1050" b="1" dirty="0">
                <a:solidFill>
                  <a:srgbClr val="C9A227"/>
                </a:solidFill>
                <a:latin typeface="Calibri" pitchFamily="34" charset="0"/>
              </a:rPr>
              <a:t>BRAZIL — PIX (BANCO CENTRAL DO BRASIL)</a:t>
            </a:r>
          </a:p>
        </p:txBody>
      </p:sp>
      <p:sp>
        <p:nvSpPr>
          <p:cNvPr id="5342" name="TB"/>
          <p:cNvSpPr/>
          <p:nvPr/>
        </p:nvSpPr>
        <p:spPr>
          <a:xfrm>
            <a:off x="548640" y="650000"/>
            <a:ext cx="11094720" cy="56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>
              <a:buNone/>
            </a:pPr>
            <a:r>
              <a:rPr lang="en-US" sz="2000" b="1" dirty="0">
                <a:solidFill>
                  <a:srgbClr val="21295C"/>
                </a:solidFill>
                <a:latin typeface="Cambria" pitchFamily="34" charset="0"/>
              </a:rPr>
              <a:t>Example Static BR Code</a:t>
            </a:r>
          </a:p>
        </p:txBody>
      </p:sp>
      <p:sp>
        <p:nvSpPr>
          <p:cNvPr id="5343" name="Box"/>
          <p:cNvSpPr/>
          <p:nvPr/>
        </p:nvSpPr>
        <p:spPr>
          <a:xfrm>
            <a:off x="548640" y="1500000"/>
            <a:ext cx="11094720" cy="1500000"/>
          </a:xfrm>
          <a:prstGeom prst="roundRect">
            <a:avLst>
              <a:gd name="adj" fmla="val 3000"/>
            </a:avLst>
          </a:prstGeom>
          <a:solidFill>
            <a:srgbClr val="21295C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5344" name="TB"/>
          <p:cNvSpPr/>
          <p:nvPr/>
        </p:nvSpPr>
        <p:spPr>
          <a:xfrm>
            <a:off x="748640" y="1630000"/>
            <a:ext cx="10694720" cy="30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>
              <a:buNone/>
            </a:pPr>
            <a:r>
              <a:rPr lang="en-US" sz="1150" b="1" dirty="0">
                <a:solidFill>
                  <a:srgbClr val="5EEAD4"/>
                </a:solidFill>
                <a:latin typeface="Calibri" pitchFamily="34" charset="0"/>
              </a:rPr>
              <a:t>Raw payload</a:t>
            </a:r>
          </a:p>
        </p:txBody>
      </p:sp>
      <p:sp>
        <p:nvSpPr>
          <p:cNvPr id="5345" name="TB"/>
          <p:cNvSpPr/>
          <p:nvPr/>
        </p:nvSpPr>
        <p:spPr>
          <a:xfrm>
            <a:off x="748640" y="1960000"/>
            <a:ext cx="10694720" cy="92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>
              <a:buNone/>
            </a:pPr>
            <a:r>
              <a:rPr lang="en-US" sz="1100" dirty="0">
                <a:solidFill>
                  <a:srgbClr val="E8ECEF"/>
                </a:solidFill>
                <a:latin typeface="Courier New" pitchFamily="34" charset="0"/>
              </a:rPr>
              <a:t>00020126330014BR.GOV.BCB.PIX0111&lt;key&gt;5204000053039865</a:t>
            </a:r>
          </a:p>
          <a:p>
            <a:pPr>
              <a:buNone/>
            </a:pPr>
            <a:r>
              <a:rPr lang="en-US" sz="1100" dirty="0">
                <a:solidFill>
                  <a:srgbClr val="E8ECEF"/>
                </a:solidFill>
                <a:latin typeface="Courier New" pitchFamily="34" charset="0"/>
              </a:rPr>
              <a:t>40525.755802BR5909ANA SILVA6014BELO HORIZONTE</a:t>
            </a:r>
          </a:p>
          <a:p>
            <a:pPr>
              <a:buNone/>
            </a:pPr>
            <a:r>
              <a:rPr lang="en-US" sz="1100" dirty="0">
                <a:solidFill>
                  <a:srgbClr val="E8ECEF"/>
                </a:solidFill>
                <a:latin typeface="Courier New" pitchFamily="34" charset="0"/>
              </a:rPr>
              <a:t>62070503***6304BB4A</a:t>
            </a:r>
          </a:p>
        </p:txBody>
      </p:sp>
      <p:sp>
        <p:nvSpPr>
          <p:cNvPr id="5346" name="Box"/>
          <p:cNvSpPr/>
          <p:nvPr/>
        </p:nvSpPr>
        <p:spPr>
          <a:xfrm>
            <a:off x="548640" y="3300000"/>
            <a:ext cx="11094720" cy="900000"/>
          </a:xfrm>
          <a:prstGeom prst="roundRect">
            <a:avLst>
              <a:gd name="adj" fmla="val 2500"/>
            </a:avLst>
          </a:prstGeom>
          <a:solidFill>
            <a:srgbClr val="E8F5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5347" name="TB"/>
          <p:cNvSpPr/>
          <p:nvPr/>
        </p:nvSpPr>
        <p:spPr>
          <a:xfrm>
            <a:off x="728640" y="3420000"/>
            <a:ext cx="10734720" cy="30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>
              <a:buNone/>
            </a:pPr>
            <a:r>
              <a:rPr lang="en-US" sz="1150" b="1" dirty="0">
                <a:solidFill>
                  <a:srgbClr val="0B5D3B"/>
                </a:solidFill>
                <a:latin typeface="Calibri" pitchFamily="34" charset="0"/>
              </a:rPr>
              <a:t>Decoded</a:t>
            </a:r>
          </a:p>
        </p:txBody>
      </p:sp>
      <p:sp>
        <p:nvSpPr>
          <p:cNvPr id="5348" name="TB"/>
          <p:cNvSpPr/>
          <p:nvPr/>
        </p:nvSpPr>
        <p:spPr>
          <a:xfrm>
            <a:off x="728640" y="3730000"/>
            <a:ext cx="10734720" cy="35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>
              <a:buNone/>
            </a:pPr>
            <a:r>
              <a:rPr lang="en-US" sz="1250" dirty="0">
                <a:solidFill>
                  <a:srgbClr val="1A2233"/>
                </a:solidFill>
                <a:latin typeface="Calibri" pitchFamily="34" charset="0"/>
              </a:rPr>
              <a:t>Charges R$25.75 to "ANA SILVA" in "BELO HORIZONTE", using a static Pix key.</a:t>
            </a:r>
          </a:p>
        </p:txBody>
      </p:sp>
      <p:sp>
        <p:nvSpPr>
          <p:cNvPr id="5349" name="TB"/>
          <p:cNvSpPr/>
          <p:nvPr/>
        </p:nvSpPr>
        <p:spPr>
          <a:xfrm>
            <a:off x="548640" y="6550000"/>
            <a:ext cx="11094720" cy="25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>
              <a:buNone/>
            </a:pPr>
            <a:r>
              <a:rPr lang="en-US" sz="900" i="1" dirty="0">
                <a:solidFill>
                  <a:srgbClr val="5B6B79"/>
                </a:solidFill>
                <a:latin typeface="Calibri" pitchFamily="34" charset="0"/>
              </a:rPr>
              <a:t>Source: Banco Central do Brasil, Manual do BR Code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ixDynamic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50" name="TB"/>
          <p:cNvSpPr/>
          <p:nvPr/>
        </p:nvSpPr>
        <p:spPr>
          <a:xfrm>
            <a:off x="548640" y="150000"/>
            <a:ext cx="11094720" cy="30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>
              <a:buNone/>
            </a:pPr>
            <a:r>
              <a:rPr lang="en-US" sz="1050" b="1" dirty="0">
                <a:solidFill>
                  <a:srgbClr val="C9A227"/>
                </a:solidFill>
                <a:latin typeface="Calibri" pitchFamily="34" charset="0"/>
              </a:rPr>
              <a:t>BRAZIL — PIX (BANCO CENTRAL DO BRASIL)</a:t>
            </a:r>
          </a:p>
        </p:txBody>
      </p:sp>
      <p:sp>
        <p:nvSpPr>
          <p:cNvPr id="5351" name="TB"/>
          <p:cNvSpPr/>
          <p:nvPr/>
        </p:nvSpPr>
        <p:spPr>
          <a:xfrm>
            <a:off x="548640" y="650000"/>
            <a:ext cx="11094720" cy="56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>
              <a:buNone/>
            </a:pPr>
            <a:r>
              <a:rPr lang="en-US" sz="1900" b="1" dirty="0">
                <a:solidFill>
                  <a:srgbClr val="21295C"/>
                </a:solidFill>
                <a:latin typeface="Cambria" pitchFamily="34" charset="0"/>
              </a:rPr>
              <a:t>Static vs. Dynamic (cob / cobv) and the Location JWS</a:t>
            </a:r>
          </a:p>
        </p:txBody>
      </p:sp>
      <p:sp>
        <p:nvSpPr>
          <p:cNvPr id="5352" name="Box"/>
          <p:cNvSpPr/>
          <p:nvPr/>
        </p:nvSpPr>
        <p:spPr>
          <a:xfrm>
            <a:off x="548640" y="1500000"/>
            <a:ext cx="11094720" cy="1350000"/>
          </a:xfrm>
          <a:prstGeom prst="roundRect">
            <a:avLst>
              <a:gd name="adj" fmla="val 2500"/>
            </a:avLst>
          </a:prstGeom>
          <a:solidFill>
            <a:srgbClr val="F5F8FA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5353" name="TB"/>
          <p:cNvSpPr/>
          <p:nvPr/>
        </p:nvSpPr>
        <p:spPr>
          <a:xfrm>
            <a:off x="728640" y="1620000"/>
            <a:ext cx="10734720" cy="30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>
              <a:buNone/>
            </a:pPr>
            <a:r>
              <a:rPr lang="en-US" sz="1150" b="1" dirty="0">
                <a:solidFill>
                  <a:srgbClr val="065A82"/>
                </a:solidFill>
                <a:latin typeface="Calibri" pitchFamily="34" charset="0"/>
              </a:rPr>
              <a:t>Two dynamic charge types</a:t>
            </a:r>
          </a:p>
        </p:txBody>
      </p:sp>
      <p:sp>
        <p:nvSpPr>
          <p:cNvPr id="5354" name="TB"/>
          <p:cNvSpPr/>
          <p:nvPr/>
        </p:nvSpPr>
        <p:spPr>
          <a:xfrm>
            <a:off x="728640" y="1930000"/>
            <a:ext cx="10734720" cy="80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>
              <a:buNone/>
            </a:pPr>
            <a:r>
              <a:rPr lang="en-US" sz="1100" dirty="0">
                <a:solidFill>
                  <a:srgbClr val="1A2233"/>
                </a:solidFill>
                <a:latin typeface="Calibri" pitchFamily="34" charset="0"/>
              </a:rPr>
              <a:t>cob (immediate) — GET /cob/{txid}</a:t>
            </a:r>
          </a:p>
          <a:p>
            <a:pPr>
              <a:buNone/>
            </a:pPr>
            <a:r>
              <a:rPr lang="en-US" sz="1100" dirty="0">
                <a:solidFill>
                  <a:srgbClr val="1A2233"/>
                </a:solidFill>
                <a:latin typeface="Calibri" pitchFamily="34" charset="0"/>
              </a:rPr>
              <a:t>cobv (due-date) — GET /cobv/{txid}, adds valor.multa (fine), valor.juros (interest), valor.desconto</a:t>
            </a:r>
          </a:p>
          <a:p>
            <a:pPr>
              <a:buNone/>
            </a:pPr>
            <a:r>
              <a:rPr lang="en-US" sz="1100" dirty="0">
                <a:solidFill>
                  <a:srgbClr val="1A2233"/>
                </a:solidFill>
                <a:latin typeface="Calibri" pitchFamily="34" charset="0"/>
              </a:rPr>
              <a:t>(discount), valor.abatimento (rebate), calendario.dataDeVencimento</a:t>
            </a:r>
          </a:p>
        </p:txBody>
      </p:sp>
      <p:sp>
        <p:nvSpPr>
          <p:cNvPr id="5355" name="Box"/>
          <p:cNvSpPr/>
          <p:nvPr/>
        </p:nvSpPr>
        <p:spPr>
          <a:xfrm>
            <a:off x="548640" y="3050000"/>
            <a:ext cx="11094720" cy="2900000"/>
          </a:xfrm>
          <a:prstGeom prst="roundRect">
            <a:avLst>
              <a:gd name="adj" fmla="val 3000"/>
            </a:avLst>
          </a:prstGeom>
          <a:solidFill>
            <a:srgbClr val="21295C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5356" name="TB"/>
          <p:cNvSpPr/>
          <p:nvPr/>
        </p:nvSpPr>
        <p:spPr>
          <a:xfrm>
            <a:off x="748640" y="3180000"/>
            <a:ext cx="10694720" cy="30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>
              <a:buNone/>
            </a:pPr>
            <a:r>
              <a:rPr lang="en-US" sz="1150" b="1" dirty="0">
                <a:solidFill>
                  <a:srgbClr val="5EEAD4"/>
                </a:solidFill>
                <a:latin typeface="Calibri" pitchFamily="34" charset="0"/>
              </a:rPr>
              <a:t>Payer app GETs the location URL; response is a JWS whose payload is:</a:t>
            </a:r>
          </a:p>
        </p:txBody>
      </p:sp>
      <p:sp>
        <p:nvSpPr>
          <p:cNvPr id="5357" name="TB"/>
          <p:cNvSpPr/>
          <p:nvPr/>
        </p:nvSpPr>
        <p:spPr>
          <a:xfrm>
            <a:off x="748640" y="3510000"/>
            <a:ext cx="10694720" cy="232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>
              <a:buNone/>
            </a:pPr>
            <a:r>
              <a:rPr lang="en-US" sz="950" dirty="0">
                <a:solidFill>
                  <a:srgbClr val="E8ECEF"/>
                </a:solidFill>
                <a:latin typeface="Courier New" pitchFamily="34" charset="0"/>
              </a:rPr>
              <a:t>{ "calendario": { "criacao": "...", "expiracao": 3600 },</a:t>
            </a:r>
          </a:p>
          <a:p>
            <a:pPr>
              <a:buNone/>
            </a:pPr>
            <a:r>
              <a:rPr lang="en-US" sz="950" dirty="0">
                <a:solidFill>
                  <a:srgbClr val="E8ECEF"/>
                </a:solidFill>
                <a:latin typeface="Courier New" pitchFamily="34" charset="0"/>
              </a:rPr>
              <a:t>  "txid": "fc9a4366ff3d4964b5dbc6c91a8722d3",</a:t>
            </a:r>
          </a:p>
          <a:p>
            <a:pPr>
              <a:buNone/>
            </a:pPr>
            <a:r>
              <a:rPr lang="en-US" sz="950" dirty="0">
                <a:solidFill>
                  <a:srgbClr val="E8ECEF"/>
                </a:solidFill>
                <a:latin typeface="Courier New" pitchFamily="34" charset="0"/>
              </a:rPr>
              <a:t>  "loc": { "id": 789, "location": "pix.example.com/qr/v2/&lt;uuid&gt;", "tipoCob": "cob" },</a:t>
            </a:r>
          </a:p>
          <a:p>
            <a:pPr>
              <a:buNone/>
            </a:pPr>
            <a:r>
              <a:rPr lang="en-US" sz="950" dirty="0">
                <a:solidFill>
                  <a:srgbClr val="E8ECEF"/>
                </a:solidFill>
                <a:latin typeface="Courier New" pitchFamily="34" charset="0"/>
              </a:rPr>
              <a:t>  "status": "ATIVA",</a:t>
            </a:r>
          </a:p>
          <a:p>
            <a:pPr>
              <a:buNone/>
            </a:pPr>
            <a:r>
              <a:rPr lang="en-US" sz="950" dirty="0">
                <a:solidFill>
                  <a:srgbClr val="E8ECEF"/>
                </a:solidFill>
                <a:latin typeface="Courier New" pitchFamily="34" charset="0"/>
              </a:rPr>
              <a:t>  "devedor": { "cpf": "12345678909", "nome": "Francisco da Silva" },</a:t>
            </a:r>
          </a:p>
          <a:p>
            <a:pPr>
              <a:buNone/>
            </a:pPr>
            <a:r>
              <a:rPr lang="en-US" sz="950" dirty="0">
                <a:solidFill>
                  <a:srgbClr val="E8ECEF"/>
                </a:solidFill>
                <a:latin typeface="Courier New" pitchFamily="34" charset="0"/>
              </a:rPr>
              <a:t>  "valor": { "original": "123.45" },</a:t>
            </a:r>
          </a:p>
          <a:p>
            <a:pPr>
              <a:buNone/>
            </a:pPr>
            <a:r>
              <a:rPr lang="en-US" sz="950" dirty="0">
                <a:solidFill>
                  <a:srgbClr val="E8ECEF"/>
                </a:solidFill>
                <a:latin typeface="Courier New" pitchFamily="34" charset="0"/>
              </a:rPr>
              <a:t>  "pixCopiaECola": "00020101021226..." }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ixNoSchem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58" name="TB"/>
          <p:cNvSpPr/>
          <p:nvPr/>
        </p:nvSpPr>
        <p:spPr>
          <a:xfrm>
            <a:off x="548640" y="150000"/>
            <a:ext cx="11094720" cy="30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>
              <a:buNone/>
            </a:pPr>
            <a:r>
              <a:rPr lang="en-US" sz="1050" b="1" dirty="0">
                <a:solidFill>
                  <a:srgbClr val="C9A227"/>
                </a:solidFill>
                <a:latin typeface="Calibri" pitchFamily="34" charset="0"/>
              </a:rPr>
              <a:t>BRAZIL — PIX (BANCO CENTRAL DO BRASIL)  ·  DIRECT PARALLEL TO THIS PROJECT</a:t>
            </a:r>
          </a:p>
        </p:txBody>
      </p:sp>
      <p:sp>
        <p:nvSpPr>
          <p:cNvPr id="5359" name="TB"/>
          <p:cNvSpPr/>
          <p:nvPr/>
        </p:nvSpPr>
        <p:spPr>
          <a:xfrm>
            <a:off x="548640" y="650000"/>
            <a:ext cx="11094720" cy="56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>
              <a:buNone/>
            </a:pPr>
            <a:r>
              <a:rPr lang="en-US" sz="2000" b="1" dirty="0">
                <a:solidFill>
                  <a:srgbClr val="21295C"/>
                </a:solidFill>
                <a:latin typeface="Cambria" pitchFamily="34" charset="0"/>
              </a:rPr>
              <a:t>Why There Is No pix:// Scheme</a:t>
            </a:r>
          </a:p>
        </p:txBody>
      </p:sp>
      <p:sp>
        <p:nvSpPr>
          <p:cNvPr id="5360" name="TB"/>
          <p:cNvSpPr/>
          <p:nvPr/>
        </p:nvSpPr>
        <p:spPr>
          <a:xfrm>
            <a:off x="548640" y="1600000"/>
            <a:ext cx="11094720" cy="240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228600" indent="-228600">
              <a:buFont typeface="Arial"/>
              <a:buChar char="•"/>
            </a:pPr>
            <a:r>
              <a:rPr lang="en-US" sz="1150" dirty="0">
                <a:solidFill>
                  <a:srgbClr val="1A2233"/>
                </a:solidFill>
                <a:latin typeface="Calibri" pitchFamily="34" charset="0"/>
              </a:rPr>
              <a:t>A community "PixLink" deep-link standard (bacen/pix-api Issue #129) proposed registering each PSP's app for App Links / Universal Links — discussed but not adopted.</a:t>
            </a:r>
          </a:p>
          <a:p>
            <a:pPr marL="228600" indent="-228600">
              <a:buFont typeface="Arial"/>
              <a:buChar char="•"/>
            </a:pPr>
            <a:r>
              <a:rPr lang="en-US" sz="1150" dirty="0">
                <a:solidFill>
                  <a:srgbClr val="1A2233"/>
                </a:solidFill>
                <a:latin typeface="Calibri" pitchFamily="34" charset="0"/>
              </a:rPr>
              <a:t>Issue #591 documents how Samsung's camera opens the banking app from a Pix QR — an OEM-level behavior, not a Bacen standard.</a:t>
            </a:r>
          </a:p>
          <a:p>
            <a:pPr marL="228600" indent="-228600">
              <a:buFont typeface="Arial"/>
              <a:buChar char="•"/>
            </a:pPr>
            <a:r>
              <a:rPr lang="en-US" sz="1150" dirty="0">
                <a:solidFill>
                  <a:srgbClr val="1A2233"/>
                </a:solidFill>
                <a:latin typeface="Calibri" pitchFamily="34" charset="0"/>
              </a:rPr>
              <a:t>Issue #599 proposed a pix:// URL scheme for Copia e Cola — also not adopted.</a:t>
            </a:r>
          </a:p>
        </p:txBody>
      </p:sp>
      <p:sp>
        <p:nvSpPr>
          <p:cNvPr id="5361" name="Box"/>
          <p:cNvSpPr/>
          <p:nvPr/>
        </p:nvSpPr>
        <p:spPr>
          <a:xfrm>
            <a:off x="548640" y="4200000"/>
            <a:ext cx="11094720" cy="1300000"/>
          </a:xfrm>
          <a:prstGeom prst="roundRect">
            <a:avLst>
              <a:gd name="adj" fmla="val 2500"/>
            </a:avLst>
          </a:prstGeom>
          <a:solidFill>
            <a:srgbClr val="E8F5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5362" name="TB"/>
          <p:cNvSpPr/>
          <p:nvPr/>
        </p:nvSpPr>
        <p:spPr>
          <a:xfrm>
            <a:off x="728640" y="4320000"/>
            <a:ext cx="10734720" cy="30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>
              <a:buNone/>
            </a:pPr>
            <a:r>
              <a:rPr lang="en-US" sz="1150" b="1" dirty="0">
                <a:solidFill>
                  <a:srgbClr val="0B5D3B"/>
                </a:solidFill>
                <a:latin typeface="Calibri" pitchFamily="34" charset="0"/>
              </a:rPr>
              <a:t>Same conclusion, independently reached</a:t>
            </a:r>
          </a:p>
        </p:txBody>
      </p:sp>
      <p:sp>
        <p:nvSpPr>
          <p:cNvPr id="5363" name="TB"/>
          <p:cNvSpPr/>
          <p:nvPr/>
        </p:nvSpPr>
        <p:spPr>
          <a:xfrm>
            <a:off x="728640" y="4630000"/>
            <a:ext cx="10734720" cy="75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>
              <a:buNone/>
            </a:pPr>
            <a:r>
              <a:rPr lang="en-US" sz="1100" dirty="0">
                <a:solidFill>
                  <a:srgbClr val="1A2233"/>
                </a:solidFill>
                <a:latin typeface="Calibri" pitchFamily="34" charset="0"/>
              </a:rPr>
              <a:t>Brazil's central bank considered registering a verified link for Pix and explicitly rejected it, twice, across</a:t>
            </a:r>
          </a:p>
          <a:p>
            <a:pPr>
              <a:buNone/>
            </a:pPr>
            <a:r>
              <a:rPr lang="en-US" sz="1100" dirty="0">
                <a:solidFill>
                  <a:srgbClr val="1A2233"/>
                </a:solidFill>
                <a:latin typeface="Calibri" pitchFamily="34" charset="0"/>
              </a:rPr>
              <a:t>two separate GitHub issues. Initiation instead happens via QR/Copia-e-Cola parsing or the Open Finance</a:t>
            </a:r>
          </a:p>
          <a:p>
            <a:pPr>
              <a:buNone/>
            </a:pPr>
            <a:r>
              <a:rPr lang="en-US" sz="1100" dirty="0">
                <a:solidFill>
                  <a:srgbClr val="1A2233"/>
                </a:solidFill>
                <a:latin typeface="Calibri" pitchFamily="34" charset="0"/>
              </a:rPr>
              <a:t>redirect — the same "don't register a claimable link" conclusion this project reaches for Bank A/B/C.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ixOpenFinanc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64" name="TB"/>
          <p:cNvSpPr/>
          <p:nvPr/>
        </p:nvSpPr>
        <p:spPr>
          <a:xfrm>
            <a:off x="548640" y="150000"/>
            <a:ext cx="11094720" cy="30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>
              <a:buNone/>
            </a:pPr>
            <a:r>
              <a:rPr lang="en-US" sz="1050" b="1" dirty="0">
                <a:solidFill>
                  <a:srgbClr val="C9A227"/>
                </a:solidFill>
                <a:latin typeface="Calibri" pitchFamily="34" charset="0"/>
              </a:rPr>
              <a:t>BRAZIL — PIX (BANCO CENTRAL DO BRASIL)</a:t>
            </a:r>
          </a:p>
        </p:txBody>
      </p:sp>
      <p:sp>
        <p:nvSpPr>
          <p:cNvPr id="5365" name="TB"/>
          <p:cNvSpPr/>
          <p:nvPr/>
        </p:nvSpPr>
        <p:spPr>
          <a:xfrm>
            <a:off x="548640" y="650000"/>
            <a:ext cx="11094720" cy="56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>
              <a:buNone/>
            </a:pPr>
            <a:r>
              <a:rPr lang="en-US" sz="2000" b="1" dirty="0">
                <a:solidFill>
                  <a:srgbClr val="21295C"/>
                </a:solidFill>
                <a:latin typeface="Cambria" pitchFamily="34" charset="0"/>
              </a:rPr>
              <a:t>Open Finance Brasil Payment Initiation (ITP)</a:t>
            </a:r>
          </a:p>
        </p:txBody>
      </p:sp>
      <p:sp>
        <p:nvSpPr>
          <p:cNvPr id="5366" name="Box"/>
          <p:cNvSpPr/>
          <p:nvPr/>
        </p:nvSpPr>
        <p:spPr>
          <a:xfrm>
            <a:off x="548640" y="1500000"/>
            <a:ext cx="11094720" cy="1600000"/>
          </a:xfrm>
          <a:prstGeom prst="roundRect">
            <a:avLst>
              <a:gd name="adj" fmla="val 2500"/>
            </a:avLst>
          </a:prstGeom>
          <a:solidFill>
            <a:srgbClr val="F5F8FA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5367" name="TB"/>
          <p:cNvSpPr/>
          <p:nvPr/>
        </p:nvSpPr>
        <p:spPr>
          <a:xfrm>
            <a:off x="728640" y="1620000"/>
            <a:ext cx="10734720" cy="30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>
              <a:buNone/>
            </a:pPr>
            <a:r>
              <a:rPr lang="en-US" sz="1150" b="1" dirty="0">
                <a:solidFill>
                  <a:srgbClr val="065A82"/>
                </a:solidFill>
                <a:latin typeface="Calibri" pitchFamily="34" charset="0"/>
              </a:rPr>
              <a:t>Security model: FAPI (OAuth 2.0 + OIDC → FAPI 2.0)</a:t>
            </a:r>
          </a:p>
        </p:txBody>
      </p:sp>
      <p:sp>
        <p:nvSpPr>
          <p:cNvPr id="5368" name="TB"/>
          <p:cNvSpPr/>
          <p:nvPr/>
        </p:nvSpPr>
        <p:spPr>
          <a:xfrm>
            <a:off x="728640" y="1930000"/>
            <a:ext cx="10734720" cy="105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>
              <a:buNone/>
            </a:pPr>
            <a:r>
              <a:rPr lang="en-US" sz="1050" dirty="0">
                <a:solidFill>
                  <a:srgbClr val="1A2233"/>
                </a:solidFill>
                <a:latin typeface="Calibri" pitchFamily="34" charset="0"/>
              </a:rPr>
              <a:t>TPP creates a consent via POST /payments/v1/consents (scope payments), uses PAR + Authorisation Code</a:t>
            </a:r>
          </a:p>
          <a:p>
            <a:pPr>
              <a:buNone/>
            </a:pPr>
            <a:r>
              <a:rPr lang="en-US" sz="1050" dirty="0">
                <a:solidFill>
                  <a:srgbClr val="1A2233"/>
                </a:solidFill>
                <a:latin typeface="Calibri" pitchFamily="34" charset="0"/>
              </a:rPr>
              <a:t>grant. User is redirected app-to-app to their ASPSP to authenticate (SCA) and authorize; TPP then calls</a:t>
            </a:r>
          </a:p>
          <a:p>
            <a:pPr>
              <a:buNone/>
            </a:pPr>
            <a:r>
              <a:rPr lang="en-US" sz="1050" dirty="0">
                <a:solidFill>
                  <a:srgbClr val="1A2233"/>
                </a:solidFill>
                <a:latin typeface="Calibri" pitchFamily="34" charset="0"/>
              </a:rPr>
              <a:t>POST /payments/v1/pix/payments. Redirect URIs registered in the OFB Directory (validated against</a:t>
            </a:r>
          </a:p>
          <a:p>
            <a:pPr>
              <a:buNone/>
            </a:pPr>
            <a:r>
              <a:rPr lang="en-US" sz="1050" dirty="0">
                <a:solidFill>
                  <a:srgbClr val="1A2233"/>
                </a:solidFill>
                <a:latin typeface="Calibri" pitchFamily="34" charset="0"/>
              </a:rPr>
              <a:t>software_origin_uris).</a:t>
            </a:r>
          </a:p>
        </p:txBody>
      </p:sp>
      <p:sp>
        <p:nvSpPr>
          <p:cNvPr id="5369" name="Box"/>
          <p:cNvSpPr/>
          <p:nvPr/>
        </p:nvSpPr>
        <p:spPr>
          <a:xfrm>
            <a:off x="548640" y="3300000"/>
            <a:ext cx="11094720" cy="1500000"/>
          </a:xfrm>
          <a:prstGeom prst="roundRect">
            <a:avLst>
              <a:gd name="adj" fmla="val 2500"/>
            </a:avLst>
          </a:prstGeom>
          <a:solidFill>
            <a:srgbClr val="FFF3E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5370" name="TB"/>
          <p:cNvSpPr/>
          <p:nvPr/>
        </p:nvSpPr>
        <p:spPr>
          <a:xfrm>
            <a:off x="728640" y="3420000"/>
            <a:ext cx="10734720" cy="30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>
              <a:buNone/>
            </a:pPr>
            <a:r>
              <a:rPr lang="en-US" sz="1150" b="1" dirty="0">
                <a:solidFill>
                  <a:srgbClr val="8A5A00"/>
                </a:solidFill>
                <a:latin typeface="Calibri" pitchFamily="34" charset="0"/>
              </a:rPr>
              <a:t>Variants</a:t>
            </a:r>
          </a:p>
        </p:txBody>
      </p:sp>
      <p:sp>
        <p:nvSpPr>
          <p:cNvPr id="5371" name="TB"/>
          <p:cNvSpPr/>
          <p:nvPr/>
        </p:nvSpPr>
        <p:spPr>
          <a:xfrm>
            <a:off x="728640" y="3730000"/>
            <a:ext cx="10734720" cy="95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>
              <a:buNone/>
            </a:pPr>
            <a:r>
              <a:rPr lang="en-US" sz="1050" dirty="0">
                <a:solidFill>
                  <a:srgbClr val="1A2233"/>
                </a:solidFill>
                <a:latin typeface="Calibri" pitchFamily="34" charset="0"/>
              </a:rPr>
              <a:t>CIBA — decoupled authorization.</a:t>
            </a:r>
          </a:p>
          <a:p>
            <a:pPr>
              <a:buNone/>
            </a:pPr>
            <a:r>
              <a:rPr lang="en-US" sz="1050" dirty="0">
                <a:solidFill>
                  <a:srgbClr val="1A2233"/>
                </a:solidFill>
                <a:latin typeface="Calibri" pitchFamily="34" charset="0"/>
              </a:rPr>
              <a:t>FIDO "redirectless" (Contactless Pix / Enrollments API): user enrolls a device once, then signs an on-device</a:t>
            </a:r>
          </a:p>
          <a:p>
            <a:pPr>
              <a:buNone/>
            </a:pPr>
            <a:r>
              <a:rPr lang="en-US" sz="1050" dirty="0">
                <a:solidFill>
                  <a:srgbClr val="1A2233"/>
                </a:solidFill>
                <a:latin typeface="Calibri" pitchFamily="34" charset="0"/>
              </a:rPr>
              <a:t>challenge (GET /enrollments/{id}/fido-sign-options) so future payments authorize with no redirect at all,</a:t>
            </a:r>
          </a:p>
          <a:p>
            <a:pPr>
              <a:buNone/>
            </a:pPr>
            <a:r>
              <a:rPr lang="en-US" sz="1050" dirty="0">
                <a:solidFill>
                  <a:srgbClr val="1A2233"/>
                </a:solidFill>
                <a:latin typeface="Calibri" pitchFamily="34" charset="0"/>
              </a:rPr>
              <a:t>within preset limits. Pix Automático is the recurring-payment standard (Rec/CobR/SolicRec endpoints).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TazapayLifecycl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72" name="TB"/>
          <p:cNvSpPr/>
          <p:nvPr/>
        </p:nvSpPr>
        <p:spPr>
          <a:xfrm>
            <a:off x="548640" y="150000"/>
            <a:ext cx="11094720" cy="30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>
              <a:buNone/>
            </a:pPr>
            <a:r>
              <a:rPr lang="en-US" sz="1050" b="1" dirty="0">
                <a:solidFill>
                  <a:srgbClr val="C9A227"/>
                </a:solidFill>
                <a:latin typeface="Calibri" pitchFamily="34" charset="0"/>
              </a:rPr>
              <a:t>TAZAPAY</a:t>
            </a:r>
          </a:p>
        </p:txBody>
      </p:sp>
      <p:sp>
        <p:nvSpPr>
          <p:cNvPr id="5373" name="TB"/>
          <p:cNvSpPr/>
          <p:nvPr/>
        </p:nvSpPr>
        <p:spPr>
          <a:xfrm>
            <a:off x="548640" y="650000"/>
            <a:ext cx="11094720" cy="56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>
              <a:buNone/>
            </a:pPr>
            <a:r>
              <a:rPr lang="en-US" sz="2000" b="1" dirty="0">
                <a:solidFill>
                  <a:srgbClr val="21295C"/>
                </a:solidFill>
                <a:latin typeface="Cambria" pitchFamily="34" charset="0"/>
              </a:rPr>
              <a:t>Payin Lifecycle</a:t>
            </a:r>
          </a:p>
        </p:txBody>
      </p:sp>
      <p:sp>
        <p:nvSpPr>
          <p:cNvPr id="5374" name="TB"/>
          <p:cNvSpPr/>
          <p:nvPr/>
        </p:nvSpPr>
        <p:spPr>
          <a:xfrm>
            <a:off x="548640" y="1200000"/>
            <a:ext cx="11094720" cy="38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>
              <a:buNone/>
            </a:pPr>
            <a:r>
              <a:rPr lang="en-US" sz="1150" i="1" dirty="0">
                <a:solidFill>
                  <a:srgbClr val="5B6B79"/>
                </a:solidFill>
                <a:latin typeface="Calibri" pitchFamily="34" charset="0"/>
              </a:rPr>
              <a:t>A cross-border aggregator that abstracts every downstream method behind a single payin object</a:t>
            </a:r>
          </a:p>
        </p:txBody>
      </p:sp>
      <p:sp>
        <p:nvSpPr>
          <p:cNvPr id="5375" name="Box"/>
          <p:cNvSpPr/>
          <p:nvPr/>
        </p:nvSpPr>
        <p:spPr>
          <a:xfrm>
            <a:off x="548640" y="1700000"/>
            <a:ext cx="11094720" cy="2400000"/>
          </a:xfrm>
          <a:prstGeom prst="roundRect">
            <a:avLst>
              <a:gd name="adj" fmla="val 3000"/>
            </a:avLst>
          </a:prstGeom>
          <a:solidFill>
            <a:srgbClr val="21295C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5376" name="TB"/>
          <p:cNvSpPr/>
          <p:nvPr/>
        </p:nvSpPr>
        <p:spPr>
          <a:xfrm>
            <a:off x="748640" y="1830000"/>
            <a:ext cx="10694720" cy="30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>
              <a:buNone/>
            </a:pPr>
            <a:r>
              <a:rPr lang="en-US" sz="1150" b="1" dirty="0">
                <a:solidFill>
                  <a:srgbClr val="5EEAD4"/>
                </a:solidFill>
                <a:latin typeface="Calibri" pitchFamily="34" charset="0"/>
              </a:rPr>
              <a:t>Flow</a:t>
            </a:r>
          </a:p>
        </p:txBody>
      </p:sp>
      <p:sp>
        <p:nvSpPr>
          <p:cNvPr id="5377" name="TB"/>
          <p:cNvSpPr/>
          <p:nvPr/>
        </p:nvSpPr>
        <p:spPr>
          <a:xfrm>
            <a:off x="748640" y="2160000"/>
            <a:ext cx="10694720" cy="182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>
              <a:buNone/>
            </a:pPr>
            <a:r>
              <a:rPr lang="en-US" sz="1000" dirty="0">
                <a:solidFill>
                  <a:srgbClr val="E8ECEF"/>
                </a:solidFill>
                <a:latin typeface="Courier New" pitchFamily="34" charset="0"/>
              </a:rPr>
              <a:t>1. Create   POST /v3/payin  { invoice_currency, amount, transaction_description }</a:t>
            </a:r>
          </a:p>
          <a:p>
            <a:pPr>
              <a:buNone/>
            </a:pPr>
            <a:r>
              <a:rPr lang="en-US" sz="1000" dirty="0">
                <a:solidFill>
                  <a:srgbClr val="E8ECEF"/>
                </a:solidFill>
                <a:latin typeface="Courier New" pitchFamily="34" charset="0"/>
              </a:rPr>
              <a:t>            → status: requires_payment_method</a:t>
            </a:r>
          </a:p>
          <a:p>
            <a:pPr>
              <a:buNone/>
            </a:pPr>
            <a:r>
              <a:rPr lang="en-US" sz="1000" dirty="0">
                <a:solidFill>
                  <a:srgbClr val="E8ECEF"/>
                </a:solidFill>
                <a:latin typeface="Courier New" pitchFamily="34" charset="0"/>
              </a:rPr>
              <a:t>2. Confirm  POST /v3/payin/{id}/confirm  { customer_details, payment_method_details.type }</a:t>
            </a:r>
          </a:p>
          <a:p>
            <a:pPr>
              <a:buNone/>
            </a:pPr>
            <a:r>
              <a:rPr lang="en-US" sz="1000" dirty="0">
                <a:solidFill>
                  <a:srgbClr val="E8ECEF"/>
                </a:solidFill>
                <a:latin typeface="Courier New" pitchFamily="34" charset="0"/>
              </a:rPr>
              <a:t>            → status: requires_action, redirect_url generated (or pass confirm:true on create)</a:t>
            </a:r>
          </a:p>
          <a:p>
            <a:pPr>
              <a:buNone/>
            </a:pPr>
            <a:r>
              <a:rPr lang="en-US" sz="1000" dirty="0">
                <a:solidFill>
                  <a:srgbClr val="E8ECEF"/>
                </a:solidFill>
                <a:latin typeface="Courier New" pitchFamily="34" charset="0"/>
              </a:rPr>
              <a:t>3. Response includes: id (pay_...), client_token, latest_payment_attempt (pat_...), redirect_url</a:t>
            </a:r>
          </a:p>
          <a:p>
            <a:pPr>
              <a:buNone/>
            </a:pPr>
            <a:r>
              <a:rPr lang="en-US" sz="1000" dirty="0">
                <a:solidFill>
                  <a:srgbClr val="E8ECEF"/>
                </a:solidFill>
                <a:latin typeface="Courier New" pitchFamily="34" charset="0"/>
              </a:rPr>
              <a:t/>
            </a:r>
          </a:p>
          <a:p>
            <a:pPr>
              <a:buNone/>
            </a:pPr>
            <a:r>
              <a:rPr lang="en-US" sz="1000" dirty="0">
                <a:solidFill>
                  <a:srgbClr val="E8ECEF"/>
                </a:solidFill>
                <a:latin typeface="Courier New" pitchFamily="34" charset="0"/>
              </a:rPr>
              <a:t>redirect_url = https://checkout.tazapay.com/single-payment.html?tzid=&lt;client_token&gt;&amp;spid=&lt;base64 pay URL&gt;</a:t>
            </a:r>
          </a:p>
        </p:txBody>
      </p:sp>
      <p:sp>
        <p:nvSpPr>
          <p:cNvPr id="5378" name="Box"/>
          <p:cNvSpPr/>
          <p:nvPr/>
        </p:nvSpPr>
        <p:spPr>
          <a:xfrm>
            <a:off x="548640" y="4300000"/>
            <a:ext cx="11094720" cy="750000"/>
          </a:xfrm>
          <a:prstGeom prst="roundRect">
            <a:avLst>
              <a:gd name="adj" fmla="val 2500"/>
            </a:avLst>
          </a:prstGeom>
          <a:solidFill>
            <a:srgbClr val="F5F8FA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5379" name="TB"/>
          <p:cNvSpPr/>
          <p:nvPr/>
        </p:nvSpPr>
        <p:spPr>
          <a:xfrm>
            <a:off x="728640" y="4420000"/>
            <a:ext cx="10734720" cy="30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>
              <a:buNone/>
            </a:pPr>
            <a:r>
              <a:rPr lang="en-US" sz="1150" b="1" dirty="0">
                <a:solidFill>
                  <a:srgbClr val="065A82"/>
                </a:solidFill>
                <a:latin typeface="Calibri" pitchFamily="34" charset="0"/>
              </a:rPr>
              <a:t>Base URLs</a:t>
            </a:r>
          </a:p>
        </p:txBody>
      </p:sp>
      <p:sp>
        <p:nvSpPr>
          <p:cNvPr id="5380" name="TB"/>
          <p:cNvSpPr/>
          <p:nvPr/>
        </p:nvSpPr>
        <p:spPr>
          <a:xfrm>
            <a:off x="728640" y="4730000"/>
            <a:ext cx="10734720" cy="20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>
              <a:buNone/>
            </a:pPr>
            <a:r>
              <a:rPr lang="en-US" sz="1050" dirty="0">
                <a:solidFill>
                  <a:srgbClr val="1A2233"/>
                </a:solidFill>
                <a:latin typeface="Calibri" pitchFamily="34" charset="0"/>
              </a:rPr>
              <a:t>Sandbox: service-sandbox.tazapay.com  ·  Production: service.tazapay.com  ·  Checkout: checkout.tazapay.com  ·  Auth: HTTP Basic</a:t>
            </a:r>
          </a:p>
        </p:txBody>
      </p:sp>
      <p:sp>
        <p:nvSpPr>
          <p:cNvPr id="5381" name="TB"/>
          <p:cNvSpPr/>
          <p:nvPr/>
        </p:nvSpPr>
        <p:spPr>
          <a:xfrm>
            <a:off x="548640" y="6550000"/>
            <a:ext cx="11094720" cy="25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>
              <a:buNone/>
            </a:pPr>
            <a:r>
              <a:rPr lang="en-US" sz="900" i="1" dirty="0">
                <a:solidFill>
                  <a:srgbClr val="5B6B79"/>
                </a:solidFill>
                <a:latin typeface="Calibri" pitchFamily="34" charset="0"/>
              </a:rPr>
              <a:t>Source: Tazapay docs (docs.tazapay.com)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TazapayMethods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82" name="TB"/>
          <p:cNvSpPr/>
          <p:nvPr/>
        </p:nvSpPr>
        <p:spPr>
          <a:xfrm>
            <a:off x="548640" y="150000"/>
            <a:ext cx="11094720" cy="30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>
              <a:buNone/>
            </a:pPr>
            <a:r>
              <a:rPr lang="en-US" sz="1050" b="1" dirty="0">
                <a:solidFill>
                  <a:srgbClr val="C9A227"/>
                </a:solidFill>
                <a:latin typeface="Calibri" pitchFamily="34" charset="0"/>
              </a:rPr>
              <a:t>TAZAPAY</a:t>
            </a:r>
          </a:p>
        </p:txBody>
      </p:sp>
      <p:sp>
        <p:nvSpPr>
          <p:cNvPr id="5383" name="TB"/>
          <p:cNvSpPr/>
          <p:nvPr/>
        </p:nvSpPr>
        <p:spPr>
          <a:xfrm>
            <a:off x="548640" y="650000"/>
            <a:ext cx="11094720" cy="56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>
              <a:buNone/>
            </a:pPr>
            <a:r>
              <a:rPr lang="en-US" sz="2000" b="1" dirty="0">
                <a:solidFill>
                  <a:srgbClr val="21295C"/>
                </a:solidFill>
                <a:latin typeface="Cambria" pitchFamily="34" charset="0"/>
              </a:rPr>
              <a:t>Payment Method Type Keys &amp; Webhooks</a:t>
            </a:r>
          </a:p>
        </p:txBody>
      </p:sp>
      <p:sp>
        <p:nvSpPr>
          <p:cNvPr id="5384" name="Box"/>
          <p:cNvSpPr/>
          <p:nvPr/>
        </p:nvSpPr>
        <p:spPr>
          <a:xfrm>
            <a:off x="548640" y="1550000"/>
            <a:ext cx="11094720" cy="1900000"/>
          </a:xfrm>
          <a:prstGeom prst="roundRect">
            <a:avLst>
              <a:gd name="adj" fmla="val 2500"/>
            </a:avLst>
          </a:prstGeom>
          <a:solidFill>
            <a:srgbClr val="F5F8FA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5385" name="TB"/>
          <p:cNvSpPr/>
          <p:nvPr/>
        </p:nvSpPr>
        <p:spPr>
          <a:xfrm>
            <a:off x="728640" y="1670000"/>
            <a:ext cx="10734720" cy="30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>
              <a:buNone/>
            </a:pPr>
            <a:r>
              <a:rPr lang="en-US" sz="1150" b="1" dirty="0">
                <a:solidFill>
                  <a:srgbClr val="065A82"/>
                </a:solidFill>
                <a:latin typeface="Calibri" pitchFamily="34" charset="0"/>
              </a:rPr>
              <a:t>payment_method_details.type values</a:t>
            </a:r>
          </a:p>
        </p:txBody>
      </p:sp>
      <p:sp>
        <p:nvSpPr>
          <p:cNvPr id="5386" name="TB"/>
          <p:cNvSpPr/>
          <p:nvPr/>
        </p:nvSpPr>
        <p:spPr>
          <a:xfrm>
            <a:off x="728640" y="1980000"/>
            <a:ext cx="10734720" cy="135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>
              <a:buNone/>
            </a:pPr>
            <a:r>
              <a:rPr lang="en-US" sz="1050" dirty="0">
                <a:solidFill>
                  <a:srgbClr val="1A2233"/>
                </a:solidFill>
                <a:latin typeface="Calibri" pitchFamily="34" charset="0"/>
              </a:rPr>
              <a:t>upi_inr (UPI redirect/collect) · upi_inr_native (VPA flow — payer_vpa e.g. test@bank; Collect request</a:t>
            </a:r>
          </a:p>
          <a:p>
            <a:pPr>
              <a:buNone/>
            </a:pPr>
            <a:r>
              <a:rPr lang="en-US" sz="1050" dirty="0">
                <a:solidFill>
                  <a:srgbClr val="1A2233"/>
                </a:solidFill>
                <a:latin typeface="Calibri" pitchFamily="34" charset="0"/>
              </a:rPr>
              <a:t>valid 5 minutes) · pix_qr (Brazil) · fpx (Malaysia banks) · paynow (Singapore) · wallet APMs: ovo / dana /</a:t>
            </a:r>
          </a:p>
          <a:p>
            <a:pPr>
              <a:buNone/>
            </a:pPr>
            <a:r>
              <a:rPr lang="en-US" sz="1050" dirty="0">
                <a:solidFill>
                  <a:srgbClr val="1A2233"/>
                </a:solidFill>
                <a:latin typeface="Calibri" pitchFamily="34" charset="0"/>
              </a:rPr>
              <a:t>grabpay / shopeepay / linkaja.</a:t>
            </a:r>
          </a:p>
          <a:p>
            <a:pPr>
              <a:buNone/>
            </a:pPr>
            <a:r>
              <a:rPr lang="en-US" sz="1050" dirty="0">
                <a:solidFill>
                  <a:srgbClr val="1A2233"/>
                </a:solidFill>
                <a:latin typeface="Calibri" pitchFamily="34" charset="0"/>
              </a:rPr>
              <a:t>Each method's QR or deep link surfaces inside the Tazapay hosted checkout reached via redirect_url.</a:t>
            </a:r>
          </a:p>
        </p:txBody>
      </p:sp>
      <p:sp>
        <p:nvSpPr>
          <p:cNvPr id="5387" name="Box"/>
          <p:cNvSpPr/>
          <p:nvPr/>
        </p:nvSpPr>
        <p:spPr>
          <a:xfrm>
            <a:off x="548640" y="3650000"/>
            <a:ext cx="11094720" cy="1900000"/>
          </a:xfrm>
          <a:prstGeom prst="roundRect">
            <a:avLst>
              <a:gd name="adj" fmla="val 2500"/>
            </a:avLst>
          </a:prstGeom>
          <a:solidFill>
            <a:srgbClr val="FFF3E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5388" name="TB"/>
          <p:cNvSpPr/>
          <p:nvPr/>
        </p:nvSpPr>
        <p:spPr>
          <a:xfrm>
            <a:off x="728640" y="3770000"/>
            <a:ext cx="10734720" cy="30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>
              <a:buNone/>
            </a:pPr>
            <a:r>
              <a:rPr lang="en-US" sz="1150" b="1" dirty="0">
                <a:solidFill>
                  <a:srgbClr val="8A5A00"/>
                </a:solidFill>
                <a:latin typeface="Calibri" pitchFamily="34" charset="0"/>
              </a:rPr>
              <a:t>Webhooks &amp; sandbox</a:t>
            </a:r>
          </a:p>
        </p:txBody>
      </p:sp>
      <p:sp>
        <p:nvSpPr>
          <p:cNvPr id="5389" name="TB"/>
          <p:cNvSpPr/>
          <p:nvPr/>
        </p:nvSpPr>
        <p:spPr>
          <a:xfrm>
            <a:off x="728640" y="4080000"/>
            <a:ext cx="10734720" cy="135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>
              <a:buNone/>
            </a:pPr>
            <a:r>
              <a:rPr lang="en-US" sz="1050" dirty="0">
                <a:solidFill>
                  <a:srgbClr val="1A2233"/>
                </a:solidFill>
                <a:latin typeface="Calibri" pitchFamily="34" charset="0"/>
              </a:rPr>
              <a:t>Events: payin.succeeded, payin.failed, payment_attempt.failed (also fires when a redirect URL expires —</a:t>
            </a:r>
          </a:p>
          <a:p>
            <a:pPr>
              <a:buNone/>
            </a:pPr>
            <a:r>
              <a:rPr lang="en-US" sz="1050" dirty="0">
                <a:solidFill>
                  <a:srgbClr val="1A2233"/>
                </a:solidFill>
                <a:latin typeface="Calibri" pitchFamily="34" charset="0"/>
              </a:rPr>
              <a:t>re-confirm to regenerate). Hosted checkout uses success_url / cancel_url.</a:t>
            </a:r>
          </a:p>
          <a:p>
            <a:pPr>
              <a:buNone/>
            </a:pPr>
            <a:r>
              <a:rPr lang="en-US" sz="1050" dirty="0">
                <a:solidFill>
                  <a:srgbClr val="1A2233"/>
                </a:solidFill>
                <a:latin typeface="Calibri" pitchFamily="34" charset="0"/>
              </a:rPr>
              <a:t>Sandbox exposes "Simulate Success/Failure/Expire" CTAs; test VPA test@bank. A Risk SDK / client</a:t>
            </a:r>
          </a:p>
          <a:p>
            <a:pPr>
              <a:buNone/>
            </a:pPr>
            <a:r>
              <a:rPr lang="en-US" sz="1050" dirty="0">
                <a:solidFill>
                  <a:srgbClr val="1A2233"/>
                </a:solidFill>
                <a:latin typeface="Calibri" pitchFamily="34" charset="0"/>
              </a:rPr>
              <a:t>fingerprint is required for certain APM flows; some methods are full-refund only.</a:t>
            </a:r>
          </a:p>
        </p:txBody>
      </p:sp>
      <p:sp>
        <p:nvSpPr>
          <p:cNvPr id="5390" name="TB"/>
          <p:cNvSpPr/>
          <p:nvPr/>
        </p:nvSpPr>
        <p:spPr>
          <a:xfrm>
            <a:off x="548640" y="6550000"/>
            <a:ext cx="11094720" cy="25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>
              <a:buNone/>
            </a:pPr>
            <a:r>
              <a:rPr lang="en-US" sz="900" i="1" dirty="0">
                <a:solidFill>
                  <a:srgbClr val="5B6B79"/>
                </a:solidFill>
                <a:latin typeface="Calibri" pitchFamily="34" charset="0"/>
              </a:rPr>
              <a:t>Source: Tazapay docs (docs.tazapay.com)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CrossComparis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91" name="TB"/>
          <p:cNvSpPr/>
          <p:nvPr/>
        </p:nvSpPr>
        <p:spPr>
          <a:xfrm>
            <a:off x="548640" y="330000"/>
            <a:ext cx="11094720" cy="56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>
              <a:buNone/>
            </a:pPr>
            <a:r>
              <a:rPr lang="en-US" sz="2400" b="1" dirty="0">
                <a:solidFill>
                  <a:srgbClr val="21295C"/>
                </a:solidFill>
                <a:latin typeface="Cambria" pitchFamily="34" charset="0"/>
              </a:rPr>
              <a:t>Cross-System Comparison</a:t>
            </a:r>
          </a:p>
        </p:txBody>
      </p:sp>
      <p:sp>
        <p:nvSpPr>
          <p:cNvPr id="5392" name="TB"/>
          <p:cNvSpPr/>
          <p:nvPr/>
        </p:nvSpPr>
        <p:spPr>
          <a:xfrm>
            <a:off x="548640" y="920000"/>
            <a:ext cx="11094720" cy="38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>
              <a:buNone/>
            </a:pPr>
            <a:r>
              <a:rPr lang="en-US" sz="1050" i="1" dirty="0">
                <a:solidFill>
                  <a:srgbClr val="5B6B79"/>
                </a:solidFill>
                <a:latin typeface="Calibri" pitchFamily="34" charset="0"/>
              </a:rPr>
              <a:t>Systems built around app-to-app messaging expose URI schemes; systems built around interoperable QR standardize the payload instead</a:t>
            </a:r>
          </a:p>
        </p:txBody>
      </p:sp>
      <p:sp>
        <p:nvSpPr>
          <p:cNvPr id="5393" name="THead"/>
          <p:cNvSpPr/>
          <p:nvPr/>
        </p:nvSpPr>
        <p:spPr>
          <a:xfrm>
            <a:off x="548640" y="1450000"/>
            <a:ext cx="1700000" cy="420000"/>
          </a:xfrm>
          <a:prstGeom prst="rect">
            <a:avLst/>
          </a:prstGeom>
          <a:solidFill>
            <a:srgbClr val="21295C"/>
          </a:solidFill>
          <a:ln>
            <a:noFill/>
          </a:ln>
        </p:spPr>
        <p:txBody>
          <a:bodyPr wrap="square" lIns="60000" tIns="30000" rIns="60000" bIns="3000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</a:rPr>
              <a:t>Dimension</a:t>
            </a:r>
          </a:p>
        </p:txBody>
      </p:sp>
      <p:sp>
        <p:nvSpPr>
          <p:cNvPr id="5394" name="THead"/>
          <p:cNvSpPr/>
          <p:nvPr/>
        </p:nvSpPr>
        <p:spPr>
          <a:xfrm>
            <a:off x="2248640" y="1450000"/>
            <a:ext cx="1994720" cy="420000"/>
          </a:xfrm>
          <a:prstGeom prst="rect">
            <a:avLst/>
          </a:prstGeom>
          <a:solidFill>
            <a:srgbClr val="21295C"/>
          </a:solidFill>
          <a:ln>
            <a:noFill/>
          </a:ln>
        </p:spPr>
        <p:txBody>
          <a:bodyPr wrap="square" lIns="60000" tIns="30000" rIns="60000" bIns="3000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</a:rPr>
              <a:t>DuitNow (MY)</a:t>
            </a:r>
          </a:p>
        </p:txBody>
      </p:sp>
      <p:sp>
        <p:nvSpPr>
          <p:cNvPr id="5395" name="THead"/>
          <p:cNvSpPr/>
          <p:nvPr/>
        </p:nvSpPr>
        <p:spPr>
          <a:xfrm>
            <a:off x="4243360" y="1450000"/>
            <a:ext cx="2200000" cy="420000"/>
          </a:xfrm>
          <a:prstGeom prst="rect">
            <a:avLst/>
          </a:prstGeom>
          <a:solidFill>
            <a:srgbClr val="21295C"/>
          </a:solidFill>
          <a:ln>
            <a:noFill/>
          </a:ln>
        </p:spPr>
        <p:txBody>
          <a:bodyPr wrap="square" lIns="60000" tIns="30000" rIns="60000" bIns="3000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</a:rPr>
              <a:t>Alipay/WeChat (CN)</a:t>
            </a:r>
          </a:p>
        </p:txBody>
      </p:sp>
      <p:sp>
        <p:nvSpPr>
          <p:cNvPr id="5396" name="THead"/>
          <p:cNvSpPr/>
          <p:nvPr/>
        </p:nvSpPr>
        <p:spPr>
          <a:xfrm>
            <a:off x="6443360" y="1450000"/>
            <a:ext cx="2000000" cy="420000"/>
          </a:xfrm>
          <a:prstGeom prst="rect">
            <a:avLst/>
          </a:prstGeom>
          <a:solidFill>
            <a:srgbClr val="21295C"/>
          </a:solidFill>
          <a:ln>
            <a:noFill/>
          </a:ln>
        </p:spPr>
        <p:txBody>
          <a:bodyPr wrap="square" lIns="60000" tIns="30000" rIns="60000" bIns="3000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</a:rPr>
              <a:t>UPI (IN)</a:t>
            </a:r>
          </a:p>
        </p:txBody>
      </p:sp>
      <p:sp>
        <p:nvSpPr>
          <p:cNvPr id="5397" name="THead"/>
          <p:cNvSpPr/>
          <p:nvPr/>
        </p:nvSpPr>
        <p:spPr>
          <a:xfrm>
            <a:off x="8443360" y="1450000"/>
            <a:ext cx="2000000" cy="420000"/>
          </a:xfrm>
          <a:prstGeom prst="rect">
            <a:avLst/>
          </a:prstGeom>
          <a:solidFill>
            <a:srgbClr val="21295C"/>
          </a:solidFill>
          <a:ln>
            <a:noFill/>
          </a:ln>
        </p:spPr>
        <p:txBody>
          <a:bodyPr wrap="square" lIns="60000" tIns="30000" rIns="60000" bIns="3000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</a:rPr>
              <a:t>Pix (BR)</a:t>
            </a:r>
          </a:p>
        </p:txBody>
      </p:sp>
      <p:sp>
        <p:nvSpPr>
          <p:cNvPr id="5398" name="THead"/>
          <p:cNvSpPr/>
          <p:nvPr/>
        </p:nvSpPr>
        <p:spPr>
          <a:xfrm>
            <a:off x="10443360" y="1450000"/>
            <a:ext cx="1700000" cy="420000"/>
          </a:xfrm>
          <a:prstGeom prst="rect">
            <a:avLst/>
          </a:prstGeom>
          <a:solidFill>
            <a:srgbClr val="21295C"/>
          </a:solidFill>
          <a:ln>
            <a:noFill/>
          </a:ln>
        </p:spPr>
        <p:txBody>
          <a:bodyPr wrap="square" lIns="60000" tIns="30000" rIns="60000" bIns="3000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</a:rPr>
              <a:t>Tazapay</a:t>
            </a:r>
          </a:p>
        </p:txBody>
      </p:sp>
      <p:sp>
        <p:nvSpPr>
          <p:cNvPr id="5399" name="TCell"/>
          <p:cNvSpPr/>
          <p:nvPr/>
        </p:nvSpPr>
        <p:spPr>
          <a:xfrm>
            <a:off x="548640" y="1870000"/>
            <a:ext cx="1700000" cy="6200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</p:spPr>
        <p:txBody>
          <a:bodyPr wrap="square" lIns="60000" tIns="25000" rIns="60000" bIns="2500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A2233"/>
                </a:solidFill>
                <a:latin typeface="Calibri" pitchFamily="34" charset="0"/>
              </a:rPr>
              <a:t>QR standard</a:t>
            </a:r>
          </a:p>
        </p:txBody>
      </p:sp>
      <p:sp>
        <p:nvSpPr>
          <p:cNvPr id="5400" name="TCell"/>
          <p:cNvSpPr/>
          <p:nvPr/>
        </p:nvSpPr>
        <p:spPr>
          <a:xfrm>
            <a:off x="2248640" y="1870000"/>
            <a:ext cx="1994720" cy="6200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</p:spPr>
        <p:txBody>
          <a:bodyPr wrap="square" lIns="60000" tIns="25000" rIns="60000" bIns="2500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A2233"/>
                </a:solidFill>
                <a:latin typeface="Calibri" pitchFamily="34" charset="0"/>
              </a:rPr>
              <a:t>EMVCo MPM+CPM</a:t>
            </a:r>
          </a:p>
        </p:txBody>
      </p:sp>
      <p:sp>
        <p:nvSpPr>
          <p:cNvPr id="5401" name="TCell"/>
          <p:cNvSpPr/>
          <p:nvPr/>
        </p:nvSpPr>
        <p:spPr>
          <a:xfrm>
            <a:off x="4243360" y="1870000"/>
            <a:ext cx="2200000" cy="6200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</p:spPr>
        <p:txBody>
          <a:bodyPr wrap="square" lIns="60000" tIns="25000" rIns="60000" bIns="2500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A2233"/>
                </a:solidFill>
                <a:latin typeface="Calibri" pitchFamily="34" charset="0"/>
              </a:rPr>
              <a:t>EMVCo-derived+prop.</a:t>
            </a:r>
          </a:p>
        </p:txBody>
      </p:sp>
      <p:sp>
        <p:nvSpPr>
          <p:cNvPr id="5402" name="TCell"/>
          <p:cNvSpPr/>
          <p:nvPr/>
        </p:nvSpPr>
        <p:spPr>
          <a:xfrm>
            <a:off x="6443360" y="1870000"/>
            <a:ext cx="2000000" cy="6200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</p:spPr>
        <p:txBody>
          <a:bodyPr wrap="square" lIns="60000" tIns="25000" rIns="60000" bIns="2500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A2233"/>
                </a:solidFill>
                <a:latin typeface="Calibri" pitchFamily="34" charset="0"/>
              </a:rPr>
              <a:t>Custom upi://</a:t>
            </a:r>
          </a:p>
        </p:txBody>
      </p:sp>
      <p:sp>
        <p:nvSpPr>
          <p:cNvPr id="5403" name="TCell"/>
          <p:cNvSpPr/>
          <p:nvPr/>
        </p:nvSpPr>
        <p:spPr>
          <a:xfrm>
            <a:off x="8443360" y="1870000"/>
            <a:ext cx="2000000" cy="6200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</p:spPr>
        <p:txBody>
          <a:bodyPr wrap="square" lIns="60000" tIns="25000" rIns="60000" bIns="2500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A2233"/>
                </a:solidFill>
                <a:latin typeface="Calibri" pitchFamily="34" charset="0"/>
              </a:rPr>
              <a:t>EMVCo MPM (BR Code)</a:t>
            </a:r>
          </a:p>
        </p:txBody>
      </p:sp>
      <p:sp>
        <p:nvSpPr>
          <p:cNvPr id="5404" name="TCell"/>
          <p:cNvSpPr/>
          <p:nvPr/>
        </p:nvSpPr>
        <p:spPr>
          <a:xfrm>
            <a:off x="10443360" y="1870000"/>
            <a:ext cx="1700000" cy="6200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</p:spPr>
        <p:txBody>
          <a:bodyPr wrap="square" lIns="60000" tIns="25000" rIns="60000" bIns="2500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A2233"/>
                </a:solidFill>
                <a:latin typeface="Calibri" pitchFamily="34" charset="0"/>
              </a:rPr>
              <a:t>Wraps downstream</a:t>
            </a:r>
          </a:p>
        </p:txBody>
      </p:sp>
      <p:sp>
        <p:nvSpPr>
          <p:cNvPr id="5405" name="TCell"/>
          <p:cNvSpPr/>
          <p:nvPr/>
        </p:nvSpPr>
        <p:spPr>
          <a:xfrm>
            <a:off x="548640" y="2490000"/>
            <a:ext cx="1700000" cy="620000"/>
          </a:xfrm>
          <a:prstGeom prst="rect">
            <a:avLst/>
          </a:prstGeom>
          <a:solidFill>
            <a:srgbClr val="F5F8FA"/>
          </a:solidFill>
          <a:ln w="6350">
            <a:solidFill>
              <a:srgbClr val="D9D9D9"/>
            </a:solidFill>
          </a:ln>
        </p:spPr>
        <p:txBody>
          <a:bodyPr wrap="square" lIns="60000" tIns="25000" rIns="60000" bIns="2500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A2233"/>
                </a:solidFill>
                <a:latin typeface="Calibri" pitchFamily="34" charset="0"/>
              </a:rPr>
              <a:t>Consumer URI</a:t>
            </a:r>
          </a:p>
        </p:txBody>
      </p:sp>
      <p:sp>
        <p:nvSpPr>
          <p:cNvPr id="5406" name="TCell"/>
          <p:cNvSpPr/>
          <p:nvPr/>
        </p:nvSpPr>
        <p:spPr>
          <a:xfrm>
            <a:off x="2248640" y="2490000"/>
            <a:ext cx="1994720" cy="620000"/>
          </a:xfrm>
          <a:prstGeom prst="rect">
            <a:avLst/>
          </a:prstGeom>
          <a:solidFill>
            <a:srgbClr val="F5F8FA"/>
          </a:solidFill>
          <a:ln w="6350">
            <a:solidFill>
              <a:srgbClr val="D9D9D9"/>
            </a:solidFill>
          </a:ln>
        </p:spPr>
        <p:txBody>
          <a:bodyPr wrap="square" lIns="60000" tIns="25000" rIns="60000" bIns="2500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A2233"/>
                </a:solidFill>
                <a:latin typeface="Calibri" pitchFamily="34" charset="0"/>
              </a:rPr>
              <a:t>None unified</a:t>
            </a:r>
          </a:p>
        </p:txBody>
      </p:sp>
      <p:sp>
        <p:nvSpPr>
          <p:cNvPr id="5407" name="TCell"/>
          <p:cNvSpPr/>
          <p:nvPr/>
        </p:nvSpPr>
        <p:spPr>
          <a:xfrm>
            <a:off x="4243360" y="2490000"/>
            <a:ext cx="2200000" cy="620000"/>
          </a:xfrm>
          <a:prstGeom prst="rect">
            <a:avLst/>
          </a:prstGeom>
          <a:solidFill>
            <a:srgbClr val="F5F8FA"/>
          </a:solidFill>
          <a:ln w="6350">
            <a:solidFill>
              <a:srgbClr val="D9D9D9"/>
            </a:solidFill>
          </a:ln>
        </p:spPr>
        <p:txBody>
          <a:bodyPr wrap="square" lIns="60000" tIns="25000" rIns="60000" bIns="2500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A2233"/>
                </a:solidFill>
                <a:latin typeface="Calibri" pitchFamily="34" charset="0"/>
              </a:rPr>
              <a:t>alipays://, weixin://</a:t>
            </a:r>
          </a:p>
        </p:txBody>
      </p:sp>
      <p:sp>
        <p:nvSpPr>
          <p:cNvPr id="5408" name="TCell"/>
          <p:cNvSpPr/>
          <p:nvPr/>
        </p:nvSpPr>
        <p:spPr>
          <a:xfrm>
            <a:off x="6443360" y="2490000"/>
            <a:ext cx="2000000" cy="620000"/>
          </a:xfrm>
          <a:prstGeom prst="rect">
            <a:avLst/>
          </a:prstGeom>
          <a:solidFill>
            <a:srgbClr val="F5F8FA"/>
          </a:solidFill>
          <a:ln w="6350">
            <a:solidFill>
              <a:srgbClr val="D9D9D9"/>
            </a:solidFill>
          </a:ln>
        </p:spPr>
        <p:txBody>
          <a:bodyPr wrap="square" lIns="60000" tIns="25000" rIns="60000" bIns="2500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A2233"/>
                </a:solidFill>
                <a:latin typeface="Calibri" pitchFamily="34" charset="0"/>
              </a:rPr>
              <a:t>upi:// (national)</a:t>
            </a:r>
          </a:p>
        </p:txBody>
      </p:sp>
      <p:sp>
        <p:nvSpPr>
          <p:cNvPr id="5409" name="TCell"/>
          <p:cNvSpPr/>
          <p:nvPr/>
        </p:nvSpPr>
        <p:spPr>
          <a:xfrm>
            <a:off x="8443360" y="2490000"/>
            <a:ext cx="2000000" cy="620000"/>
          </a:xfrm>
          <a:prstGeom prst="rect">
            <a:avLst/>
          </a:prstGeom>
          <a:solidFill>
            <a:srgbClr val="F5F8FA"/>
          </a:solidFill>
          <a:ln w="6350">
            <a:solidFill>
              <a:srgbClr val="D9D9D9"/>
            </a:solidFill>
          </a:ln>
        </p:spPr>
        <p:txBody>
          <a:bodyPr wrap="square" lIns="60000" tIns="25000" rIns="60000" bIns="2500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A2233"/>
                </a:solidFill>
                <a:latin typeface="Calibri" pitchFamily="34" charset="0"/>
              </a:rPr>
              <a:t>None (rejected)</a:t>
            </a:r>
          </a:p>
        </p:txBody>
      </p:sp>
      <p:sp>
        <p:nvSpPr>
          <p:cNvPr id="5410" name="TCell"/>
          <p:cNvSpPr/>
          <p:nvPr/>
        </p:nvSpPr>
        <p:spPr>
          <a:xfrm>
            <a:off x="10443360" y="2490000"/>
            <a:ext cx="1700000" cy="620000"/>
          </a:xfrm>
          <a:prstGeom prst="rect">
            <a:avLst/>
          </a:prstGeom>
          <a:solidFill>
            <a:srgbClr val="F5F8FA"/>
          </a:solidFill>
          <a:ln w="6350">
            <a:solidFill>
              <a:srgbClr val="D9D9D9"/>
            </a:solidFill>
          </a:ln>
        </p:spPr>
        <p:txBody>
          <a:bodyPr wrap="square" lIns="60000" tIns="25000" rIns="60000" bIns="2500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A2233"/>
                </a:solidFill>
                <a:latin typeface="Calibri" pitchFamily="34" charset="0"/>
              </a:rPr>
              <a:t>N/A (hosted)</a:t>
            </a:r>
          </a:p>
        </p:txBody>
      </p:sp>
      <p:sp>
        <p:nvSpPr>
          <p:cNvPr id="5411" name="TCell"/>
          <p:cNvSpPr/>
          <p:nvPr/>
        </p:nvSpPr>
        <p:spPr>
          <a:xfrm>
            <a:off x="548640" y="3110000"/>
            <a:ext cx="1700000" cy="6200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</p:spPr>
        <p:txBody>
          <a:bodyPr wrap="square" lIns="60000" tIns="25000" rIns="60000" bIns="2500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A2233"/>
                </a:solidFill>
                <a:latin typeface="Calibri" pitchFamily="34" charset="0"/>
              </a:rPr>
              <a:t>Merchant→app</a:t>
            </a:r>
          </a:p>
        </p:txBody>
      </p:sp>
      <p:sp>
        <p:nvSpPr>
          <p:cNvPr id="5412" name="TCell"/>
          <p:cNvSpPr/>
          <p:nvPr/>
        </p:nvSpPr>
        <p:spPr>
          <a:xfrm>
            <a:off x="2248640" y="3110000"/>
            <a:ext cx="1994720" cy="6200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</p:spPr>
        <p:txBody>
          <a:bodyPr wrap="square" lIns="60000" tIns="25000" rIns="60000" bIns="2500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A2233"/>
                </a:solidFill>
                <a:latin typeface="Calibri" pitchFamily="34" charset="0"/>
              </a:rPr>
              <a:t>OBW redirect/RPP</a:t>
            </a:r>
          </a:p>
        </p:txBody>
      </p:sp>
      <p:sp>
        <p:nvSpPr>
          <p:cNvPr id="5413" name="TCell"/>
          <p:cNvSpPr/>
          <p:nvPr/>
        </p:nvSpPr>
        <p:spPr>
          <a:xfrm>
            <a:off x="4243360" y="3110000"/>
            <a:ext cx="2200000" cy="6200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</p:spPr>
        <p:txBody>
          <a:bodyPr wrap="square" lIns="60000" tIns="25000" rIns="60000" bIns="2500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A2233"/>
                </a:solidFill>
                <a:latin typeface="Calibri" pitchFamily="34" charset="0"/>
              </a:rPr>
              <a:t>scheme/applink ladder</a:t>
            </a:r>
          </a:p>
        </p:txBody>
      </p:sp>
      <p:sp>
        <p:nvSpPr>
          <p:cNvPr id="5414" name="TCell"/>
          <p:cNvSpPr/>
          <p:nvPr/>
        </p:nvSpPr>
        <p:spPr>
          <a:xfrm>
            <a:off x="6443360" y="3110000"/>
            <a:ext cx="2000000" cy="6200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</p:spPr>
        <p:txBody>
          <a:bodyPr wrap="square" lIns="60000" tIns="25000" rIns="60000" bIns="2500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A2233"/>
                </a:solidFill>
                <a:latin typeface="Calibri" pitchFamily="34" charset="0"/>
              </a:rPr>
              <a:t>Intent result</a:t>
            </a:r>
          </a:p>
        </p:txBody>
      </p:sp>
      <p:sp>
        <p:nvSpPr>
          <p:cNvPr id="5415" name="TCell"/>
          <p:cNvSpPr/>
          <p:nvPr/>
        </p:nvSpPr>
        <p:spPr>
          <a:xfrm>
            <a:off x="8443360" y="3110000"/>
            <a:ext cx="2000000" cy="6200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</p:spPr>
        <p:txBody>
          <a:bodyPr wrap="square" lIns="60000" tIns="25000" rIns="60000" bIns="2500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A2233"/>
                </a:solidFill>
                <a:latin typeface="Calibri" pitchFamily="34" charset="0"/>
              </a:rPr>
              <a:t>Open Finance redirect</a:t>
            </a:r>
          </a:p>
        </p:txBody>
      </p:sp>
      <p:sp>
        <p:nvSpPr>
          <p:cNvPr id="5416" name="TCell"/>
          <p:cNvSpPr/>
          <p:nvPr/>
        </p:nvSpPr>
        <p:spPr>
          <a:xfrm>
            <a:off x="10443360" y="3110000"/>
            <a:ext cx="1700000" cy="6200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</p:spPr>
        <p:txBody>
          <a:bodyPr wrap="square" lIns="60000" tIns="25000" rIns="60000" bIns="2500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A2233"/>
                </a:solidFill>
                <a:latin typeface="Calibri" pitchFamily="34" charset="0"/>
              </a:rPr>
              <a:t>Webhook</a:t>
            </a:r>
          </a:p>
        </p:txBody>
      </p:sp>
      <p:sp>
        <p:nvSpPr>
          <p:cNvPr id="5417" name="TCell"/>
          <p:cNvSpPr/>
          <p:nvPr/>
        </p:nvSpPr>
        <p:spPr>
          <a:xfrm>
            <a:off x="548640" y="3730000"/>
            <a:ext cx="1700000" cy="620000"/>
          </a:xfrm>
          <a:prstGeom prst="rect">
            <a:avLst/>
          </a:prstGeom>
          <a:solidFill>
            <a:srgbClr val="F5F8FA"/>
          </a:solidFill>
          <a:ln w="6350">
            <a:solidFill>
              <a:srgbClr val="D9D9D9"/>
            </a:solidFill>
          </a:ln>
        </p:spPr>
        <p:txBody>
          <a:bodyPr wrap="square" lIns="60000" tIns="25000" rIns="60000" bIns="2500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A2233"/>
                </a:solidFill>
                <a:latin typeface="Calibri" pitchFamily="34" charset="0"/>
              </a:rPr>
              <a:t>Signing</a:t>
            </a:r>
          </a:p>
        </p:txBody>
      </p:sp>
      <p:sp>
        <p:nvSpPr>
          <p:cNvPr id="5418" name="TCell"/>
          <p:cNvSpPr/>
          <p:nvPr/>
        </p:nvSpPr>
        <p:spPr>
          <a:xfrm>
            <a:off x="2248640" y="3730000"/>
            <a:ext cx="1994720" cy="620000"/>
          </a:xfrm>
          <a:prstGeom prst="rect">
            <a:avLst/>
          </a:prstGeom>
          <a:solidFill>
            <a:srgbClr val="F5F8FA"/>
          </a:solidFill>
          <a:ln w="6350">
            <a:solidFill>
              <a:srgbClr val="D9D9D9"/>
            </a:solidFill>
          </a:ln>
        </p:spPr>
        <p:txBody>
          <a:bodyPr wrap="square" lIns="60000" tIns="25000" rIns="60000" bIns="2500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A2233"/>
                </a:solidFill>
                <a:latin typeface="Calibri" pitchFamily="34" charset="0"/>
              </a:rPr>
              <a:t>CRC16 + opt. SHA-256</a:t>
            </a:r>
          </a:p>
        </p:txBody>
      </p:sp>
      <p:sp>
        <p:nvSpPr>
          <p:cNvPr id="5419" name="TCell"/>
          <p:cNvSpPr/>
          <p:nvPr/>
        </p:nvSpPr>
        <p:spPr>
          <a:xfrm>
            <a:off x="4243360" y="3730000"/>
            <a:ext cx="2200000" cy="620000"/>
          </a:xfrm>
          <a:prstGeom prst="rect">
            <a:avLst/>
          </a:prstGeom>
          <a:solidFill>
            <a:srgbClr val="F5F8FA"/>
          </a:solidFill>
          <a:ln w="6350">
            <a:solidFill>
              <a:srgbClr val="D9D9D9"/>
            </a:solidFill>
          </a:ln>
        </p:spPr>
        <p:txBody>
          <a:bodyPr wrap="square" lIns="60000" tIns="25000" rIns="60000" bIns="2500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A2233"/>
                </a:solidFill>
                <a:latin typeface="Calibri" pitchFamily="34" charset="0"/>
              </a:rPr>
              <a:t>MD5/HMAC, RSA</a:t>
            </a:r>
          </a:p>
        </p:txBody>
      </p:sp>
      <p:sp>
        <p:nvSpPr>
          <p:cNvPr id="5420" name="TCell"/>
          <p:cNvSpPr/>
          <p:nvPr/>
        </p:nvSpPr>
        <p:spPr>
          <a:xfrm>
            <a:off x="6443360" y="3730000"/>
            <a:ext cx="2000000" cy="620000"/>
          </a:xfrm>
          <a:prstGeom prst="rect">
            <a:avLst/>
          </a:prstGeom>
          <a:solidFill>
            <a:srgbClr val="F5F8FA"/>
          </a:solidFill>
          <a:ln w="6350">
            <a:solidFill>
              <a:srgbClr val="D9D9D9"/>
            </a:solidFill>
          </a:ln>
        </p:spPr>
        <p:txBody>
          <a:bodyPr wrap="square" lIns="60000" tIns="25000" rIns="60000" bIns="2500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A2233"/>
                </a:solidFill>
                <a:latin typeface="Calibri" pitchFamily="34" charset="0"/>
              </a:rPr>
              <a:t>SHA256withRSA</a:t>
            </a:r>
          </a:p>
        </p:txBody>
      </p:sp>
      <p:sp>
        <p:nvSpPr>
          <p:cNvPr id="5421" name="TCell"/>
          <p:cNvSpPr/>
          <p:nvPr/>
        </p:nvSpPr>
        <p:spPr>
          <a:xfrm>
            <a:off x="8443360" y="3730000"/>
            <a:ext cx="2000000" cy="620000"/>
          </a:xfrm>
          <a:prstGeom prst="rect">
            <a:avLst/>
          </a:prstGeom>
          <a:solidFill>
            <a:srgbClr val="F5F8FA"/>
          </a:solidFill>
          <a:ln w="6350">
            <a:solidFill>
              <a:srgbClr val="D9D9D9"/>
            </a:solidFill>
          </a:ln>
        </p:spPr>
        <p:txBody>
          <a:bodyPr wrap="square" lIns="60000" tIns="25000" rIns="60000" bIns="2500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A2233"/>
                </a:solidFill>
                <a:latin typeface="Calibri" pitchFamily="34" charset="0"/>
              </a:rPr>
              <a:t>JWS (dynamic) + CRC16</a:t>
            </a:r>
          </a:p>
        </p:txBody>
      </p:sp>
      <p:sp>
        <p:nvSpPr>
          <p:cNvPr id="5422" name="TCell"/>
          <p:cNvSpPr/>
          <p:nvPr/>
        </p:nvSpPr>
        <p:spPr>
          <a:xfrm>
            <a:off x="10443360" y="3730000"/>
            <a:ext cx="1700000" cy="620000"/>
          </a:xfrm>
          <a:prstGeom prst="rect">
            <a:avLst/>
          </a:prstGeom>
          <a:solidFill>
            <a:srgbClr val="F5F8FA"/>
          </a:solidFill>
          <a:ln w="6350">
            <a:solidFill>
              <a:srgbClr val="D9D9D9"/>
            </a:solidFill>
          </a:ln>
        </p:spPr>
        <p:txBody>
          <a:bodyPr wrap="square" lIns="60000" tIns="25000" rIns="60000" bIns="2500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A2233"/>
                </a:solidFill>
                <a:latin typeface="Calibri" pitchFamily="34" charset="0"/>
              </a:rPr>
              <a:t>Platform-managed</a:t>
            </a:r>
          </a:p>
        </p:txBody>
      </p:sp>
      <p:sp>
        <p:nvSpPr>
          <p:cNvPr id="5423" name="TCell"/>
          <p:cNvSpPr/>
          <p:nvPr/>
        </p:nvSpPr>
        <p:spPr>
          <a:xfrm>
            <a:off x="548640" y="4350000"/>
            <a:ext cx="1700000" cy="6200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</p:spPr>
        <p:txBody>
          <a:bodyPr wrap="square" lIns="60000" tIns="25000" rIns="60000" bIns="2500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A2233"/>
                </a:solidFill>
                <a:latin typeface="Calibri" pitchFamily="34" charset="0"/>
              </a:rPr>
              <a:t>Online commerce</a:t>
            </a:r>
          </a:p>
        </p:txBody>
      </p:sp>
      <p:sp>
        <p:nvSpPr>
          <p:cNvPr id="5424" name="TCell"/>
          <p:cNvSpPr/>
          <p:nvPr/>
        </p:nvSpPr>
        <p:spPr>
          <a:xfrm>
            <a:off x="2248640" y="4350000"/>
            <a:ext cx="1994720" cy="6200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</p:spPr>
        <p:txBody>
          <a:bodyPr wrap="square" lIns="60000" tIns="25000" rIns="60000" bIns="2500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A2233"/>
                </a:solidFill>
                <a:latin typeface="Calibri" pitchFamily="34" charset="0"/>
              </a:rPr>
              <a:t>DuitNow OBW</a:t>
            </a:r>
          </a:p>
        </p:txBody>
      </p:sp>
      <p:sp>
        <p:nvSpPr>
          <p:cNvPr id="5425" name="TCell"/>
          <p:cNvSpPr/>
          <p:nvPr/>
        </p:nvSpPr>
        <p:spPr>
          <a:xfrm>
            <a:off x="4243360" y="4350000"/>
            <a:ext cx="2200000" cy="6200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</p:spPr>
        <p:txBody>
          <a:bodyPr wrap="square" lIns="60000" tIns="25000" rIns="60000" bIns="2500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A2233"/>
                </a:solidFill>
                <a:latin typeface="Calibri" pitchFamily="34" charset="0"/>
              </a:rPr>
              <a:t>JSAPI/H5/APP</a:t>
            </a:r>
          </a:p>
        </p:txBody>
      </p:sp>
      <p:sp>
        <p:nvSpPr>
          <p:cNvPr id="5426" name="TCell"/>
          <p:cNvSpPr/>
          <p:nvPr/>
        </p:nvSpPr>
        <p:spPr>
          <a:xfrm>
            <a:off x="6443360" y="4350000"/>
            <a:ext cx="2000000" cy="6200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</p:spPr>
        <p:txBody>
          <a:bodyPr wrap="square" lIns="60000" tIns="25000" rIns="60000" bIns="2500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A2233"/>
                </a:solidFill>
                <a:latin typeface="Calibri" pitchFamily="34" charset="0"/>
              </a:rPr>
              <a:t>Intent + Collect</a:t>
            </a:r>
          </a:p>
        </p:txBody>
      </p:sp>
      <p:sp>
        <p:nvSpPr>
          <p:cNvPr id="5427" name="TCell"/>
          <p:cNvSpPr/>
          <p:nvPr/>
        </p:nvSpPr>
        <p:spPr>
          <a:xfrm>
            <a:off x="8443360" y="4350000"/>
            <a:ext cx="2000000" cy="6200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</p:spPr>
        <p:txBody>
          <a:bodyPr wrap="square" lIns="60000" tIns="25000" rIns="60000" bIns="2500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A2233"/>
                </a:solidFill>
                <a:latin typeface="Calibri" pitchFamily="34" charset="0"/>
              </a:rPr>
              <a:t>Open Finance ITP</a:t>
            </a:r>
          </a:p>
        </p:txBody>
      </p:sp>
      <p:sp>
        <p:nvSpPr>
          <p:cNvPr id="5428" name="TCell"/>
          <p:cNvSpPr/>
          <p:nvPr/>
        </p:nvSpPr>
        <p:spPr>
          <a:xfrm>
            <a:off x="10443360" y="4350000"/>
            <a:ext cx="1700000" cy="6200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</p:spPr>
        <p:txBody>
          <a:bodyPr wrap="square" lIns="60000" tIns="25000" rIns="60000" bIns="2500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A2233"/>
                </a:solidFill>
                <a:latin typeface="Calibri" pitchFamily="34" charset="0"/>
              </a:rPr>
              <a:t>/v3/payin</a:t>
            </a:r>
          </a:p>
        </p:txBody>
      </p:sp>
      <p:sp>
        <p:nvSpPr>
          <p:cNvPr id="5429" name="TCell"/>
          <p:cNvSpPr/>
          <p:nvPr/>
        </p:nvSpPr>
        <p:spPr>
          <a:xfrm>
            <a:off x="548640" y="4970000"/>
            <a:ext cx="1700000" cy="620000"/>
          </a:xfrm>
          <a:prstGeom prst="rect">
            <a:avLst/>
          </a:prstGeom>
          <a:solidFill>
            <a:srgbClr val="F5F8FA"/>
          </a:solidFill>
          <a:ln w="6350">
            <a:solidFill>
              <a:srgbClr val="D9D9D9"/>
            </a:solidFill>
          </a:ln>
        </p:spPr>
        <p:txBody>
          <a:bodyPr wrap="square" lIns="60000" tIns="25000" rIns="60000" bIns="2500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A2233"/>
                </a:solidFill>
                <a:latin typeface="Calibri" pitchFamily="34" charset="0"/>
              </a:rPr>
              <a:t>Recurring</a:t>
            </a:r>
          </a:p>
        </p:txBody>
      </p:sp>
      <p:sp>
        <p:nvSpPr>
          <p:cNvPr id="5430" name="TCell"/>
          <p:cNvSpPr/>
          <p:nvPr/>
        </p:nvSpPr>
        <p:spPr>
          <a:xfrm>
            <a:off x="2248640" y="4970000"/>
            <a:ext cx="1994720" cy="620000"/>
          </a:xfrm>
          <a:prstGeom prst="rect">
            <a:avLst/>
          </a:prstGeom>
          <a:solidFill>
            <a:srgbClr val="F5F8FA"/>
          </a:solidFill>
          <a:ln w="6350">
            <a:solidFill>
              <a:srgbClr val="D9D9D9"/>
            </a:solidFill>
          </a:ln>
        </p:spPr>
        <p:txBody>
          <a:bodyPr wrap="square" lIns="60000" tIns="25000" rIns="60000" bIns="2500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A2233"/>
                </a:solidFill>
                <a:latin typeface="Calibri" pitchFamily="34" charset="0"/>
              </a:rPr>
              <a:t>AutoDebit/Consent</a:t>
            </a:r>
          </a:p>
        </p:txBody>
      </p:sp>
      <p:sp>
        <p:nvSpPr>
          <p:cNvPr id="5431" name="TCell"/>
          <p:cNvSpPr/>
          <p:nvPr/>
        </p:nvSpPr>
        <p:spPr>
          <a:xfrm>
            <a:off x="4243360" y="4970000"/>
            <a:ext cx="2200000" cy="620000"/>
          </a:xfrm>
          <a:prstGeom prst="rect">
            <a:avLst/>
          </a:prstGeom>
          <a:solidFill>
            <a:srgbClr val="F5F8FA"/>
          </a:solidFill>
          <a:ln w="6350">
            <a:solidFill>
              <a:srgbClr val="D9D9D9"/>
            </a:solidFill>
          </a:ln>
        </p:spPr>
        <p:txBody>
          <a:bodyPr wrap="square" lIns="60000" tIns="25000" rIns="60000" bIns="2500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A2233"/>
                </a:solidFill>
                <a:latin typeface="Calibri" pitchFamily="34" charset="0"/>
              </a:rPr>
              <a:t>Auto Debit (Alipay+)</a:t>
            </a:r>
          </a:p>
        </p:txBody>
      </p:sp>
      <p:sp>
        <p:nvSpPr>
          <p:cNvPr id="5432" name="TCell"/>
          <p:cNvSpPr/>
          <p:nvPr/>
        </p:nvSpPr>
        <p:spPr>
          <a:xfrm>
            <a:off x="6443360" y="4970000"/>
            <a:ext cx="2000000" cy="620000"/>
          </a:xfrm>
          <a:prstGeom prst="rect">
            <a:avLst/>
          </a:prstGeom>
          <a:solidFill>
            <a:srgbClr val="F5F8FA"/>
          </a:solidFill>
          <a:ln w="6350">
            <a:solidFill>
              <a:srgbClr val="D9D9D9"/>
            </a:solidFill>
          </a:ln>
        </p:spPr>
        <p:txBody>
          <a:bodyPr wrap="square" lIns="60000" tIns="25000" rIns="60000" bIns="2500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A2233"/>
                </a:solidFill>
                <a:latin typeface="Calibri" pitchFamily="34" charset="0"/>
              </a:rPr>
              <a:t>AutoPay (mandate)</a:t>
            </a:r>
          </a:p>
        </p:txBody>
      </p:sp>
      <p:sp>
        <p:nvSpPr>
          <p:cNvPr id="5433" name="TCell"/>
          <p:cNvSpPr/>
          <p:nvPr/>
        </p:nvSpPr>
        <p:spPr>
          <a:xfrm>
            <a:off x="8443360" y="4970000"/>
            <a:ext cx="2000000" cy="620000"/>
          </a:xfrm>
          <a:prstGeom prst="rect">
            <a:avLst/>
          </a:prstGeom>
          <a:solidFill>
            <a:srgbClr val="F5F8FA"/>
          </a:solidFill>
          <a:ln w="6350">
            <a:solidFill>
              <a:srgbClr val="D9D9D9"/>
            </a:solidFill>
          </a:ln>
        </p:spPr>
        <p:txBody>
          <a:bodyPr wrap="square" lIns="60000" tIns="25000" rIns="60000" bIns="2500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A2233"/>
                </a:solidFill>
                <a:latin typeface="Calibri" pitchFamily="34" charset="0"/>
              </a:rPr>
              <a:t>Pix Automático</a:t>
            </a:r>
          </a:p>
        </p:txBody>
      </p:sp>
      <p:sp>
        <p:nvSpPr>
          <p:cNvPr id="5434" name="TCell"/>
          <p:cNvSpPr/>
          <p:nvPr/>
        </p:nvSpPr>
        <p:spPr>
          <a:xfrm>
            <a:off x="10443360" y="4970000"/>
            <a:ext cx="1700000" cy="620000"/>
          </a:xfrm>
          <a:prstGeom prst="rect">
            <a:avLst/>
          </a:prstGeom>
          <a:solidFill>
            <a:srgbClr val="F5F8FA"/>
          </a:solidFill>
          <a:ln w="6350">
            <a:solidFill>
              <a:srgbClr val="D9D9D9"/>
            </a:solidFill>
          </a:ln>
        </p:spPr>
        <p:txBody>
          <a:bodyPr wrap="square" lIns="60000" tIns="25000" rIns="60000" bIns="2500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A2233"/>
                </a:solidFill>
                <a:latin typeface="Calibri" pitchFamily="34" charset="0"/>
              </a:rPr>
              <a:t>—</a:t>
            </a:r>
          </a:p>
        </p:txBody>
      </p:sp>
      <p:sp>
        <p:nvSpPr>
          <p:cNvPr id="5435" name="Box"/>
          <p:cNvSpPr/>
          <p:nvPr/>
        </p:nvSpPr>
        <p:spPr>
          <a:xfrm>
            <a:off x="548640" y="5740000"/>
            <a:ext cx="11094720" cy="550000"/>
          </a:xfrm>
          <a:prstGeom prst="roundRect">
            <a:avLst>
              <a:gd name="adj" fmla="val 2500"/>
            </a:avLst>
          </a:prstGeom>
          <a:solidFill>
            <a:srgbClr val="E8F5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5436" name="TB"/>
          <p:cNvSpPr/>
          <p:nvPr/>
        </p:nvSpPr>
        <p:spPr>
          <a:xfrm>
            <a:off x="728640" y="5860000"/>
            <a:ext cx="10734720" cy="30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>
              <a:buNone/>
            </a:pPr>
            <a:r>
              <a:rPr lang="en-US" sz="1150" b="1" dirty="0">
                <a:solidFill>
                  <a:srgbClr val="0B5D3B"/>
                </a:solidFill>
                <a:latin typeface="Calibri" pitchFamily="34" charset="0"/>
              </a:rPr>
              <a:t>The pattern</a:t>
            </a:r>
          </a:p>
        </p:txBody>
      </p:sp>
      <p:sp>
        <p:nvSpPr>
          <p:cNvPr id="5437" name="TB"/>
          <p:cNvSpPr/>
          <p:nvPr/>
        </p:nvSpPr>
        <p:spPr>
          <a:xfrm>
            <a:off x="728640" y="6170000"/>
            <a:ext cx="10734720" cy="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>
              <a:buNone/>
            </a:pPr>
            <a:r>
              <a:rPr lang="en-US" sz="1000" dirty="0">
                <a:solidFill>
                  <a:srgbClr val="1A2233"/>
                </a:solidFill>
                <a:latin typeface="Calibri" pitchFamily="34" charset="0"/>
              </a:rPr>
              <a:t>Aggregators like Tazapay abstract all of this behind a single HTTPS redirect — the same conclusion this project reached with its own unregistered link.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ecurit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38" name="TB"/>
          <p:cNvSpPr/>
          <p:nvPr/>
        </p:nvSpPr>
        <p:spPr>
          <a:xfrm>
            <a:off x="548640" y="330000"/>
            <a:ext cx="11094720" cy="56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>
              <a:buNone/>
            </a:pPr>
            <a:r>
              <a:rPr lang="en-US" sz="2400" b="1" dirty="0">
                <a:solidFill>
                  <a:srgbClr val="21295C"/>
                </a:solidFill>
                <a:latin typeface="Cambria" pitchFamily="34" charset="0"/>
              </a:rPr>
              <a:t>Security Considerations</a:t>
            </a:r>
          </a:p>
        </p:txBody>
      </p:sp>
      <p:sp>
        <p:nvSpPr>
          <p:cNvPr id="5439" name="TB"/>
          <p:cNvSpPr/>
          <p:nvPr/>
        </p:nvSpPr>
        <p:spPr>
          <a:xfrm>
            <a:off x="548640" y="1350000"/>
            <a:ext cx="11094720" cy="500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228600" indent="-228600">
              <a:buFont typeface="Arial"/>
              <a:buChar char="•"/>
            </a:pPr>
            <a:r>
              <a:rPr lang="en-US" sz="1250" dirty="0">
                <a:solidFill>
                  <a:srgbClr val="1A2233"/>
                </a:solidFill>
                <a:latin typeface="Calibri" pitchFamily="34" charset="0"/>
              </a:rPr>
              <a:t>QR-swap / parameter tampering: UPI static QR (user-entered amount) and weak dynamic-QR pipelines are vulnerable to pa/am substitution. Mitigations: signed intents (sign=, SHA256withRSA), showing VPA+name together, server-side binding of tr. DuitNow's optional tag 82 (SHA-256) and Pix's JWS on the dynamic location serve the analogous integrity role.</a:t>
            </a:r>
          </a:p>
          <a:p>
            <a:pPr marL="228600" indent="-228600">
              <a:buFont typeface="Arial"/>
              <a:buChar char="•"/>
            </a:pPr>
            <a:r>
              <a:rPr lang="en-US" sz="1250" dirty="0">
                <a:solidFill>
                  <a:srgbClr val="1A2233"/>
                </a:solidFill>
                <a:latin typeface="Calibri" pitchFamily="34" charset="0"/>
              </a:rPr>
              <a:t>Scheme hijacking: custom URL schemes (upi://, alipays://, weixin://) can be claimed by malicious apps. Verified App Links / Universal Links are preferred; iOS LSApplicationQueriesSchemes allowlisting plus wallet-side scheme allowlists reduce spoofing.</a:t>
            </a:r>
          </a:p>
          <a:p>
            <a:pPr marL="228600" indent="-228600">
              <a:buFont typeface="Arial"/>
              <a:buChar char="•"/>
            </a:pPr>
            <a:r>
              <a:rPr lang="en-US" sz="1250" dirty="0">
                <a:solidFill>
                  <a:srgbClr val="1A2233"/>
                </a:solidFill>
                <a:latin typeface="Calibri" pitchFamily="34" charset="0"/>
              </a:rPr>
              <a:t>Redirect integrity: OBW, Open Finance ITP, and Tazapay rely on registered/validated redirect URIs (OFB Directory software_origin_uris, PayNet-hosted session pages, Tazapay success_url/cancel_url). Open-redirect and WebView JS-bridge misconfigurations are the main risks.</a:t>
            </a:r>
          </a:p>
          <a:p>
            <a:pPr marL="228600" indent="-228600">
              <a:buFont typeface="Arial"/>
              <a:buChar char="•"/>
            </a:pPr>
            <a:r>
              <a:rPr lang="en-US" sz="1250" dirty="0">
                <a:solidFill>
                  <a:srgbClr val="1A2233"/>
                </a:solidFill>
                <a:latin typeface="Calibri" pitchFamily="34" charset="0"/>
              </a:rPr>
              <a:t>Key management: UPI mandates offline key exchange with NPCI and rotation via the List Keys API; WeChat/Antom rotate platform certs; Open Finance uses FAPI mTLS plus FIDO device attestation for redirectless payments.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Recommendations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40" name="TB"/>
          <p:cNvSpPr/>
          <p:nvPr/>
        </p:nvSpPr>
        <p:spPr>
          <a:xfrm>
            <a:off x="548640" y="330000"/>
            <a:ext cx="11094720" cy="56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>
              <a:buNone/>
            </a:pPr>
            <a:r>
              <a:rPr lang="en-US" sz="2200" b="1" dirty="0">
                <a:solidFill>
                  <a:srgbClr val="21295C"/>
                </a:solidFill>
                <a:latin typeface="Cambria" pitchFamily="34" charset="0"/>
              </a:rPr>
              <a:t>Implementation Recommendations</a:t>
            </a:r>
          </a:p>
        </p:txBody>
      </p:sp>
      <p:sp>
        <p:nvSpPr>
          <p:cNvPr id="5441" name="TB"/>
          <p:cNvSpPr/>
          <p:nvPr/>
        </p:nvSpPr>
        <p:spPr>
          <a:xfrm>
            <a:off x="548640" y="1300000"/>
            <a:ext cx="11094720" cy="530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228600" indent="-228600">
              <a:buFont typeface="Arial"/>
              <a:buChar char="•"/>
            </a:pPr>
            <a:r>
              <a:rPr lang="en-US" sz="1150" dirty="0">
                <a:solidFill>
                  <a:srgbClr val="1A2233"/>
                </a:solidFill>
                <a:latin typeface="Calibri" pitchFamily="34" charset="0"/>
              </a:rPr>
              <a:t>India: implement the generic upi://pay intent first (NPCI-mandated) with tr, mc, cu=INR; add app-specific schemes plus an Android intent:// fallback with S.browser_fallback_url. Sign server-side (sign, orgid) with HSM-protected keys; register schemes in LSApplicationQueriesSchemes on iOS.</a:t>
            </a:r>
          </a:p>
          <a:p>
            <a:pPr marL="228600" indent="-228600">
              <a:buFont typeface="Arial"/>
              <a:buChar char="•"/>
            </a:pPr>
            <a:r>
              <a:rPr lang="en-US" sz="1150" dirty="0">
                <a:solidFill>
                  <a:srgbClr val="1A2233"/>
                </a:solidFill>
                <a:latin typeface="Calibri" pitchFamily="34" charset="0"/>
              </a:rPr>
              <a:t>China: don't hand-roll alipays:// / weixin:// strings for production — use the official SDKs or, cross-border, Alipay+/Antom, honoring the OS priority ladder and passing appIdentifier/package to avoid Android disambiguation.</a:t>
            </a:r>
          </a:p>
          <a:p>
            <a:pPr marL="228600" indent="-228600">
              <a:buFont typeface="Arial"/>
              <a:buChar char="•"/>
            </a:pPr>
            <a:r>
              <a:rPr lang="en-US" sz="1150" dirty="0">
                <a:solidFill>
                  <a:srgbClr val="1A2233"/>
                </a:solidFill>
                <a:latin typeface="Calibri" pitchFamily="34" charset="0"/>
              </a:rPr>
              <a:t>Malaysia: generate DuitNow QR via a PayNet-connected acquirer (AID A0000006150001, 53=458, correct Acquirer ID, CRC-16). For online commerce, use DuitNow OBW's hosted redirect.</a:t>
            </a:r>
          </a:p>
          <a:p>
            <a:pPr marL="228600" indent="-228600">
              <a:buFont typeface="Arial"/>
              <a:buChar char="•"/>
            </a:pPr>
            <a:r>
              <a:rPr lang="en-US" sz="1150" dirty="0">
                <a:solidFill>
                  <a:srgbClr val="1A2233"/>
                </a:solidFill>
                <a:latin typeface="Calibri" pitchFamily="34" charset="0"/>
              </a:rPr>
              <a:t>Brazil: build BR Code (GUI br.gov.bcb.pix, 53=986, CRC-16/CCITT-FALSE); for app-to-app checkout integrate Open Finance ITP (FAPI, BRSEAL/BRCAC certs) rather than waiting for a pix:// scheme. Adopt FIDO redirectless once a robust risk framework is in place.</a:t>
            </a:r>
          </a:p>
          <a:p>
            <a:pPr marL="228600" indent="-228600">
              <a:buFont typeface="Arial"/>
              <a:buChar char="•"/>
            </a:pPr>
            <a:r>
              <a:rPr lang="en-US" sz="1150" dirty="0">
                <a:solidFill>
                  <a:srgbClr val="1A2233"/>
                </a:solidFill>
                <a:latin typeface="Calibri" pitchFamily="34" charset="0"/>
              </a:rPr>
              <a:t>Cross-border / many markets: use an aggregator like Tazapay and treat deeplinking as delegated. An aggregator wins once you need 3+ markets or escrow/FX; direct integration wins on cost/UX for a single market you control.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Caveats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42" name="TB"/>
          <p:cNvSpPr/>
          <p:nvPr/>
        </p:nvSpPr>
        <p:spPr>
          <a:xfrm>
            <a:off x="548640" y="330000"/>
            <a:ext cx="11094720" cy="56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>
              <a:buNone/>
            </a:pPr>
            <a:r>
              <a:rPr lang="en-US" sz="2200" b="1" dirty="0">
                <a:solidFill>
                  <a:srgbClr val="21295C"/>
                </a:solidFill>
                <a:latin typeface="Cambria" pitchFamily="34" charset="0"/>
              </a:rPr>
              <a:t>Caveats &amp; Primary Sources</a:t>
            </a:r>
          </a:p>
        </p:txBody>
      </p:sp>
      <p:sp>
        <p:nvSpPr>
          <p:cNvPr id="5443" name="TB"/>
          <p:cNvSpPr/>
          <p:nvPr/>
        </p:nvSpPr>
        <p:spPr>
          <a:xfrm>
            <a:off x="548640" y="1300000"/>
            <a:ext cx="11094720" cy="340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228600" indent="-228600">
              <a:buFont typeface="Arial"/>
              <a:buChar char="•"/>
            </a:pPr>
            <a:r>
              <a:rPr lang="en-US" sz="1100" dirty="0">
                <a:solidFill>
                  <a:srgbClr val="1A2233"/>
                </a:solidFill>
                <a:latin typeface="Calibri" pitchFamily="34" charset="0"/>
              </a:rPr>
              <a:t>PayNet's newer docs site is JS-rendered; Malaysia-specific CPM tag tables could not be extracted verbatim — the CPM structure shown is the underlying EMVCo spec DuitNow conforms to.</a:t>
            </a:r>
          </a:p>
          <a:p>
            <a:pPr marL="228600" indent="-228600">
              <a:buFont typeface="Arial"/>
              <a:buChar char="•"/>
            </a:pPr>
            <a:r>
              <a:rPr lang="en-US" sz="1100" dirty="0">
                <a:solidFill>
                  <a:srgbClr val="1A2233"/>
                </a:solidFill>
                <a:latin typeface="Calibri" pitchFamily="34" charset="0"/>
              </a:rPr>
              <a:t>Some UPI details derive from NPCI Linking Specification v1.6/v1.7 as reproduced by third parties (labnol, Juspay, Google Pay India), not a currently-public NPCI PDF.</a:t>
            </a:r>
          </a:p>
          <a:p>
            <a:pPr marL="228600" indent="-228600">
              <a:buFont typeface="Arial"/>
              <a:buChar char="•"/>
            </a:pPr>
            <a:r>
              <a:rPr lang="en-US" sz="1100" dirty="0">
                <a:solidFill>
                  <a:srgbClr val="1A2233"/>
                </a:solidFill>
                <a:latin typeface="Calibri" pitchFamily="34" charset="0"/>
              </a:rPr>
              <a:t>Malaysian wallet custom schemes other than TNG (tngdwallet://) are not published by their owners.</a:t>
            </a:r>
          </a:p>
          <a:p>
            <a:pPr marL="228600" indent="-228600">
              <a:buFont typeface="Arial"/>
              <a:buChar char="•"/>
            </a:pPr>
            <a:r>
              <a:rPr lang="en-US" sz="1100" dirty="0">
                <a:solidFill>
                  <a:srgbClr val="1A2233"/>
                </a:solidFill>
                <a:latin typeface="Calibri" pitchFamily="34" charset="0"/>
              </a:rPr>
              <a:t>Pix "PixLink" (#129), the pix:// scheme (#599), and the Samsung camera intent (#591) are community GitHub issues; none became part of the official Bacen specification.</a:t>
            </a:r>
          </a:p>
          <a:p>
            <a:pPr marL="228600" indent="-228600">
              <a:buFont typeface="Arial"/>
              <a:buChar char="•"/>
            </a:pPr>
            <a:r>
              <a:rPr lang="en-US" sz="1100" dirty="0">
                <a:solidFill>
                  <a:srgbClr val="1A2233"/>
                </a:solidFill>
                <a:latin typeface="Calibri" pitchFamily="34" charset="0"/>
              </a:rPr>
              <a:t>Section 6 is a developing story — no primary NPCI document exists for UPI Meta yet; the full signatory list, official NPCI/PhonePe/Google Pay/RBI responses, and the GFF unveiling plan are single-sourced or inferred.</a:t>
            </a:r>
          </a:p>
        </p:txBody>
      </p:sp>
      <p:sp>
        <p:nvSpPr>
          <p:cNvPr id="5444" name="Box"/>
          <p:cNvSpPr/>
          <p:nvPr/>
        </p:nvSpPr>
        <p:spPr>
          <a:xfrm>
            <a:off x="548640" y="5150000"/>
            <a:ext cx="11094720" cy="1400000"/>
          </a:xfrm>
          <a:prstGeom prst="roundRect">
            <a:avLst>
              <a:gd name="adj" fmla="val 2500"/>
            </a:avLst>
          </a:prstGeom>
          <a:solidFill>
            <a:srgbClr val="F5F8FA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5445" name="TB"/>
          <p:cNvSpPr/>
          <p:nvPr/>
        </p:nvSpPr>
        <p:spPr>
          <a:xfrm>
            <a:off x="728640" y="5270000"/>
            <a:ext cx="10734720" cy="30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>
              <a:buNone/>
            </a:pPr>
            <a:r>
              <a:rPr lang="en-US" sz="1150" b="1" dirty="0">
                <a:solidFill>
                  <a:srgbClr val="5B6B79"/>
                </a:solidFill>
                <a:latin typeface="Calibri" pitchFamily="34" charset="0"/>
              </a:rPr>
              <a:t>Primary sources consulted</a:t>
            </a:r>
          </a:p>
        </p:txBody>
      </p:sp>
      <p:sp>
        <p:nvSpPr>
          <p:cNvPr id="5446" name="TB"/>
          <p:cNvSpPr/>
          <p:nvPr/>
        </p:nvSpPr>
        <p:spPr>
          <a:xfrm>
            <a:off x="728640" y="5580000"/>
            <a:ext cx="10734720" cy="85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>
              <a:buNone/>
            </a:pPr>
            <a:r>
              <a:rPr lang="en-US" sz="950" dirty="0">
                <a:solidFill>
                  <a:srgbClr val="1A2233"/>
                </a:solidFill>
                <a:latin typeface="Calibri" pitchFamily="34" charset="0"/>
              </a:rPr>
              <a:t>PayNet developer docs · EMVCo QR Specifications v1.1 · Alipay/Antom/Alipay+ docs · WeChat Pay Open Platform ·</a:t>
            </a:r>
          </a:p>
          <a:p>
            <a:pPr>
              <a:buNone/>
            </a:pPr>
            <a:r>
              <a:rPr lang="en-US" sz="950" dirty="0">
                <a:solidFill>
                  <a:srgbClr val="1A2233"/>
                </a:solidFill>
                <a:latin typeface="Calibri" pitchFamily="34" charset="0"/>
              </a:rPr>
              <a:t>NPCI UPI Linking Specifications v1.6/v1.7 · Banco Central do Brasil (Manual do BR Code, Pix) · bacen/pix-api ·</a:t>
            </a:r>
          </a:p>
          <a:p>
            <a:pPr>
              <a:buNone/>
            </a:pPr>
            <a:r>
              <a:rPr lang="en-US" sz="950" dirty="0">
                <a:solidFill>
                  <a:srgbClr val="1A2233"/>
                </a:solidFill>
                <a:latin typeface="Calibri" pitchFamily="34" charset="0"/>
              </a:rPr>
              <a:t>Raidiam/OpenID Open Finance Brasil · Tazapay docs · Reuters/Business Standard/Moneycontrol (July 2026) · OECD (June 2025)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ReportClose">
    <p:bg>
      <p:bgPr>
        <a:solidFill>
          <a:srgbClr val="2129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47" name="TB"/>
          <p:cNvSpPr/>
          <p:nvPr/>
        </p:nvSpPr>
        <p:spPr>
          <a:xfrm>
            <a:off x="548640" y="150000"/>
            <a:ext cx="11094720" cy="30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>
              <a:buNone/>
            </a:pPr>
            <a:r>
              <a:rPr lang="en-US" sz="1050" b="1" dirty="0">
                <a:solidFill>
                  <a:srgbClr val="5EEAD4"/>
                </a:solidFill>
                <a:latin typeface="Calibri" pitchFamily="34" charset="0"/>
              </a:rPr>
              <a:t>END OF REPORT SECTION</a:t>
            </a:r>
          </a:p>
        </p:txBody>
      </p:sp>
      <p:sp>
        <p:nvSpPr>
          <p:cNvPr id="5448" name="TB"/>
          <p:cNvSpPr/>
          <p:nvPr/>
        </p:nvSpPr>
        <p:spPr>
          <a:xfrm>
            <a:off x="548640" y="2900000"/>
            <a:ext cx="11094720" cy="90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</a:rPr>
              <a:t>Same problem, five production answers</a:t>
            </a:r>
          </a:p>
        </p:txBody>
      </p:sp>
      <p:sp>
        <p:nvSpPr>
          <p:cNvPr id="5449" name="TB"/>
          <p:cNvSpPr/>
          <p:nvPr/>
        </p:nvSpPr>
        <p:spPr>
          <a:xfrm>
            <a:off x="548640" y="3750000"/>
            <a:ext cx="11094720" cy="130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</a:rPr>
              <a:t>Every ecosystem here converges on the same instinct this project's own conclusion reaches: don't register a claimable link when ambiguity — a chooser, a picker, a manual scan — is the actual requirement.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SGQR-Style Deep Linking Simulation</dc:title>
  <dc:subject>PptxGenJS Presentation</dc:subject>
  <dc:creator>SGQR Deep Link Demo</dc:creator>
  <cp:lastModifiedBy>SGQR Deep Link Demo</cp:lastModifiedBy>
  <cp:revision>1</cp:revision>
  <dcterms:created xsi:type="dcterms:W3CDTF">2026-07-16T01:33:30Z</dcterms:created>
  <dcterms:modified xsi:type="dcterms:W3CDTF">2026-07-16T01:33:30Z</dcterms:modified>
</cp:coreProperties>
</file>